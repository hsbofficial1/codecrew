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Coefficient</c:v>
                </c:pt>
              </c:strCache>
            </c:strRef>
          </c:tx>
          <c:spPr>
            <a:solidFill>
              <a:srgbClr val="3987E5"/>
            </a:solidFill>
            <a:effectLst/>
          </c:spPr>
          <c:invertIfNegative val="0"/>
          <c:dLbls>
            <c:numFmt formatCode="#,##0" sourceLinked="0"/>
            <c:txPr>
              <a:bodyPr/>
              <a:lstStyle/>
              <a:p>
                <a:pPr>
                  <a:defRPr b="0" i="0" strike="noStrike" sz="800" u="none">
                    <a:solidFill>
                      <a:srgbClr val="C3C2B7"/>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not all-weather</c:v>
                  </c:pt>
                  <c:pt idx="1">
                    <c:v>terrain score</c:v>
                  </c:pt>
                  <c:pt idx="2">
                    <c:v>landslide x rain</c:v>
                  </c:pt>
                  <c:pt idx="3">
                    <c:v>pavement deficit</c:v>
                  </c:pt>
                  <c:pt idx="4">
                    <c:v>monsoon index</c:v>
                  </c:pt>
                  <c:pt idx="5">
                    <c:v>landslide susceptibility</c:v>
                  </c:pt>
                  <c:pt idx="6">
                    <c:v>flood x rain</c:v>
                  </c:pt>
                  <c:pt idx="7">
                    <c:v>rain 3-day</c:v>
                  </c:pt>
                  <c:pt idx="8">
                    <c:v>flood susceptibility</c:v>
                  </c:pt>
                </c:lvl>
              </c:multiLvlStrCache>
            </c:multiLvlStrRef>
          </c:cat>
          <c:val>
            <c:numRef>
              <c:f>Sheet1!$B$2:$B$10</c:f>
              <c:numCache>
                <c:formatCode>General</c:formatCode>
                <c:ptCount val="9"/>
                <c:pt idx="0">
                  <c:v>0.3851</c:v>
                </c:pt>
                <c:pt idx="1">
                  <c:v>0.3113</c:v>
                </c:pt>
                <c:pt idx="2">
                  <c:v>0.2813</c:v>
                </c:pt>
                <c:pt idx="3">
                  <c:v>0.2332</c:v>
                </c:pt>
                <c:pt idx="4">
                  <c:v>0.1415</c:v>
                </c:pt>
                <c:pt idx="5">
                  <c:v>0.1042</c:v>
                </c:pt>
                <c:pt idx="6">
                  <c:v>0.0911</c:v>
                </c:pt>
                <c:pt idx="7">
                  <c:v>0.0775</c:v>
                </c:pt>
                <c:pt idx="8">
                  <c:v>0.0275</c:v>
                </c:pt>
              </c:numCache>
            </c:numRef>
          </c:val>
        </c:ser>
        <c:dLbls>
          <c:numFmt formatCode="#,##0" sourceLinked="0"/>
          <c:txPr>
            <a:bodyPr/>
            <a:lstStyle/>
            <a:p>
              <a:pPr>
                <a:defRPr b="0" i="0" strike="noStrike" sz="800" u="none">
                  <a:solidFill>
                    <a:srgbClr val="C3C2B7"/>
                  </a:solidFill>
                  <a:latin typeface="Calibri"/>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8A93A3"/>
                </a:solidFill>
                <a:latin typeface="Calibri"/>
              </a:defRPr>
            </a:pPr>
            <a:endParaRPr lang="en-US"/>
          </a:p>
        </c:txPr>
        <c:crossAx val="2094734552"/>
        <c:crosses val="autoZero"/>
        <c:auto val="1"/>
        <c:lblAlgn val="ctr"/>
        <c:noMultiLvlLbl val="1"/>
      </c:catAx>
      <c:valAx>
        <c:axId val="2094734552"/>
        <c:scaling>
          <c:orientation val="minMax"/>
          <c:max val="0.46"/>
        </c:scaling>
        <c:delete val="0"/>
        <c:axPos val="b"/>
        <c:majorGridlines>
          <c:spPr>
            <a:ln w="12700" cap="flat">
              <a:solidFill>
                <a:srgbClr val="20262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3A3"/>
                </a:solidFill>
                <a:latin typeface="Arial"/>
              </a:defRPr>
            </a:pPr>
            <a:endParaRPr lang="en-US"/>
          </a:p>
        </c:txPr>
        <c:crossAx val="2094734554"/>
        <c:crosses val="autoZero"/>
        <c:crossBetween val="between"/>
      </c:valAx>
      <c:spPr>
        <a:solidFill>
          <a:srgbClr val="1A1F28"/>
        </a:solidFill>
        <a:ln>
          <a:noFill/>
        </a:ln>
        <a:effectLst/>
      </c:spPr>
    </c:plotArea>
    <c:plotVisOnly val="1"/>
    <c:dispBlanksAs val="span"/>
  </c:chart>
  <c:spPr>
    <a:solidFill>
      <a:srgbClr val="1A1F2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Index</c:v>
                </c:pt>
              </c:strCache>
            </c:strRef>
          </c:tx>
          <c:spPr>
            <a:solidFill>
              <a:srgbClr val="3987E5"/>
            </a:solidFill>
            <a:effectLst/>
          </c:spPr>
          <c:invertIfNegative val="0"/>
          <c:dLbls>
            <c:numFmt formatCode="#,##0" sourceLinked="0"/>
            <c:txPr>
              <a:bodyPr/>
              <a:lstStyle/>
              <a:p>
                <a:pPr>
                  <a:defRPr b="0" i="0" strike="noStrike" sz="850" u="none">
                    <a:solidFill>
                      <a:srgbClr val="C3C2B7"/>
                    </a:solidFill>
                    <a:latin typeface="Calibri"/>
                  </a:defRPr>
                </a:pPr>
              </a:p>
            </c:txPr>
            <c:showLegendKey val="0"/>
            <c:showVal val="1"/>
            <c:showCatName val="0"/>
            <c:showSerName val="0"/>
            <c:showPercent val="0"/>
            <c:showBubbleSize val="0"/>
            <c:showLeaderLines val="0"/>
          </c:dLbls>
          <c:cat>
            <c:multiLvlStrRef>
              <c:f>Sheet1!$A$2:$A$9</c:f>
              <c:multiLvlStrCache>
                <c:ptCount val="8"/>
                <c:lvl>
                  <c:pt idx="0">
                    <c:v>Arunachal Pradesh</c:v>
                  </c:pt>
                  <c:pt idx="1">
                    <c:v>Nagaland</c:v>
                  </c:pt>
                  <c:pt idx="2">
                    <c:v>Sikkim</c:v>
                  </c:pt>
                  <c:pt idx="3">
                    <c:v>Mizoram</c:v>
                  </c:pt>
                  <c:pt idx="4">
                    <c:v>Meghalaya</c:v>
                  </c:pt>
                  <c:pt idx="5">
                    <c:v>Manipur</c:v>
                  </c:pt>
                  <c:pt idx="6">
                    <c:v>Tripura</c:v>
                  </c:pt>
                  <c:pt idx="7">
                    <c:v>Assam</c:v>
                  </c:pt>
                </c:lvl>
              </c:multiLvlStrCache>
            </c:multiLvlStrRef>
          </c:cat>
          <c:val>
            <c:numRef>
              <c:f>Sheet1!$B$2:$B$9</c:f>
              <c:numCache>
                <c:formatCode>General</c:formatCode>
                <c:ptCount val="8"/>
                <c:pt idx="0">
                  <c:v>57</c:v>
                </c:pt>
                <c:pt idx="1">
                  <c:v>63</c:v>
                </c:pt>
                <c:pt idx="2">
                  <c:v>71</c:v>
                </c:pt>
                <c:pt idx="3">
                  <c:v>73</c:v>
                </c:pt>
                <c:pt idx="4">
                  <c:v>73</c:v>
                </c:pt>
                <c:pt idx="5">
                  <c:v>78</c:v>
                </c:pt>
                <c:pt idx="6">
                  <c:v>89</c:v>
                </c:pt>
                <c:pt idx="7">
                  <c:v>89</c:v>
                </c:pt>
              </c:numCache>
            </c:numRef>
          </c:val>
        </c:ser>
        <c:dLbls>
          <c:numFmt formatCode="#,##0" sourceLinked="0"/>
          <c:txPr>
            <a:bodyPr/>
            <a:lstStyle/>
            <a:p>
              <a:pPr>
                <a:defRPr b="0" i="0" strike="noStrike" sz="850" u="none">
                  <a:solidFill>
                    <a:srgbClr val="C3C2B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8A93A3"/>
                </a:solidFill>
                <a:latin typeface="Calibri"/>
              </a:defRPr>
            </a:pPr>
            <a:endParaRPr lang="en-US"/>
          </a:p>
        </c:txPr>
        <c:crossAx val="2094734552"/>
        <c:crosses val="autoZero"/>
        <c:auto val="1"/>
        <c:lblAlgn val="ctr"/>
        <c:noMultiLvlLbl val="1"/>
      </c:catAx>
      <c:valAx>
        <c:axId val="2094734552"/>
        <c:scaling>
          <c:orientation val="minMax"/>
          <c:max val="100"/>
        </c:scaling>
        <c:delete val="0"/>
        <c:axPos val="b"/>
        <c:majorGridlines>
          <c:spPr>
            <a:ln w="12700" cap="flat">
              <a:solidFill>
                <a:srgbClr val="20262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8A93A3"/>
                </a:solidFill>
                <a:latin typeface="Arial"/>
              </a:defRPr>
            </a:pPr>
            <a:endParaRPr lang="en-US"/>
          </a:p>
        </c:txPr>
        <c:crossAx val="2094734554"/>
        <c:crosses val="autoZero"/>
        <c:crossBetween val="between"/>
      </c:valAx>
      <c:spPr>
        <a:solidFill>
          <a:srgbClr val="1A1F28"/>
        </a:solidFill>
        <a:ln>
          <a:noFill/>
        </a:ln>
        <a:effectLst/>
      </c:spPr>
    </c:plotArea>
    <c:plotVisOnly val="1"/>
    <c:dispBlanksAs val="span"/>
  </c:chart>
  <c:spPr>
    <a:solidFill>
      <a:srgbClr val="1A1F2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Say up front that this is a working demo build, not a production system - the whole deck is written to that standard. Everything shown runs: a real API, a real network graph, live weather, and a model that trains at 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structural and predictable. The point of the platform is that these failures are forecastable, and that nobody currently scores accessibility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screens, one engine. Emphasise that the numbers on the bottom row are the actual size of the working system, not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slide, deliberately placed before the product tour so everything after it is read correctly. Swapping the demo layer for real NHAI / NDMA / state-PWD records means replacing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Planner. Plans a consignment across the multimodal network and shows the reasoning, not just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Risk. The operating picture: what is at risk right now, and who loses their connection if it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Atlas. The differentiator: scoring places, not just routes - because a route that arrives at an unusable road head has not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Mode. A dashboard is useless to a driver on the Kohima-Imphal road with one bar of 2G.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&amp; Data. The honesty screen, shipped inside the product rather than kept for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is the actual call path. Stress that the engines have no dependencies - they are written to be read and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decisions came out of testing - each fixed a wrong answer the first implementation gave. Worth saying so: they are evidence the system was actually exercised.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Guwahati to Imphal, 12 tonnes, live conditions. This table is the clearest evidence the objective function is doing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two-model design is the defensible part: neither is asked to do a job it cannot. Point out that the classifier recovering all-weather status and the landslide-rain interaction as top signals is a sanity check that it learned real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problem statement nobody else builds. The index is deliberately auditable - it opens into its own sub-scores.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The platform independently reproduces a real historical event from rainfall inputs, and - just as important - refuses to fake an answer when there is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much of this is real" - this slide is the answer, and it is the same answer the product itself gives on its Model &amp; Data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these were our own bugs, found by exercising the system. A demo that has never been stressed has never been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is where RL becomes honest - it needs outcome data that only a pilot can generate. Say that explicitly rather than claiming RL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fact that it runs. Offer to demo any scenario live - the scenario control re-drives every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C11"/>
        </a:solidFill>
      </p:bgPr>
    </p:bg>
    <p:spTree>
      <p:nvGrpSpPr>
        <p:cNvPr id="1" name=""/>
        <p:cNvGrpSpPr/>
        <p:nvPr/>
      </p:nvGrpSpPr>
      <p:grpSpPr>
        <a:xfrm>
          <a:off x="0" y="0"/>
          <a:ext cx="0" cy="0"/>
          <a:chOff x="0" y="0"/>
          <a:chExt cx="0" cy="0"/>
        </a:xfrm>
      </p:grpSpPr>
      <p:sp>
        <p:nvSpPr>
          <p:cNvPr id="2" name="Shape 0"/>
          <p:cNvSpPr/>
          <p:nvPr/>
        </p:nvSpPr>
        <p:spPr>
          <a:xfrm flipH="1">
            <a:off x="1005840" y="1371600"/>
            <a:ext cx="1188720" cy="640080"/>
          </a:xfrm>
          <a:prstGeom prst="line">
            <a:avLst/>
          </a:prstGeom>
          <a:noFill/>
          <a:ln w="15875">
            <a:solidFill>
              <a:srgbClr val="1B2431"/>
            </a:solidFill>
            <a:prstDash val="solid"/>
          </a:ln>
        </p:spPr>
      </p:sp>
      <p:sp>
        <p:nvSpPr>
          <p:cNvPr id="3" name="Shape 1"/>
          <p:cNvSpPr/>
          <p:nvPr/>
        </p:nvSpPr>
        <p:spPr>
          <a:xfrm>
            <a:off x="2194560" y="1371600"/>
            <a:ext cx="1097280" cy="1005840"/>
          </a:xfrm>
          <a:prstGeom prst="line">
            <a:avLst/>
          </a:prstGeom>
          <a:noFill/>
          <a:ln w="15875">
            <a:solidFill>
              <a:srgbClr val="1B2431"/>
            </a:solidFill>
            <a:prstDash val="solid"/>
          </a:ln>
        </p:spPr>
      </p:sp>
      <p:sp>
        <p:nvSpPr>
          <p:cNvPr id="4" name="Shape 2"/>
          <p:cNvSpPr/>
          <p:nvPr/>
        </p:nvSpPr>
        <p:spPr>
          <a:xfrm flipH="1">
            <a:off x="1828800" y="2377440"/>
            <a:ext cx="1463040" cy="822960"/>
          </a:xfrm>
          <a:prstGeom prst="line">
            <a:avLst/>
          </a:prstGeom>
          <a:noFill/>
          <a:ln w="15875">
            <a:solidFill>
              <a:srgbClr val="1B2431"/>
            </a:solidFill>
            <a:prstDash val="solid"/>
          </a:ln>
        </p:spPr>
      </p:sp>
      <p:sp>
        <p:nvSpPr>
          <p:cNvPr id="5" name="Shape 3"/>
          <p:cNvSpPr/>
          <p:nvPr/>
        </p:nvSpPr>
        <p:spPr>
          <a:xfrm>
            <a:off x="1005840" y="2011680"/>
            <a:ext cx="822960" cy="1188720"/>
          </a:xfrm>
          <a:prstGeom prst="line">
            <a:avLst/>
          </a:prstGeom>
          <a:noFill/>
          <a:ln w="15875">
            <a:solidFill>
              <a:srgbClr val="1B2431"/>
            </a:solidFill>
            <a:prstDash val="solid"/>
          </a:ln>
        </p:spPr>
      </p:sp>
      <p:sp>
        <p:nvSpPr>
          <p:cNvPr id="6" name="Shape 4"/>
          <p:cNvSpPr/>
          <p:nvPr/>
        </p:nvSpPr>
        <p:spPr>
          <a:xfrm>
            <a:off x="2194560" y="1371600"/>
            <a:ext cx="2286000" cy="365760"/>
          </a:xfrm>
          <a:prstGeom prst="line">
            <a:avLst/>
          </a:prstGeom>
          <a:noFill/>
          <a:ln w="15875">
            <a:solidFill>
              <a:srgbClr val="1B2431"/>
            </a:solidFill>
            <a:prstDash val="solid"/>
          </a:ln>
        </p:spPr>
      </p:sp>
      <p:sp>
        <p:nvSpPr>
          <p:cNvPr id="7" name="Shape 5"/>
          <p:cNvSpPr/>
          <p:nvPr/>
        </p:nvSpPr>
        <p:spPr>
          <a:xfrm>
            <a:off x="3291840" y="2377440"/>
            <a:ext cx="548640" cy="1280160"/>
          </a:xfrm>
          <a:prstGeom prst="line">
            <a:avLst/>
          </a:prstGeom>
          <a:noFill/>
          <a:ln w="15875">
            <a:solidFill>
              <a:srgbClr val="1B2431"/>
            </a:solidFill>
            <a:prstDash val="solid"/>
          </a:ln>
        </p:spPr>
      </p:sp>
      <p:sp>
        <p:nvSpPr>
          <p:cNvPr id="8" name="Shape 6"/>
          <p:cNvSpPr/>
          <p:nvPr/>
        </p:nvSpPr>
        <p:spPr>
          <a:xfrm>
            <a:off x="10881360" y="1280160"/>
            <a:ext cx="640080" cy="1371600"/>
          </a:xfrm>
          <a:prstGeom prst="line">
            <a:avLst/>
          </a:prstGeom>
          <a:noFill/>
          <a:ln w="15875">
            <a:solidFill>
              <a:srgbClr val="1B2431"/>
            </a:solidFill>
            <a:prstDash val="solid"/>
          </a:ln>
        </p:spPr>
      </p:sp>
      <p:sp>
        <p:nvSpPr>
          <p:cNvPr id="9" name="Shape 7"/>
          <p:cNvSpPr/>
          <p:nvPr/>
        </p:nvSpPr>
        <p:spPr>
          <a:xfrm flipH="1">
            <a:off x="10241280" y="2651760"/>
            <a:ext cx="1280160" cy="1554480"/>
          </a:xfrm>
          <a:prstGeom prst="line">
            <a:avLst/>
          </a:prstGeom>
          <a:noFill/>
          <a:ln w="15875">
            <a:solidFill>
              <a:srgbClr val="1B2431"/>
            </a:solidFill>
            <a:prstDash val="solid"/>
          </a:ln>
        </p:spPr>
      </p:sp>
      <p:sp>
        <p:nvSpPr>
          <p:cNvPr id="10" name="Shape 8"/>
          <p:cNvSpPr/>
          <p:nvPr/>
        </p:nvSpPr>
        <p:spPr>
          <a:xfrm>
            <a:off x="10241280" y="4206240"/>
            <a:ext cx="1097280" cy="914400"/>
          </a:xfrm>
          <a:prstGeom prst="line">
            <a:avLst/>
          </a:prstGeom>
          <a:noFill/>
          <a:ln w="15875">
            <a:solidFill>
              <a:srgbClr val="1B2431"/>
            </a:solidFill>
            <a:prstDash val="solid"/>
          </a:ln>
        </p:spPr>
      </p:sp>
      <p:sp>
        <p:nvSpPr>
          <p:cNvPr id="11" name="Shape 9"/>
          <p:cNvSpPr/>
          <p:nvPr/>
        </p:nvSpPr>
        <p:spPr>
          <a:xfrm flipH="1">
            <a:off x="1280160" y="3200400"/>
            <a:ext cx="548640" cy="1737360"/>
          </a:xfrm>
          <a:prstGeom prst="line">
            <a:avLst/>
          </a:prstGeom>
          <a:noFill/>
          <a:ln w="15875">
            <a:solidFill>
              <a:srgbClr val="1B2431"/>
            </a:solidFill>
            <a:prstDash val="solid"/>
          </a:ln>
        </p:spPr>
      </p:sp>
      <p:sp>
        <p:nvSpPr>
          <p:cNvPr id="12" name="Shape 10"/>
          <p:cNvSpPr/>
          <p:nvPr/>
        </p:nvSpPr>
        <p:spPr>
          <a:xfrm>
            <a:off x="1280160" y="4937760"/>
            <a:ext cx="1371600" cy="731520"/>
          </a:xfrm>
          <a:prstGeom prst="line">
            <a:avLst/>
          </a:prstGeom>
          <a:noFill/>
          <a:ln w="15875">
            <a:solidFill>
              <a:srgbClr val="1B2431"/>
            </a:solidFill>
            <a:prstDash val="solid"/>
          </a:ln>
        </p:spPr>
      </p:sp>
      <p:sp>
        <p:nvSpPr>
          <p:cNvPr id="13" name="Shape 11"/>
          <p:cNvSpPr/>
          <p:nvPr/>
        </p:nvSpPr>
        <p:spPr>
          <a:xfrm>
            <a:off x="960120" y="1965960"/>
            <a:ext cx="91440" cy="91440"/>
          </a:xfrm>
          <a:prstGeom prst="ellipse">
            <a:avLst/>
          </a:prstGeom>
          <a:solidFill>
            <a:srgbClr val="243043"/>
          </a:solidFill>
          <a:ln/>
        </p:spPr>
      </p:sp>
      <p:sp>
        <p:nvSpPr>
          <p:cNvPr id="14" name="Shape 12"/>
          <p:cNvSpPr/>
          <p:nvPr/>
        </p:nvSpPr>
        <p:spPr>
          <a:xfrm>
            <a:off x="2148840" y="1325880"/>
            <a:ext cx="91440" cy="91440"/>
          </a:xfrm>
          <a:prstGeom prst="ellipse">
            <a:avLst/>
          </a:prstGeom>
          <a:solidFill>
            <a:srgbClr val="243043"/>
          </a:solidFill>
          <a:ln/>
        </p:spPr>
      </p:sp>
      <p:sp>
        <p:nvSpPr>
          <p:cNvPr id="15" name="Shape 13"/>
          <p:cNvSpPr/>
          <p:nvPr/>
        </p:nvSpPr>
        <p:spPr>
          <a:xfrm>
            <a:off x="3246120" y="2331720"/>
            <a:ext cx="91440" cy="91440"/>
          </a:xfrm>
          <a:prstGeom prst="ellipse">
            <a:avLst/>
          </a:prstGeom>
          <a:solidFill>
            <a:srgbClr val="243043"/>
          </a:solidFill>
          <a:ln/>
        </p:spPr>
      </p:sp>
      <p:sp>
        <p:nvSpPr>
          <p:cNvPr id="16" name="Shape 14"/>
          <p:cNvSpPr/>
          <p:nvPr/>
        </p:nvSpPr>
        <p:spPr>
          <a:xfrm>
            <a:off x="1783080" y="3154680"/>
            <a:ext cx="91440" cy="91440"/>
          </a:xfrm>
          <a:prstGeom prst="ellipse">
            <a:avLst/>
          </a:prstGeom>
          <a:solidFill>
            <a:srgbClr val="243043"/>
          </a:solidFill>
          <a:ln/>
        </p:spPr>
      </p:sp>
      <p:sp>
        <p:nvSpPr>
          <p:cNvPr id="17" name="Shape 15"/>
          <p:cNvSpPr/>
          <p:nvPr/>
        </p:nvSpPr>
        <p:spPr>
          <a:xfrm>
            <a:off x="4434840" y="1691640"/>
            <a:ext cx="91440" cy="91440"/>
          </a:xfrm>
          <a:prstGeom prst="ellipse">
            <a:avLst/>
          </a:prstGeom>
          <a:solidFill>
            <a:srgbClr val="243043"/>
          </a:solidFill>
          <a:ln/>
        </p:spPr>
      </p:sp>
      <p:sp>
        <p:nvSpPr>
          <p:cNvPr id="18" name="Shape 16"/>
          <p:cNvSpPr/>
          <p:nvPr/>
        </p:nvSpPr>
        <p:spPr>
          <a:xfrm>
            <a:off x="3794760" y="3611880"/>
            <a:ext cx="91440" cy="91440"/>
          </a:xfrm>
          <a:prstGeom prst="ellipse">
            <a:avLst/>
          </a:prstGeom>
          <a:solidFill>
            <a:srgbClr val="243043"/>
          </a:solidFill>
          <a:ln/>
        </p:spPr>
      </p:sp>
      <p:sp>
        <p:nvSpPr>
          <p:cNvPr id="19" name="Shape 17"/>
          <p:cNvSpPr/>
          <p:nvPr/>
        </p:nvSpPr>
        <p:spPr>
          <a:xfrm>
            <a:off x="10835640" y="1234440"/>
            <a:ext cx="91440" cy="91440"/>
          </a:xfrm>
          <a:prstGeom prst="ellipse">
            <a:avLst/>
          </a:prstGeom>
          <a:solidFill>
            <a:srgbClr val="243043"/>
          </a:solidFill>
          <a:ln/>
        </p:spPr>
      </p:sp>
      <p:sp>
        <p:nvSpPr>
          <p:cNvPr id="20" name="Shape 18"/>
          <p:cNvSpPr/>
          <p:nvPr/>
        </p:nvSpPr>
        <p:spPr>
          <a:xfrm>
            <a:off x="11475720" y="2606040"/>
            <a:ext cx="91440" cy="91440"/>
          </a:xfrm>
          <a:prstGeom prst="ellipse">
            <a:avLst/>
          </a:prstGeom>
          <a:solidFill>
            <a:srgbClr val="243043"/>
          </a:solidFill>
          <a:ln/>
        </p:spPr>
      </p:sp>
      <p:sp>
        <p:nvSpPr>
          <p:cNvPr id="21" name="Shape 19"/>
          <p:cNvSpPr/>
          <p:nvPr/>
        </p:nvSpPr>
        <p:spPr>
          <a:xfrm>
            <a:off x="10195560" y="4160520"/>
            <a:ext cx="91440" cy="91440"/>
          </a:xfrm>
          <a:prstGeom prst="ellipse">
            <a:avLst/>
          </a:prstGeom>
          <a:solidFill>
            <a:srgbClr val="243043"/>
          </a:solidFill>
          <a:ln/>
        </p:spPr>
      </p:sp>
      <p:sp>
        <p:nvSpPr>
          <p:cNvPr id="22" name="Shape 20"/>
          <p:cNvSpPr/>
          <p:nvPr/>
        </p:nvSpPr>
        <p:spPr>
          <a:xfrm>
            <a:off x="11292840" y="5074920"/>
            <a:ext cx="91440" cy="91440"/>
          </a:xfrm>
          <a:prstGeom prst="ellipse">
            <a:avLst/>
          </a:prstGeom>
          <a:solidFill>
            <a:srgbClr val="243043"/>
          </a:solidFill>
          <a:ln/>
        </p:spPr>
      </p:sp>
      <p:sp>
        <p:nvSpPr>
          <p:cNvPr id="23" name="Shape 21"/>
          <p:cNvSpPr/>
          <p:nvPr/>
        </p:nvSpPr>
        <p:spPr>
          <a:xfrm>
            <a:off x="1234440" y="4892040"/>
            <a:ext cx="91440" cy="91440"/>
          </a:xfrm>
          <a:prstGeom prst="ellipse">
            <a:avLst/>
          </a:prstGeom>
          <a:solidFill>
            <a:srgbClr val="243043"/>
          </a:solidFill>
          <a:ln/>
        </p:spPr>
      </p:sp>
      <p:sp>
        <p:nvSpPr>
          <p:cNvPr id="24" name="Shape 22"/>
          <p:cNvSpPr/>
          <p:nvPr/>
        </p:nvSpPr>
        <p:spPr>
          <a:xfrm>
            <a:off x="2606040" y="5623560"/>
            <a:ext cx="91440" cy="91440"/>
          </a:xfrm>
          <a:prstGeom prst="ellipse">
            <a:avLst/>
          </a:prstGeom>
          <a:solidFill>
            <a:srgbClr val="243043"/>
          </a:solidFill>
          <a:ln/>
        </p:spPr>
      </p:sp>
      <p:sp>
        <p:nvSpPr>
          <p:cNvPr id="25" name="Shape 23"/>
          <p:cNvSpPr/>
          <p:nvPr/>
        </p:nvSpPr>
        <p:spPr>
          <a:xfrm>
            <a:off x="548640" y="1298448"/>
            <a:ext cx="2148840" cy="274320"/>
          </a:xfrm>
          <a:prstGeom prst="roundRect">
            <a:avLst>
              <a:gd name="adj" fmla="val 50000"/>
            </a:avLst>
          </a:prstGeom>
          <a:solidFill>
            <a:srgbClr val="222834"/>
          </a:solidFill>
          <a:ln w="12700">
            <a:solidFill>
              <a:srgbClr val="2B323F"/>
            </a:solidFill>
            <a:prstDash val="solid"/>
          </a:ln>
        </p:spPr>
      </p:sp>
      <p:sp>
        <p:nvSpPr>
          <p:cNvPr id="26" name="Shape 24"/>
          <p:cNvSpPr/>
          <p:nvPr/>
        </p:nvSpPr>
        <p:spPr>
          <a:xfrm>
            <a:off x="649224" y="1394460"/>
            <a:ext cx="82296" cy="82296"/>
          </a:xfrm>
          <a:prstGeom prst="ellipse">
            <a:avLst/>
          </a:prstGeom>
          <a:solidFill>
            <a:srgbClr val="FAB219"/>
          </a:solidFill>
          <a:ln/>
        </p:spPr>
      </p:sp>
      <p:sp>
        <p:nvSpPr>
          <p:cNvPr id="27" name="Text 25"/>
          <p:cNvSpPr txBox="1"/>
          <p:nvPr/>
        </p:nvSpPr>
        <p:spPr>
          <a:xfrm>
            <a:off x="786384" y="1298448"/>
            <a:ext cx="1819656" cy="274320"/>
          </a:xfrm>
          <a:prstGeom prst="rect">
            <a:avLst/>
          </a:prstGeom>
          <a:noFill/>
          <a:ln/>
        </p:spPr>
        <p:txBody>
          <a:bodyPr wrap="square" lIns="0" tIns="0" rIns="0" bIns="0" rtlCol="0" anchor="ctr"/>
          <a:lstStyle/>
          <a:p>
            <a:pPr indent="0" marL="0">
              <a:buNone/>
            </a:pPr>
            <a:r>
              <a:rPr lang="en-US" sz="950" dirty="0">
                <a:solidFill>
                  <a:srgbClr val="FAB219"/>
                </a:solidFill>
                <a:latin typeface="Calibri" pitchFamily="34" charset="0"/>
                <a:ea typeface="Calibri" pitchFamily="34" charset="-122"/>
                <a:cs typeface="Calibri" pitchFamily="34" charset="-120"/>
              </a:rPr>
              <a:t>WORKING DEMO BUILD</a:t>
            </a:r>
            <a:endParaRPr lang="en-US" sz="950" dirty="0"/>
          </a:p>
        </p:txBody>
      </p:sp>
      <p:sp>
        <p:nvSpPr>
          <p:cNvPr id="28" name="Text 26"/>
          <p:cNvSpPr txBox="1"/>
          <p:nvPr/>
        </p:nvSpPr>
        <p:spPr>
          <a:xfrm>
            <a:off x="548640" y="1783080"/>
            <a:ext cx="10424160" cy="77724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NER Smart Logistics &amp;</a:t>
            </a:r>
            <a:endParaRPr lang="en-US" sz="4600" dirty="0"/>
          </a:p>
        </p:txBody>
      </p:sp>
      <p:sp>
        <p:nvSpPr>
          <p:cNvPr id="29" name="Text 27"/>
          <p:cNvSpPr txBox="1"/>
          <p:nvPr/>
        </p:nvSpPr>
        <p:spPr>
          <a:xfrm>
            <a:off x="548640" y="2487168"/>
            <a:ext cx="10424160" cy="777240"/>
          </a:xfrm>
          <a:prstGeom prst="rect">
            <a:avLst/>
          </a:prstGeom>
          <a:noFill/>
          <a:ln/>
        </p:spPr>
        <p:txBody>
          <a:bodyPr wrap="square" lIns="0" tIns="0" rIns="0" bIns="0" rtlCol="0" anchor="ctr"/>
          <a:lstStyle/>
          <a:p>
            <a:pPr indent="0" marL="0">
              <a:buNone/>
            </a:pPr>
            <a:r>
              <a:rPr lang="en-US" sz="4600" b="1" dirty="0">
                <a:solidFill>
                  <a:srgbClr val="3987E5"/>
                </a:solidFill>
                <a:latin typeface="Arial" pitchFamily="34" charset="0"/>
                <a:ea typeface="Arial" pitchFamily="34" charset="-122"/>
                <a:cs typeface="Arial" pitchFamily="34" charset="-120"/>
              </a:rPr>
              <a:t>Accessibility Intelligence</a:t>
            </a:r>
            <a:endParaRPr lang="en-US" sz="4600" dirty="0"/>
          </a:p>
        </p:txBody>
      </p:sp>
      <p:sp>
        <p:nvSpPr>
          <p:cNvPr id="30" name="Text 28"/>
          <p:cNvSpPr txBox="1"/>
          <p:nvPr/>
        </p:nvSpPr>
        <p:spPr>
          <a:xfrm>
            <a:off x="548640" y="3401568"/>
            <a:ext cx="7589520" cy="640080"/>
          </a:xfrm>
          <a:prstGeom prst="rect">
            <a:avLst/>
          </a:prstGeom>
          <a:noFill/>
          <a:ln/>
        </p:spPr>
        <p:txBody>
          <a:bodyPr wrap="square" lIns="0" tIns="0" rIns="0" bIns="0" rtlCol="0" anchor="ctr"/>
          <a:lstStyle/>
          <a:p>
            <a:pPr indent="0" marL="0">
              <a:lnSpc>
                <a:spcPct val="125000"/>
              </a:lnSpc>
              <a:buNone/>
            </a:pPr>
            <a:r>
              <a:rPr lang="en-US" sz="1450" dirty="0">
                <a:solidFill>
                  <a:srgbClr val="C3C2B7"/>
                </a:solidFill>
                <a:latin typeface="Calibri" pitchFamily="34" charset="0"/>
                <a:ea typeface="Calibri" pitchFamily="34" charset="-122"/>
                <a:cs typeface="Calibri" pitchFamily="34" charset="-120"/>
              </a:rPr>
              <a:t>Multimodal route planning, live landslide and flood risk, and settlement-level accessibility scoring for the eight North Eastern states.</a:t>
            </a:r>
            <a:endParaRPr lang="en-US" sz="1450" dirty="0"/>
          </a:p>
        </p:txBody>
      </p:sp>
      <p:sp>
        <p:nvSpPr>
          <p:cNvPr id="31" name="Text 29"/>
          <p:cNvSpPr txBox="1"/>
          <p:nvPr/>
        </p:nvSpPr>
        <p:spPr>
          <a:xfrm>
            <a:off x="548640" y="4434840"/>
            <a:ext cx="2194560" cy="182880"/>
          </a:xfrm>
          <a:prstGeom prst="rect">
            <a:avLst/>
          </a:prstGeom>
          <a:noFill/>
          <a:ln/>
        </p:spPr>
        <p:txBody>
          <a:bodyPr wrap="square" lIns="0" tIns="0" rIns="0" bIns="0" rtlCol="0" anchor="ctr"/>
          <a:lstStyle/>
          <a:p>
            <a:pPr indent="0" marL="0">
              <a:buNone/>
            </a:pPr>
            <a:r>
              <a:rPr lang="en-US" sz="900" b="1" spc="120" kern="0" dirty="0">
                <a:solidFill>
                  <a:srgbClr val="8A93A3"/>
                </a:solidFill>
                <a:latin typeface="Calibri" pitchFamily="34" charset="0"/>
                <a:ea typeface="Calibri" pitchFamily="34" charset="-122"/>
                <a:cs typeface="Calibri" pitchFamily="34" charset="-120"/>
              </a:rPr>
              <a:t>PROBLEM STATEMENT</a:t>
            </a:r>
            <a:endParaRPr lang="en-US" sz="900" dirty="0"/>
          </a:p>
        </p:txBody>
      </p:sp>
      <p:sp>
        <p:nvSpPr>
          <p:cNvPr id="32" name="Text 30"/>
          <p:cNvSpPr txBox="1"/>
          <p:nvPr/>
        </p:nvSpPr>
        <p:spPr>
          <a:xfrm>
            <a:off x="548640" y="4645152"/>
            <a:ext cx="219456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SIH26002</a:t>
            </a:r>
            <a:endParaRPr lang="en-US" sz="1500" dirty="0"/>
          </a:p>
        </p:txBody>
      </p:sp>
      <p:sp>
        <p:nvSpPr>
          <p:cNvPr id="33" name="Text 31"/>
          <p:cNvSpPr txBox="1"/>
          <p:nvPr/>
        </p:nvSpPr>
        <p:spPr>
          <a:xfrm>
            <a:off x="2880360" y="4434840"/>
            <a:ext cx="2194560" cy="182880"/>
          </a:xfrm>
          <a:prstGeom prst="rect">
            <a:avLst/>
          </a:prstGeom>
          <a:noFill/>
          <a:ln/>
        </p:spPr>
        <p:txBody>
          <a:bodyPr wrap="square" lIns="0" tIns="0" rIns="0" bIns="0" rtlCol="0" anchor="ctr"/>
          <a:lstStyle/>
          <a:p>
            <a:pPr indent="0" marL="0">
              <a:buNone/>
            </a:pPr>
            <a:r>
              <a:rPr lang="en-US" sz="900" b="1" spc="120" kern="0" dirty="0">
                <a:solidFill>
                  <a:srgbClr val="8A93A3"/>
                </a:solidFill>
                <a:latin typeface="Calibri" pitchFamily="34" charset="0"/>
                <a:ea typeface="Calibri" pitchFamily="34" charset="-122"/>
                <a:cs typeface="Calibri" pitchFamily="34" charset="-120"/>
              </a:rPr>
              <a:t>MINISTRY</a:t>
            </a:r>
            <a:endParaRPr lang="en-US" sz="900" dirty="0"/>
          </a:p>
        </p:txBody>
      </p:sp>
      <p:sp>
        <p:nvSpPr>
          <p:cNvPr id="34" name="Text 32"/>
          <p:cNvSpPr txBox="1"/>
          <p:nvPr/>
        </p:nvSpPr>
        <p:spPr>
          <a:xfrm>
            <a:off x="2880360" y="4645152"/>
            <a:ext cx="219456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MDoNER</a:t>
            </a:r>
            <a:endParaRPr lang="en-US" sz="1500" dirty="0"/>
          </a:p>
        </p:txBody>
      </p:sp>
      <p:sp>
        <p:nvSpPr>
          <p:cNvPr id="35" name="Text 33"/>
          <p:cNvSpPr txBox="1"/>
          <p:nvPr/>
        </p:nvSpPr>
        <p:spPr>
          <a:xfrm>
            <a:off x="5212080" y="4434840"/>
            <a:ext cx="2194560" cy="182880"/>
          </a:xfrm>
          <a:prstGeom prst="rect">
            <a:avLst/>
          </a:prstGeom>
          <a:noFill/>
          <a:ln/>
        </p:spPr>
        <p:txBody>
          <a:bodyPr wrap="square" lIns="0" tIns="0" rIns="0" bIns="0" rtlCol="0" anchor="ctr"/>
          <a:lstStyle/>
          <a:p>
            <a:pPr indent="0" marL="0">
              <a:buNone/>
            </a:pPr>
            <a:r>
              <a:rPr lang="en-US" sz="900" b="1" spc="120" kern="0" dirty="0">
                <a:solidFill>
                  <a:srgbClr val="8A93A3"/>
                </a:solidFill>
                <a:latin typeface="Calibri" pitchFamily="34" charset="0"/>
                <a:ea typeface="Calibri" pitchFamily="34" charset="-122"/>
                <a:cs typeface="Calibri" pitchFamily="34" charset="-120"/>
              </a:rPr>
              <a:t>THEME</a:t>
            </a:r>
            <a:endParaRPr lang="en-US" sz="900" dirty="0"/>
          </a:p>
        </p:txBody>
      </p:sp>
      <p:sp>
        <p:nvSpPr>
          <p:cNvPr id="36" name="Text 34"/>
          <p:cNvSpPr txBox="1"/>
          <p:nvPr/>
        </p:nvSpPr>
        <p:spPr>
          <a:xfrm>
            <a:off x="5212080" y="4645152"/>
            <a:ext cx="219456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Smart Automation</a:t>
            </a:r>
            <a:endParaRPr lang="en-US" sz="1500" dirty="0"/>
          </a:p>
        </p:txBody>
      </p:sp>
      <p:sp>
        <p:nvSpPr>
          <p:cNvPr id="37" name="Text 35"/>
          <p:cNvSpPr txBox="1"/>
          <p:nvPr/>
        </p:nvSpPr>
        <p:spPr>
          <a:xfrm>
            <a:off x="7543800" y="4434840"/>
            <a:ext cx="2194560" cy="182880"/>
          </a:xfrm>
          <a:prstGeom prst="rect">
            <a:avLst/>
          </a:prstGeom>
          <a:noFill/>
          <a:ln/>
        </p:spPr>
        <p:txBody>
          <a:bodyPr wrap="square" lIns="0" tIns="0" rIns="0" bIns="0" rtlCol="0" anchor="ctr"/>
          <a:lstStyle/>
          <a:p>
            <a:pPr indent="0" marL="0">
              <a:buNone/>
            </a:pPr>
            <a:r>
              <a:rPr lang="en-US" sz="900" b="1" spc="120" kern="0" dirty="0">
                <a:solidFill>
                  <a:srgbClr val="8A93A3"/>
                </a:solidFill>
                <a:latin typeface="Calibri" pitchFamily="34" charset="0"/>
                <a:ea typeface="Calibri" pitchFamily="34" charset="-122"/>
                <a:cs typeface="Calibri" pitchFamily="34" charset="-120"/>
              </a:rPr>
              <a:t>TEAM</a:t>
            </a:r>
            <a:endParaRPr lang="en-US" sz="900" dirty="0"/>
          </a:p>
        </p:txBody>
      </p:sp>
      <p:sp>
        <p:nvSpPr>
          <p:cNvPr id="38" name="Text 36"/>
          <p:cNvSpPr txBox="1"/>
          <p:nvPr/>
        </p:nvSpPr>
        <p:spPr>
          <a:xfrm>
            <a:off x="7543800" y="4645152"/>
            <a:ext cx="219456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CodeCrew</a:t>
            </a:r>
            <a:endParaRPr lang="en-US" sz="1500" dirty="0"/>
          </a:p>
        </p:txBody>
      </p:sp>
      <p:sp>
        <p:nvSpPr>
          <p:cNvPr id="39" name="Shape 37"/>
          <p:cNvSpPr/>
          <p:nvPr/>
        </p:nvSpPr>
        <p:spPr>
          <a:xfrm>
            <a:off x="548640" y="5230368"/>
            <a:ext cx="11094415" cy="0"/>
          </a:xfrm>
          <a:prstGeom prst="line">
            <a:avLst/>
          </a:prstGeom>
          <a:noFill/>
          <a:ln w="12700">
            <a:solidFill>
              <a:srgbClr val="2B323F"/>
            </a:solidFill>
            <a:prstDash val="solid"/>
          </a:ln>
        </p:spPr>
      </p:sp>
      <p:sp>
        <p:nvSpPr>
          <p:cNvPr id="40" name="Text 38"/>
          <p:cNvSpPr txBox="1"/>
          <p:nvPr/>
        </p:nvSpPr>
        <p:spPr>
          <a:xfrm>
            <a:off x="548640" y="5394960"/>
            <a:ext cx="8229600" cy="237744"/>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Smart India Hackathon 2026  ·  Software  ·  Built and running end to end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Eight states, one of the hardest logistics geographies in India</a:t>
            </a:r>
            <a:endParaRPr lang="en-US" sz="3000" dirty="0"/>
          </a:p>
        </p:txBody>
      </p:sp>
      <p:sp>
        <p:nvSpPr>
          <p:cNvPr id="4" name="Text 2"/>
          <p:cNvSpPr txBox="1"/>
          <p:nvPr/>
        </p:nvSpPr>
        <p:spPr>
          <a:xfrm>
            <a:off x="548640" y="1298448"/>
            <a:ext cx="6858000" cy="868680"/>
          </a:xfrm>
          <a:prstGeom prst="rect">
            <a:avLst/>
          </a:prstGeom>
          <a:noFill/>
          <a:ln/>
        </p:spPr>
        <p:txBody>
          <a:bodyPr wrap="square" lIns="0" tIns="0" rIns="0" bIns="0" rtlCol="0" anchor="ctr"/>
          <a:lstStyle/>
          <a:p>
            <a:pPr indent="0" marL="0">
              <a:lnSpc>
                <a:spcPct val="130000"/>
              </a:lnSpc>
              <a:buNone/>
            </a:pPr>
            <a:r>
              <a:rPr lang="en-US" sz="1250" dirty="0">
                <a:solidFill>
                  <a:srgbClr val="C3C2B7"/>
                </a:solidFill>
                <a:latin typeface="Calibri" pitchFamily="34" charset="0"/>
                <a:ea typeface="Calibri" pitchFamily="34" charset="-122"/>
                <a:cs typeface="Calibri" pitchFamily="34" charset="-120"/>
              </a:rPr>
              <a:t>The LEADS 2025 report puts North Eastern states across the full performance range - Mizoram an Exemplar, while Nagaland, Arunachal Pradesh, Manipur and Assam still trail. The causes are structural, not administrative: hill terrain, monsoon blockages, single-lifeline corridors, and transport networks that do not connect to each other.</a:t>
            </a:r>
            <a:endParaRPr lang="en-US" sz="1250" dirty="0"/>
          </a:p>
        </p:txBody>
      </p:sp>
      <p:sp>
        <p:nvSpPr>
          <p:cNvPr id="5" name="Shape 3"/>
          <p:cNvSpPr/>
          <p:nvPr/>
        </p:nvSpPr>
        <p:spPr>
          <a:xfrm>
            <a:off x="548640" y="2395728"/>
            <a:ext cx="5437480" cy="1389888"/>
          </a:xfrm>
          <a:prstGeom prst="roundRect">
            <a:avLst>
              <a:gd name="adj" fmla="val 5921"/>
            </a:avLst>
          </a:prstGeom>
          <a:solidFill>
            <a:srgbClr val="1A1F28"/>
          </a:solidFill>
          <a:ln w="12700">
            <a:solidFill>
              <a:srgbClr val="2B323F"/>
            </a:solidFill>
            <a:prstDash val="solid"/>
          </a:ln>
        </p:spPr>
      </p:sp>
      <p:sp>
        <p:nvSpPr>
          <p:cNvPr id="6" name="Shape 4"/>
          <p:cNvSpPr/>
          <p:nvPr/>
        </p:nvSpPr>
        <p:spPr>
          <a:xfrm>
            <a:off x="749808" y="2615184"/>
            <a:ext cx="420624" cy="420624"/>
          </a:xfrm>
          <a:prstGeom prst="ellipse">
            <a:avLst/>
          </a:prstGeom>
          <a:solidFill>
            <a:srgbClr val="2A2029"/>
          </a:solidFill>
          <a:ln w="12700">
            <a:solidFill>
              <a:srgbClr val="D03B3B"/>
            </a:solidFill>
            <a:prstDash val="solid"/>
          </a:ln>
        </p:spPr>
      </p:sp>
      <p:pic>
        <p:nvPicPr>
          <p:cNvPr id="7" name="Image 0" descr="preencoded.png">    </p:cNvPr>
          <p:cNvPicPr>
            <a:picLocks noChangeAspect="1"/>
          </p:cNvPicPr>
          <p:nvPr/>
        </p:nvPicPr>
        <p:blipFill>
          <a:blip r:embed="rId1"/>
          <a:stretch>
            <a:fillRect/>
          </a:stretch>
        </p:blipFill>
        <p:spPr>
          <a:xfrm>
            <a:off x="867583" y="2732959"/>
            <a:ext cx="185075" cy="185075"/>
          </a:xfrm>
          <a:prstGeom prst="rect">
            <a:avLst/>
          </a:prstGeom>
        </p:spPr>
      </p:pic>
      <p:sp>
        <p:nvSpPr>
          <p:cNvPr id="8" name="Text 5"/>
          <p:cNvSpPr txBox="1"/>
          <p:nvPr/>
        </p:nvSpPr>
        <p:spPr>
          <a:xfrm>
            <a:off x="1316736" y="2633472"/>
            <a:ext cx="4468216"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Single points of failure</a:t>
            </a:r>
            <a:endParaRPr lang="en-US" sz="1350" dirty="0"/>
          </a:p>
        </p:txBody>
      </p:sp>
      <p:sp>
        <p:nvSpPr>
          <p:cNvPr id="9" name="Text 6"/>
          <p:cNvSpPr txBox="1"/>
          <p:nvPr/>
        </p:nvSpPr>
        <p:spPr>
          <a:xfrm>
            <a:off x="1316736" y="2962656"/>
            <a:ext cx="4468216" cy="694944"/>
          </a:xfrm>
          <a:prstGeom prst="rect">
            <a:avLst/>
          </a:prstGeom>
          <a:noFill/>
          <a:ln/>
        </p:spPr>
        <p:txBody>
          <a:bodyPr wrap="square" lIns="0" tIns="0" rIns="0" bIns="0" rtlCol="0" anchor="t"/>
          <a:lstStyle/>
          <a:p>
            <a:pPr indent="0" marL="0">
              <a:lnSpc>
                <a:spcPct val="118000"/>
              </a:lnSpc>
              <a:buNone/>
            </a:pPr>
            <a:r>
              <a:rPr lang="en-US" sz="1100" dirty="0">
                <a:solidFill>
                  <a:srgbClr val="C3C2B7"/>
                </a:solidFill>
                <a:latin typeface="Calibri" pitchFamily="34" charset="0"/>
                <a:ea typeface="Calibri" pitchFamily="34" charset="-122"/>
                <a:cs typeface="Calibri" pitchFamily="34" charset="-120"/>
              </a:rPr>
              <a:t>NH-10 is Sikkim's only road lifeline. NH-2 is Manipur's. One landslide isolates a state capital.</a:t>
            </a:r>
            <a:endParaRPr lang="en-US" sz="1100" dirty="0"/>
          </a:p>
        </p:txBody>
      </p:sp>
      <p:sp>
        <p:nvSpPr>
          <p:cNvPr id="10" name="Shape 7"/>
          <p:cNvSpPr/>
          <p:nvPr/>
        </p:nvSpPr>
        <p:spPr>
          <a:xfrm>
            <a:off x="6205576" y="2395728"/>
            <a:ext cx="5437480" cy="1389888"/>
          </a:xfrm>
          <a:prstGeom prst="roundRect">
            <a:avLst>
              <a:gd name="adj" fmla="val 5921"/>
            </a:avLst>
          </a:prstGeom>
          <a:solidFill>
            <a:srgbClr val="1A1F28"/>
          </a:solidFill>
          <a:ln w="12700">
            <a:solidFill>
              <a:srgbClr val="2B323F"/>
            </a:solidFill>
            <a:prstDash val="solid"/>
          </a:ln>
        </p:spPr>
      </p:sp>
      <p:sp>
        <p:nvSpPr>
          <p:cNvPr id="11" name="Shape 8"/>
          <p:cNvSpPr/>
          <p:nvPr/>
        </p:nvSpPr>
        <p:spPr>
          <a:xfrm>
            <a:off x="6406744" y="2615184"/>
            <a:ext cx="420624" cy="420624"/>
          </a:xfrm>
          <a:prstGeom prst="ellipse">
            <a:avLst/>
          </a:prstGeom>
          <a:solidFill>
            <a:srgbClr val="2A2029"/>
          </a:solidFill>
          <a:ln w="12700">
            <a:solidFill>
              <a:srgbClr val="FAB219"/>
            </a:solidFill>
            <a:prstDash val="solid"/>
          </a:ln>
        </p:spPr>
      </p:sp>
      <p:pic>
        <p:nvPicPr>
          <p:cNvPr id="12" name="Image 1" descr="preencoded.png">    </p:cNvPr>
          <p:cNvPicPr>
            <a:picLocks noChangeAspect="1"/>
          </p:cNvPicPr>
          <p:nvPr/>
        </p:nvPicPr>
        <p:blipFill>
          <a:blip r:embed="rId2"/>
          <a:stretch>
            <a:fillRect/>
          </a:stretch>
        </p:blipFill>
        <p:spPr>
          <a:xfrm>
            <a:off x="6524518" y="2732959"/>
            <a:ext cx="185075" cy="185075"/>
          </a:xfrm>
          <a:prstGeom prst="rect">
            <a:avLst/>
          </a:prstGeom>
        </p:spPr>
      </p:pic>
      <p:sp>
        <p:nvSpPr>
          <p:cNvPr id="13" name="Text 9"/>
          <p:cNvSpPr txBox="1"/>
          <p:nvPr/>
        </p:nvSpPr>
        <p:spPr>
          <a:xfrm>
            <a:off x="6973672" y="2633472"/>
            <a:ext cx="4468216"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Monsoon-driven blockage</a:t>
            </a:r>
            <a:endParaRPr lang="en-US" sz="1350" dirty="0"/>
          </a:p>
        </p:txBody>
      </p:sp>
      <p:sp>
        <p:nvSpPr>
          <p:cNvPr id="14" name="Text 10"/>
          <p:cNvSpPr txBox="1"/>
          <p:nvPr/>
        </p:nvSpPr>
        <p:spPr>
          <a:xfrm>
            <a:off x="6973672" y="2962656"/>
            <a:ext cx="4468216" cy="694944"/>
          </a:xfrm>
          <a:prstGeom prst="rect">
            <a:avLst/>
          </a:prstGeom>
          <a:noFill/>
          <a:ln/>
        </p:spPr>
        <p:txBody>
          <a:bodyPr wrap="square" lIns="0" tIns="0" rIns="0" bIns="0" rtlCol="0" anchor="t"/>
          <a:lstStyle/>
          <a:p>
            <a:pPr indent="0" marL="0">
              <a:lnSpc>
                <a:spcPct val="118000"/>
              </a:lnSpc>
              <a:buNone/>
            </a:pPr>
            <a:r>
              <a:rPr lang="en-US" sz="1100" dirty="0">
                <a:solidFill>
                  <a:srgbClr val="C3C2B7"/>
                </a:solidFill>
                <a:latin typeface="Calibri" pitchFamily="34" charset="0"/>
                <a:ea typeface="Calibri" pitchFamily="34" charset="-122"/>
                <a:cs typeface="Calibri" pitchFamily="34" charset="-120"/>
              </a:rPr>
              <a:t>Corridors close on antecedent rainfall, not on the day's downpour - so closures are predictable, and are not predicted.</a:t>
            </a:r>
            <a:endParaRPr lang="en-US" sz="1100" dirty="0"/>
          </a:p>
        </p:txBody>
      </p:sp>
      <p:sp>
        <p:nvSpPr>
          <p:cNvPr id="15" name="Shape 11"/>
          <p:cNvSpPr/>
          <p:nvPr/>
        </p:nvSpPr>
        <p:spPr>
          <a:xfrm>
            <a:off x="548640" y="3968496"/>
            <a:ext cx="5437480" cy="1389888"/>
          </a:xfrm>
          <a:prstGeom prst="roundRect">
            <a:avLst>
              <a:gd name="adj" fmla="val 5921"/>
            </a:avLst>
          </a:prstGeom>
          <a:solidFill>
            <a:srgbClr val="1A1F28"/>
          </a:solidFill>
          <a:ln w="12700">
            <a:solidFill>
              <a:srgbClr val="2B323F"/>
            </a:solidFill>
            <a:prstDash val="solid"/>
          </a:ln>
        </p:spPr>
      </p:sp>
      <p:sp>
        <p:nvSpPr>
          <p:cNvPr id="16" name="Shape 12"/>
          <p:cNvSpPr/>
          <p:nvPr/>
        </p:nvSpPr>
        <p:spPr>
          <a:xfrm>
            <a:off x="749808" y="4187952"/>
            <a:ext cx="420624" cy="420624"/>
          </a:xfrm>
          <a:prstGeom prst="ellipse">
            <a:avLst/>
          </a:prstGeom>
          <a:solidFill>
            <a:srgbClr val="1C4C86"/>
          </a:solidFill>
          <a:ln w="12700">
            <a:solidFill>
              <a:srgbClr val="3987E5"/>
            </a:solidFill>
            <a:prstDash val="solid"/>
          </a:ln>
        </p:spPr>
      </p:sp>
      <p:pic>
        <p:nvPicPr>
          <p:cNvPr id="17" name="Image 2" descr="preencoded.png">    </p:cNvPr>
          <p:cNvPicPr>
            <a:picLocks noChangeAspect="1"/>
          </p:cNvPicPr>
          <p:nvPr/>
        </p:nvPicPr>
        <p:blipFill>
          <a:blip r:embed="rId3"/>
          <a:stretch>
            <a:fillRect/>
          </a:stretch>
        </p:blipFill>
        <p:spPr>
          <a:xfrm>
            <a:off x="867583" y="4305727"/>
            <a:ext cx="185075" cy="185075"/>
          </a:xfrm>
          <a:prstGeom prst="rect">
            <a:avLst/>
          </a:prstGeom>
        </p:spPr>
      </p:pic>
      <p:sp>
        <p:nvSpPr>
          <p:cNvPr id="18" name="Text 13"/>
          <p:cNvSpPr txBox="1"/>
          <p:nvPr/>
        </p:nvSpPr>
        <p:spPr>
          <a:xfrm>
            <a:off x="1316736" y="4206240"/>
            <a:ext cx="4468216"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Modes that do not co-plan</a:t>
            </a:r>
            <a:endParaRPr lang="en-US" sz="1350" dirty="0"/>
          </a:p>
        </p:txBody>
      </p:sp>
      <p:sp>
        <p:nvSpPr>
          <p:cNvPr id="19" name="Text 14"/>
          <p:cNvSpPr txBox="1"/>
          <p:nvPr/>
        </p:nvSpPr>
        <p:spPr>
          <a:xfrm>
            <a:off x="1316736" y="4535424"/>
            <a:ext cx="4468216" cy="694944"/>
          </a:xfrm>
          <a:prstGeom prst="rect">
            <a:avLst/>
          </a:prstGeom>
          <a:noFill/>
          <a:ln/>
        </p:spPr>
        <p:txBody>
          <a:bodyPr wrap="square" lIns="0" tIns="0" rIns="0" bIns="0" rtlCol="0" anchor="t"/>
          <a:lstStyle/>
          <a:p>
            <a:pPr indent="0" marL="0">
              <a:lnSpc>
                <a:spcPct val="118000"/>
              </a:lnSpc>
              <a:buNone/>
            </a:pPr>
            <a:r>
              <a:rPr lang="en-US" sz="1100" dirty="0">
                <a:solidFill>
                  <a:srgbClr val="C3C2B7"/>
                </a:solidFill>
                <a:latin typeface="Calibri" pitchFamily="34" charset="0"/>
                <a:ea typeface="Calibri" pitchFamily="34" charset="-122"/>
                <a:cs typeface="Calibri" pitchFamily="34" charset="-120"/>
              </a:rPr>
              <a:t>Road, rail, Brahmaputra waterway and UDAN air cargo are planned in separate silos with no shared view.</a:t>
            </a:r>
            <a:endParaRPr lang="en-US" sz="1100" dirty="0"/>
          </a:p>
        </p:txBody>
      </p:sp>
      <p:sp>
        <p:nvSpPr>
          <p:cNvPr id="20" name="Shape 15"/>
          <p:cNvSpPr/>
          <p:nvPr/>
        </p:nvSpPr>
        <p:spPr>
          <a:xfrm>
            <a:off x="6205576" y="3968496"/>
            <a:ext cx="5437480" cy="1389888"/>
          </a:xfrm>
          <a:prstGeom prst="roundRect">
            <a:avLst>
              <a:gd name="adj" fmla="val 5921"/>
            </a:avLst>
          </a:prstGeom>
          <a:solidFill>
            <a:srgbClr val="1A1F28"/>
          </a:solidFill>
          <a:ln w="12700">
            <a:solidFill>
              <a:srgbClr val="2B323F"/>
            </a:solidFill>
            <a:prstDash val="solid"/>
          </a:ln>
        </p:spPr>
      </p:sp>
      <p:sp>
        <p:nvSpPr>
          <p:cNvPr id="21" name="Shape 16"/>
          <p:cNvSpPr/>
          <p:nvPr/>
        </p:nvSpPr>
        <p:spPr>
          <a:xfrm>
            <a:off x="6406744" y="4187952"/>
            <a:ext cx="420624" cy="420624"/>
          </a:xfrm>
          <a:prstGeom prst="ellipse">
            <a:avLst/>
          </a:prstGeom>
          <a:solidFill>
            <a:srgbClr val="2A2029"/>
          </a:solidFill>
          <a:ln w="12700">
            <a:solidFill>
              <a:srgbClr val="9085E9"/>
            </a:solidFill>
            <a:prstDash val="solid"/>
          </a:ln>
        </p:spPr>
      </p:sp>
      <p:pic>
        <p:nvPicPr>
          <p:cNvPr id="22" name="Image 3" descr="preencoded.png">    </p:cNvPr>
          <p:cNvPicPr>
            <a:picLocks noChangeAspect="1"/>
          </p:cNvPicPr>
          <p:nvPr/>
        </p:nvPicPr>
        <p:blipFill>
          <a:blip r:embed="rId4"/>
          <a:stretch>
            <a:fillRect/>
          </a:stretch>
        </p:blipFill>
        <p:spPr>
          <a:xfrm>
            <a:off x="6524518" y="4305727"/>
            <a:ext cx="185075" cy="185075"/>
          </a:xfrm>
          <a:prstGeom prst="rect">
            <a:avLst/>
          </a:prstGeom>
        </p:spPr>
      </p:pic>
      <p:sp>
        <p:nvSpPr>
          <p:cNvPr id="23" name="Text 17"/>
          <p:cNvSpPr txBox="1"/>
          <p:nvPr/>
        </p:nvSpPr>
        <p:spPr>
          <a:xfrm>
            <a:off x="6973672" y="4206240"/>
            <a:ext cx="4468216"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Access is never scored</a:t>
            </a:r>
            <a:endParaRPr lang="en-US" sz="1350" dirty="0"/>
          </a:p>
        </p:txBody>
      </p:sp>
      <p:sp>
        <p:nvSpPr>
          <p:cNvPr id="24" name="Text 18"/>
          <p:cNvSpPr txBox="1"/>
          <p:nvPr/>
        </p:nvSpPr>
        <p:spPr>
          <a:xfrm>
            <a:off x="6973672" y="4535424"/>
            <a:ext cx="4468216" cy="694944"/>
          </a:xfrm>
          <a:prstGeom prst="rect">
            <a:avLst/>
          </a:prstGeom>
          <a:noFill/>
          <a:ln/>
        </p:spPr>
        <p:txBody>
          <a:bodyPr wrap="square" lIns="0" tIns="0" rIns="0" bIns="0" rtlCol="0" anchor="t"/>
          <a:lstStyle/>
          <a:p>
            <a:pPr indent="0" marL="0">
              <a:lnSpc>
                <a:spcPct val="118000"/>
              </a:lnSpc>
              <a:buNone/>
            </a:pPr>
            <a:r>
              <a:rPr lang="en-US" sz="1100" dirty="0">
                <a:solidFill>
                  <a:srgbClr val="C3C2B7"/>
                </a:solidFill>
                <a:latin typeface="Calibri" pitchFamily="34" charset="0"/>
                <a:ea typeface="Calibri" pitchFamily="34" charset="-122"/>
                <a:cs typeface="Calibri" pitchFamily="34" charset="-120"/>
              </a:rPr>
              <a:t>Nothing tells you a bridge cannot take the truck, or that the last 18 km has no motorable road at all.</a:t>
            </a:r>
            <a:endParaRPr lang="en-US" sz="1100" dirty="0"/>
          </a:p>
        </p:txBody>
      </p:sp>
      <p:sp>
        <p:nvSpPr>
          <p:cNvPr id="25" name="Text 19"/>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6" name="Text 20"/>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THE PLATFORM</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Five surfaces over one shared engine</a:t>
            </a:r>
            <a:endParaRPr lang="en-US" sz="3000" dirty="0"/>
          </a:p>
        </p:txBody>
      </p:sp>
      <p:sp>
        <p:nvSpPr>
          <p:cNvPr id="4" name="Shape 2"/>
          <p:cNvSpPr/>
          <p:nvPr/>
        </p:nvSpPr>
        <p:spPr>
          <a:xfrm>
            <a:off x="548640" y="1371600"/>
            <a:ext cx="2101840" cy="2286000"/>
          </a:xfrm>
          <a:prstGeom prst="roundRect">
            <a:avLst>
              <a:gd name="adj" fmla="val 3915"/>
            </a:avLst>
          </a:prstGeom>
          <a:solidFill>
            <a:srgbClr val="1A1F28"/>
          </a:solidFill>
          <a:ln w="12700">
            <a:solidFill>
              <a:srgbClr val="2B323F"/>
            </a:solidFill>
            <a:prstDash val="solid"/>
          </a:ln>
        </p:spPr>
      </p:sp>
      <p:sp>
        <p:nvSpPr>
          <p:cNvPr id="5" name="Shape 3"/>
          <p:cNvSpPr/>
          <p:nvPr/>
        </p:nvSpPr>
        <p:spPr>
          <a:xfrm>
            <a:off x="1334384" y="1627632"/>
            <a:ext cx="530352" cy="530352"/>
          </a:xfrm>
          <a:prstGeom prst="ellipse">
            <a:avLst/>
          </a:prstGeom>
          <a:solidFill>
            <a:srgbClr val="1E2937"/>
          </a:solidFill>
          <a:ln w="12700">
            <a:solidFill>
              <a:srgbClr val="3987E5"/>
            </a:solidFill>
            <a:prstDash val="solid"/>
          </a:ln>
        </p:spPr>
      </p:sp>
      <p:pic>
        <p:nvPicPr>
          <p:cNvPr id="6" name="Image 0" descr="preencoded.png">    </p:cNvPr>
          <p:cNvPicPr>
            <a:picLocks noChangeAspect="1"/>
          </p:cNvPicPr>
          <p:nvPr/>
        </p:nvPicPr>
        <p:blipFill>
          <a:blip r:embed="rId1"/>
          <a:stretch>
            <a:fillRect/>
          </a:stretch>
        </p:blipFill>
        <p:spPr>
          <a:xfrm>
            <a:off x="1482882" y="1776131"/>
            <a:ext cx="233355" cy="233355"/>
          </a:xfrm>
          <a:prstGeom prst="rect">
            <a:avLst/>
          </a:prstGeom>
        </p:spPr>
      </p:pic>
      <p:sp>
        <p:nvSpPr>
          <p:cNvPr id="7" name="Text 4"/>
          <p:cNvSpPr txBox="1"/>
          <p:nvPr/>
        </p:nvSpPr>
        <p:spPr>
          <a:xfrm>
            <a:off x="676656" y="2286000"/>
            <a:ext cx="184580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Route Planner</a:t>
            </a:r>
            <a:endParaRPr lang="en-US" sz="1300" dirty="0"/>
          </a:p>
        </p:txBody>
      </p:sp>
      <p:sp>
        <p:nvSpPr>
          <p:cNvPr id="8" name="Text 5"/>
          <p:cNvSpPr txBox="1"/>
          <p:nvPr/>
        </p:nvSpPr>
        <p:spPr>
          <a:xfrm>
            <a:off x="694944" y="2615184"/>
            <a:ext cx="1809232" cy="914400"/>
          </a:xfrm>
          <a:prstGeom prst="rect">
            <a:avLst/>
          </a:prstGeom>
          <a:noFill/>
          <a:ln/>
        </p:spPr>
        <p:txBody>
          <a:bodyPr wrap="square" lIns="0" tIns="0" rIns="0" bIns="0" rtlCol="0" anchor="t"/>
          <a:lstStyle/>
          <a:p>
            <a:pPr algn="ctr" indent="0" marL="0">
              <a:lnSpc>
                <a:spcPct val="115000"/>
              </a:lnSpc>
              <a:buNone/>
            </a:pPr>
            <a:r>
              <a:rPr lang="en-US" sz="1000" dirty="0">
                <a:solidFill>
                  <a:srgbClr val="C3C2B7"/>
                </a:solidFill>
                <a:latin typeface="Calibri" pitchFamily="34" charset="0"/>
                <a:ea typeface="Calibri" pitchFamily="34" charset="-122"/>
                <a:cs typeface="Calibri" pitchFamily="34" charset="-120"/>
              </a:rPr>
              <a:t>Ranked multimodal routings with a grounded explanation of why the top one won.</a:t>
            </a:r>
            <a:endParaRPr lang="en-US" sz="1000" dirty="0"/>
          </a:p>
        </p:txBody>
      </p:sp>
      <p:sp>
        <p:nvSpPr>
          <p:cNvPr id="9" name="Shape 6"/>
          <p:cNvSpPr/>
          <p:nvPr/>
        </p:nvSpPr>
        <p:spPr>
          <a:xfrm>
            <a:off x="2796784" y="1371600"/>
            <a:ext cx="2101840" cy="2286000"/>
          </a:xfrm>
          <a:prstGeom prst="roundRect">
            <a:avLst>
              <a:gd name="adj" fmla="val 3915"/>
            </a:avLst>
          </a:prstGeom>
          <a:solidFill>
            <a:srgbClr val="1A1F28"/>
          </a:solidFill>
          <a:ln w="12700">
            <a:solidFill>
              <a:srgbClr val="2B323F"/>
            </a:solidFill>
            <a:prstDash val="solid"/>
          </a:ln>
        </p:spPr>
      </p:sp>
      <p:sp>
        <p:nvSpPr>
          <p:cNvPr id="10" name="Shape 7"/>
          <p:cNvSpPr/>
          <p:nvPr/>
        </p:nvSpPr>
        <p:spPr>
          <a:xfrm>
            <a:off x="3582528" y="1627632"/>
            <a:ext cx="530352" cy="530352"/>
          </a:xfrm>
          <a:prstGeom prst="ellipse">
            <a:avLst/>
          </a:prstGeom>
          <a:solidFill>
            <a:srgbClr val="1E2937"/>
          </a:solidFill>
          <a:ln w="12700">
            <a:solidFill>
              <a:srgbClr val="D03B3B"/>
            </a:solidFill>
            <a:prstDash val="solid"/>
          </a:ln>
        </p:spPr>
      </p:sp>
      <p:pic>
        <p:nvPicPr>
          <p:cNvPr id="11" name="Image 1" descr="preencoded.png">    </p:cNvPr>
          <p:cNvPicPr>
            <a:picLocks noChangeAspect="1"/>
          </p:cNvPicPr>
          <p:nvPr/>
        </p:nvPicPr>
        <p:blipFill>
          <a:blip r:embed="rId2"/>
          <a:stretch>
            <a:fillRect/>
          </a:stretch>
        </p:blipFill>
        <p:spPr>
          <a:xfrm>
            <a:off x="3731026" y="1776131"/>
            <a:ext cx="233355" cy="233355"/>
          </a:xfrm>
          <a:prstGeom prst="rect">
            <a:avLst/>
          </a:prstGeom>
        </p:spPr>
      </p:pic>
      <p:sp>
        <p:nvSpPr>
          <p:cNvPr id="12" name="Text 8"/>
          <p:cNvSpPr txBox="1"/>
          <p:nvPr/>
        </p:nvSpPr>
        <p:spPr>
          <a:xfrm>
            <a:off x="2924800" y="2286000"/>
            <a:ext cx="184580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Network Risk</a:t>
            </a:r>
            <a:endParaRPr lang="en-US" sz="1300" dirty="0"/>
          </a:p>
        </p:txBody>
      </p:sp>
      <p:sp>
        <p:nvSpPr>
          <p:cNvPr id="13" name="Text 9"/>
          <p:cNvSpPr txBox="1"/>
          <p:nvPr/>
        </p:nvSpPr>
        <p:spPr>
          <a:xfrm>
            <a:off x="2943088" y="2615184"/>
            <a:ext cx="1809232" cy="914400"/>
          </a:xfrm>
          <a:prstGeom prst="rect">
            <a:avLst/>
          </a:prstGeom>
          <a:noFill/>
          <a:ln/>
        </p:spPr>
        <p:txBody>
          <a:bodyPr wrap="square" lIns="0" tIns="0" rIns="0" bIns="0" rtlCol="0" anchor="t"/>
          <a:lstStyle/>
          <a:p>
            <a:pPr algn="ctr" indent="0" marL="0">
              <a:lnSpc>
                <a:spcPct val="115000"/>
              </a:lnSpc>
              <a:buNone/>
            </a:pPr>
            <a:r>
              <a:rPr lang="en-US" sz="1000" dirty="0">
                <a:solidFill>
                  <a:srgbClr val="C3C2B7"/>
                </a:solidFill>
                <a:latin typeface="Calibri" pitchFamily="34" charset="0"/>
                <a:ea typeface="Calibri" pitchFamily="34" charset="-122"/>
                <a:cs typeface="Calibri" pitchFamily="34" charset="-120"/>
              </a:rPr>
              <a:t>Live corridor risk, condition-derived alerts, and who gets stranded if corridors close.</a:t>
            </a:r>
            <a:endParaRPr lang="en-US" sz="1000" dirty="0"/>
          </a:p>
        </p:txBody>
      </p:sp>
      <p:sp>
        <p:nvSpPr>
          <p:cNvPr id="14" name="Shape 10"/>
          <p:cNvSpPr/>
          <p:nvPr/>
        </p:nvSpPr>
        <p:spPr>
          <a:xfrm>
            <a:off x="5044928" y="1371600"/>
            <a:ext cx="2101840" cy="2286000"/>
          </a:xfrm>
          <a:prstGeom prst="roundRect">
            <a:avLst>
              <a:gd name="adj" fmla="val 3915"/>
            </a:avLst>
          </a:prstGeom>
          <a:solidFill>
            <a:srgbClr val="1A1F28"/>
          </a:solidFill>
          <a:ln w="12700">
            <a:solidFill>
              <a:srgbClr val="2B323F"/>
            </a:solidFill>
            <a:prstDash val="solid"/>
          </a:ln>
        </p:spPr>
      </p:sp>
      <p:sp>
        <p:nvSpPr>
          <p:cNvPr id="15" name="Shape 11"/>
          <p:cNvSpPr/>
          <p:nvPr/>
        </p:nvSpPr>
        <p:spPr>
          <a:xfrm>
            <a:off x="5830672" y="1627632"/>
            <a:ext cx="530352" cy="530352"/>
          </a:xfrm>
          <a:prstGeom prst="ellipse">
            <a:avLst/>
          </a:prstGeom>
          <a:solidFill>
            <a:srgbClr val="1E2937"/>
          </a:solidFill>
          <a:ln w="12700">
            <a:solidFill>
              <a:srgbClr val="9085E9"/>
            </a:solidFill>
            <a:prstDash val="solid"/>
          </a:ln>
        </p:spPr>
      </p:sp>
      <p:pic>
        <p:nvPicPr>
          <p:cNvPr id="16" name="Image 2" descr="preencoded.png">    </p:cNvPr>
          <p:cNvPicPr>
            <a:picLocks noChangeAspect="1"/>
          </p:cNvPicPr>
          <p:nvPr/>
        </p:nvPicPr>
        <p:blipFill>
          <a:blip r:embed="rId3"/>
          <a:stretch>
            <a:fillRect/>
          </a:stretch>
        </p:blipFill>
        <p:spPr>
          <a:xfrm>
            <a:off x="5979170" y="1776131"/>
            <a:ext cx="233355" cy="233355"/>
          </a:xfrm>
          <a:prstGeom prst="rect">
            <a:avLst/>
          </a:prstGeom>
        </p:spPr>
      </p:pic>
      <p:sp>
        <p:nvSpPr>
          <p:cNvPr id="17" name="Text 12"/>
          <p:cNvSpPr txBox="1"/>
          <p:nvPr/>
        </p:nvSpPr>
        <p:spPr>
          <a:xfrm>
            <a:off x="5172944" y="2286000"/>
            <a:ext cx="184580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Accessibility Atlas</a:t>
            </a:r>
            <a:endParaRPr lang="en-US" sz="1300" dirty="0"/>
          </a:p>
        </p:txBody>
      </p:sp>
      <p:sp>
        <p:nvSpPr>
          <p:cNvPr id="18" name="Text 13"/>
          <p:cNvSpPr txBox="1"/>
          <p:nvPr/>
        </p:nvSpPr>
        <p:spPr>
          <a:xfrm>
            <a:off x="5191232" y="2615184"/>
            <a:ext cx="1809232" cy="914400"/>
          </a:xfrm>
          <a:prstGeom prst="rect">
            <a:avLst/>
          </a:prstGeom>
          <a:noFill/>
          <a:ln/>
        </p:spPr>
        <p:txBody>
          <a:bodyPr wrap="square" lIns="0" tIns="0" rIns="0" bIns="0" rtlCol="0" anchor="t"/>
          <a:lstStyle/>
          <a:p>
            <a:pPr algn="ctr" indent="0" marL="0">
              <a:lnSpc>
                <a:spcPct val="115000"/>
              </a:lnSpc>
              <a:buNone/>
            </a:pPr>
            <a:r>
              <a:rPr lang="en-US" sz="1000" dirty="0">
                <a:solidFill>
                  <a:srgbClr val="C3C2B7"/>
                </a:solidFill>
                <a:latin typeface="Calibri" pitchFamily="34" charset="0"/>
                <a:ea typeface="Calibri" pitchFamily="34" charset="-122"/>
                <a:cs typeface="Calibri" pitchFamily="34" charset="-120"/>
              </a:rPr>
              <a:t>0-100 index for every settlement over six auditable sub-scores.</a:t>
            </a:r>
            <a:endParaRPr lang="en-US" sz="1000" dirty="0"/>
          </a:p>
        </p:txBody>
      </p:sp>
      <p:sp>
        <p:nvSpPr>
          <p:cNvPr id="19" name="Shape 14"/>
          <p:cNvSpPr/>
          <p:nvPr/>
        </p:nvSpPr>
        <p:spPr>
          <a:xfrm>
            <a:off x="7293072" y="1371600"/>
            <a:ext cx="2101840" cy="2286000"/>
          </a:xfrm>
          <a:prstGeom prst="roundRect">
            <a:avLst>
              <a:gd name="adj" fmla="val 3915"/>
            </a:avLst>
          </a:prstGeom>
          <a:solidFill>
            <a:srgbClr val="1A1F28"/>
          </a:solidFill>
          <a:ln w="12700">
            <a:solidFill>
              <a:srgbClr val="2B323F"/>
            </a:solidFill>
            <a:prstDash val="solid"/>
          </a:ln>
        </p:spPr>
      </p:sp>
      <p:sp>
        <p:nvSpPr>
          <p:cNvPr id="20" name="Shape 15"/>
          <p:cNvSpPr/>
          <p:nvPr/>
        </p:nvSpPr>
        <p:spPr>
          <a:xfrm>
            <a:off x="8078815" y="1627632"/>
            <a:ext cx="530352" cy="530352"/>
          </a:xfrm>
          <a:prstGeom prst="ellipse">
            <a:avLst/>
          </a:prstGeom>
          <a:solidFill>
            <a:srgbClr val="1E2937"/>
          </a:solidFill>
          <a:ln w="12700">
            <a:solidFill>
              <a:srgbClr val="199E70"/>
            </a:solidFill>
            <a:prstDash val="solid"/>
          </a:ln>
        </p:spPr>
      </p:sp>
      <p:pic>
        <p:nvPicPr>
          <p:cNvPr id="21" name="Image 3" descr="preencoded.png">    </p:cNvPr>
          <p:cNvPicPr>
            <a:picLocks noChangeAspect="1"/>
          </p:cNvPicPr>
          <p:nvPr/>
        </p:nvPicPr>
        <p:blipFill>
          <a:blip r:embed="rId4"/>
          <a:stretch>
            <a:fillRect/>
          </a:stretch>
        </p:blipFill>
        <p:spPr>
          <a:xfrm>
            <a:off x="8227314" y="1776131"/>
            <a:ext cx="233355" cy="233355"/>
          </a:xfrm>
          <a:prstGeom prst="rect">
            <a:avLst/>
          </a:prstGeom>
        </p:spPr>
      </p:pic>
      <p:sp>
        <p:nvSpPr>
          <p:cNvPr id="22" name="Text 16"/>
          <p:cNvSpPr txBox="1"/>
          <p:nvPr/>
        </p:nvSpPr>
        <p:spPr>
          <a:xfrm>
            <a:off x="7421088" y="2286000"/>
            <a:ext cx="184580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Field Mode</a:t>
            </a:r>
            <a:endParaRPr lang="en-US" sz="1300" dirty="0"/>
          </a:p>
        </p:txBody>
      </p:sp>
      <p:sp>
        <p:nvSpPr>
          <p:cNvPr id="23" name="Text 17"/>
          <p:cNvSpPr txBox="1"/>
          <p:nvPr/>
        </p:nvSpPr>
        <p:spPr>
          <a:xfrm>
            <a:off x="7439376" y="2615184"/>
            <a:ext cx="1809232" cy="914400"/>
          </a:xfrm>
          <a:prstGeom prst="rect">
            <a:avLst/>
          </a:prstGeom>
          <a:noFill/>
          <a:ln/>
        </p:spPr>
        <p:txBody>
          <a:bodyPr wrap="square" lIns="0" tIns="0" rIns="0" bIns="0" rtlCol="0" anchor="t"/>
          <a:lstStyle/>
          <a:p>
            <a:pPr algn="ctr" indent="0" marL="0">
              <a:lnSpc>
                <a:spcPct val="115000"/>
              </a:lnSpc>
              <a:buNone/>
            </a:pPr>
            <a:r>
              <a:rPr lang="en-US" sz="1000" dirty="0">
                <a:solidFill>
                  <a:srgbClr val="C3C2B7"/>
                </a:solidFill>
                <a:latin typeface="Calibri" pitchFamily="34" charset="0"/>
                <a:ea typeface="Calibri" pitchFamily="34" charset="-122"/>
                <a:cs typeface="Calibri" pitchFamily="34" charset="-120"/>
              </a:rPr>
              <a:t>The same plan as sub-160-character SMS / USSD pages for 2G districts.</a:t>
            </a:r>
            <a:endParaRPr lang="en-US" sz="1000" dirty="0"/>
          </a:p>
        </p:txBody>
      </p:sp>
      <p:sp>
        <p:nvSpPr>
          <p:cNvPr id="24" name="Shape 18"/>
          <p:cNvSpPr/>
          <p:nvPr/>
        </p:nvSpPr>
        <p:spPr>
          <a:xfrm>
            <a:off x="9541215" y="1371600"/>
            <a:ext cx="2101840" cy="2286000"/>
          </a:xfrm>
          <a:prstGeom prst="roundRect">
            <a:avLst>
              <a:gd name="adj" fmla="val 3915"/>
            </a:avLst>
          </a:prstGeom>
          <a:solidFill>
            <a:srgbClr val="1A1F28"/>
          </a:solidFill>
          <a:ln w="12700">
            <a:solidFill>
              <a:srgbClr val="2B323F"/>
            </a:solidFill>
            <a:prstDash val="solid"/>
          </a:ln>
        </p:spPr>
      </p:sp>
      <p:sp>
        <p:nvSpPr>
          <p:cNvPr id="25" name="Shape 19"/>
          <p:cNvSpPr/>
          <p:nvPr/>
        </p:nvSpPr>
        <p:spPr>
          <a:xfrm>
            <a:off x="10326959" y="1627632"/>
            <a:ext cx="530352" cy="530352"/>
          </a:xfrm>
          <a:prstGeom prst="ellipse">
            <a:avLst/>
          </a:prstGeom>
          <a:solidFill>
            <a:srgbClr val="1E2937"/>
          </a:solidFill>
          <a:ln w="12700">
            <a:solidFill>
              <a:srgbClr val="FAB219"/>
            </a:solidFill>
            <a:prstDash val="solid"/>
          </a:ln>
        </p:spPr>
      </p:sp>
      <p:pic>
        <p:nvPicPr>
          <p:cNvPr id="26" name="Image 4" descr="preencoded.png">    </p:cNvPr>
          <p:cNvPicPr>
            <a:picLocks noChangeAspect="1"/>
          </p:cNvPicPr>
          <p:nvPr/>
        </p:nvPicPr>
        <p:blipFill>
          <a:blip r:embed="rId5"/>
          <a:stretch>
            <a:fillRect/>
          </a:stretch>
        </p:blipFill>
        <p:spPr>
          <a:xfrm>
            <a:off x="10475458" y="1776131"/>
            <a:ext cx="233355" cy="233355"/>
          </a:xfrm>
          <a:prstGeom prst="rect">
            <a:avLst/>
          </a:prstGeom>
        </p:spPr>
      </p:pic>
      <p:sp>
        <p:nvSpPr>
          <p:cNvPr id="27" name="Text 20"/>
          <p:cNvSpPr txBox="1"/>
          <p:nvPr/>
        </p:nvSpPr>
        <p:spPr>
          <a:xfrm>
            <a:off x="9669231" y="2286000"/>
            <a:ext cx="184580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Model &amp; Data</a:t>
            </a:r>
            <a:endParaRPr lang="en-US" sz="1300" dirty="0"/>
          </a:p>
        </p:txBody>
      </p:sp>
      <p:sp>
        <p:nvSpPr>
          <p:cNvPr id="28" name="Text 21"/>
          <p:cNvSpPr txBox="1"/>
          <p:nvPr/>
        </p:nvSpPr>
        <p:spPr>
          <a:xfrm>
            <a:off x="9687519" y="2615184"/>
            <a:ext cx="1809232" cy="914400"/>
          </a:xfrm>
          <a:prstGeom prst="rect">
            <a:avLst/>
          </a:prstGeom>
          <a:noFill/>
          <a:ln/>
        </p:spPr>
        <p:txBody>
          <a:bodyPr wrap="square" lIns="0" tIns="0" rIns="0" bIns="0" rtlCol="0" anchor="t"/>
          <a:lstStyle/>
          <a:p>
            <a:pPr algn="ctr" indent="0" marL="0">
              <a:lnSpc>
                <a:spcPct val="115000"/>
              </a:lnSpc>
              <a:buNone/>
            </a:pPr>
            <a:r>
              <a:rPr lang="en-US" sz="1000" dirty="0">
                <a:solidFill>
                  <a:srgbClr val="C3C2B7"/>
                </a:solidFill>
                <a:latin typeface="Calibri" pitchFamily="34" charset="0"/>
                <a:ea typeface="Calibri" pitchFamily="34" charset="-122"/>
                <a:cs typeface="Calibri" pitchFamily="34" charset="-120"/>
              </a:rPr>
              <a:t>What the model is, how well it does, and which data is real.</a:t>
            </a:r>
            <a:endParaRPr lang="en-US" sz="1000" dirty="0"/>
          </a:p>
        </p:txBody>
      </p:sp>
      <p:sp>
        <p:nvSpPr>
          <p:cNvPr id="29" name="Text 22"/>
          <p:cNvSpPr txBox="1"/>
          <p:nvPr/>
        </p:nvSpPr>
        <p:spPr>
          <a:xfrm>
            <a:off x="548640" y="3913632"/>
            <a:ext cx="11094415"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One engine underneath</a:t>
            </a:r>
            <a:endParaRPr lang="en-US" sz="1500" dirty="0"/>
          </a:p>
        </p:txBody>
      </p:sp>
      <p:sp>
        <p:nvSpPr>
          <p:cNvPr id="30" name="Shape 23"/>
          <p:cNvSpPr/>
          <p:nvPr/>
        </p:nvSpPr>
        <p:spPr>
          <a:xfrm>
            <a:off x="548640" y="4279392"/>
            <a:ext cx="1742389" cy="1298448"/>
          </a:xfrm>
          <a:prstGeom prst="roundRect">
            <a:avLst>
              <a:gd name="adj" fmla="val 6338"/>
            </a:avLst>
          </a:prstGeom>
          <a:solidFill>
            <a:srgbClr val="1A1F28"/>
          </a:solidFill>
          <a:ln w="12700">
            <a:solidFill>
              <a:srgbClr val="2B323F"/>
            </a:solidFill>
            <a:prstDash val="solid"/>
          </a:ln>
        </p:spPr>
      </p:sp>
      <p:sp>
        <p:nvSpPr>
          <p:cNvPr id="31" name="Text 24"/>
          <p:cNvSpPr txBox="1"/>
          <p:nvPr/>
        </p:nvSpPr>
        <p:spPr>
          <a:xfrm>
            <a:off x="694944" y="4398264"/>
            <a:ext cx="144978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SETTLEMENTS</a:t>
            </a:r>
            <a:endParaRPr lang="en-US" sz="850" dirty="0"/>
          </a:p>
        </p:txBody>
      </p:sp>
      <p:sp>
        <p:nvSpPr>
          <p:cNvPr id="32" name="Text 25"/>
          <p:cNvSpPr txBox="1"/>
          <p:nvPr/>
        </p:nvSpPr>
        <p:spPr>
          <a:xfrm>
            <a:off x="694944" y="4590288"/>
            <a:ext cx="144978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59</a:t>
            </a:r>
            <a:endParaRPr lang="en-US" sz="2500" dirty="0"/>
          </a:p>
        </p:txBody>
      </p:sp>
      <p:sp>
        <p:nvSpPr>
          <p:cNvPr id="33" name="Text 26"/>
          <p:cNvSpPr txBox="1"/>
          <p:nvPr/>
        </p:nvSpPr>
        <p:spPr>
          <a:xfrm>
            <a:off x="694944" y="5157216"/>
            <a:ext cx="1449781"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8 NE states + Siliguri and Kolkata gateways</a:t>
            </a:r>
            <a:endParaRPr lang="en-US" sz="900" dirty="0"/>
          </a:p>
        </p:txBody>
      </p:sp>
      <p:sp>
        <p:nvSpPr>
          <p:cNvPr id="34" name="Shape 27"/>
          <p:cNvSpPr/>
          <p:nvPr/>
        </p:nvSpPr>
        <p:spPr>
          <a:xfrm>
            <a:off x="2419045" y="4279392"/>
            <a:ext cx="1742389" cy="1298448"/>
          </a:xfrm>
          <a:prstGeom prst="roundRect">
            <a:avLst>
              <a:gd name="adj" fmla="val 6338"/>
            </a:avLst>
          </a:prstGeom>
          <a:solidFill>
            <a:srgbClr val="1A1F28"/>
          </a:solidFill>
          <a:ln w="12700">
            <a:solidFill>
              <a:srgbClr val="2B323F"/>
            </a:solidFill>
            <a:prstDash val="solid"/>
          </a:ln>
        </p:spPr>
      </p:sp>
      <p:sp>
        <p:nvSpPr>
          <p:cNvPr id="35" name="Text 28"/>
          <p:cNvSpPr txBox="1"/>
          <p:nvPr/>
        </p:nvSpPr>
        <p:spPr>
          <a:xfrm>
            <a:off x="2565349" y="4398264"/>
            <a:ext cx="144978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CORRIDORS</a:t>
            </a:r>
            <a:endParaRPr lang="en-US" sz="850" dirty="0"/>
          </a:p>
        </p:txBody>
      </p:sp>
      <p:sp>
        <p:nvSpPr>
          <p:cNvPr id="36" name="Text 29"/>
          <p:cNvSpPr txBox="1"/>
          <p:nvPr/>
        </p:nvSpPr>
        <p:spPr>
          <a:xfrm>
            <a:off x="2565349" y="4590288"/>
            <a:ext cx="144978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114</a:t>
            </a:r>
            <a:endParaRPr lang="en-US" sz="2500" dirty="0"/>
          </a:p>
        </p:txBody>
      </p:sp>
      <p:sp>
        <p:nvSpPr>
          <p:cNvPr id="37" name="Text 30"/>
          <p:cNvSpPr txBox="1"/>
          <p:nvPr/>
        </p:nvSpPr>
        <p:spPr>
          <a:xfrm>
            <a:off x="2565349" y="5157216"/>
            <a:ext cx="1449781"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Road, rail, waterway and air cargo</a:t>
            </a:r>
            <a:endParaRPr lang="en-US" sz="900" dirty="0"/>
          </a:p>
        </p:txBody>
      </p:sp>
      <p:sp>
        <p:nvSpPr>
          <p:cNvPr id="38" name="Shape 31"/>
          <p:cNvSpPr/>
          <p:nvPr/>
        </p:nvSpPr>
        <p:spPr>
          <a:xfrm>
            <a:off x="4289450" y="4279392"/>
            <a:ext cx="1742389" cy="1298448"/>
          </a:xfrm>
          <a:prstGeom prst="roundRect">
            <a:avLst>
              <a:gd name="adj" fmla="val 6338"/>
            </a:avLst>
          </a:prstGeom>
          <a:solidFill>
            <a:srgbClr val="1A1F28"/>
          </a:solidFill>
          <a:ln w="12700">
            <a:solidFill>
              <a:srgbClr val="2B323F"/>
            </a:solidFill>
            <a:prstDash val="solid"/>
          </a:ln>
        </p:spPr>
      </p:sp>
      <p:sp>
        <p:nvSpPr>
          <p:cNvPr id="39" name="Text 32"/>
          <p:cNvSpPr txBox="1"/>
          <p:nvPr/>
        </p:nvSpPr>
        <p:spPr>
          <a:xfrm>
            <a:off x="4435754" y="4398264"/>
            <a:ext cx="144978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NETWORK MODELLED</a:t>
            </a:r>
            <a:endParaRPr lang="en-US" sz="850" dirty="0"/>
          </a:p>
        </p:txBody>
      </p:sp>
      <p:sp>
        <p:nvSpPr>
          <p:cNvPr id="40" name="Text 33"/>
          <p:cNvSpPr txBox="1"/>
          <p:nvPr/>
        </p:nvSpPr>
        <p:spPr>
          <a:xfrm>
            <a:off x="4435754" y="4590288"/>
            <a:ext cx="144978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17,712</a:t>
            </a:r>
            <a:pPr indent="0" marL="0">
              <a:buNone/>
            </a:pPr>
            <a:r>
              <a:rPr lang="en-US" sz="1100" dirty="0">
                <a:solidFill>
                  <a:srgbClr val="8A93A3"/>
                </a:solidFill>
                <a:latin typeface="Calibri" pitchFamily="34" charset="0"/>
                <a:ea typeface="Calibri" pitchFamily="34" charset="-122"/>
                <a:cs typeface="Calibri" pitchFamily="34" charset="-120"/>
              </a:rPr>
              <a:t> km</a:t>
            </a:r>
            <a:endParaRPr lang="en-US" sz="2500" dirty="0"/>
          </a:p>
        </p:txBody>
      </p:sp>
      <p:sp>
        <p:nvSpPr>
          <p:cNvPr id="41" name="Text 34"/>
          <p:cNvSpPr txBox="1"/>
          <p:nvPr/>
        </p:nvSpPr>
        <p:spPr>
          <a:xfrm>
            <a:off x="4435754" y="5157216"/>
            <a:ext cx="1449781"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Real NH / NFR / NW-2 / UDAN topology</a:t>
            </a:r>
            <a:endParaRPr lang="en-US" sz="900" dirty="0"/>
          </a:p>
        </p:txBody>
      </p:sp>
      <p:sp>
        <p:nvSpPr>
          <p:cNvPr id="42" name="Shape 35"/>
          <p:cNvSpPr/>
          <p:nvPr/>
        </p:nvSpPr>
        <p:spPr>
          <a:xfrm>
            <a:off x="6159856" y="4279392"/>
            <a:ext cx="1742389" cy="1298448"/>
          </a:xfrm>
          <a:prstGeom prst="roundRect">
            <a:avLst>
              <a:gd name="adj" fmla="val 6338"/>
            </a:avLst>
          </a:prstGeom>
          <a:solidFill>
            <a:srgbClr val="1A1F28"/>
          </a:solidFill>
          <a:ln w="12700">
            <a:solidFill>
              <a:srgbClr val="2B323F"/>
            </a:solidFill>
            <a:prstDash val="solid"/>
          </a:ln>
        </p:spPr>
      </p:sp>
      <p:sp>
        <p:nvSpPr>
          <p:cNvPr id="43" name="Text 36"/>
          <p:cNvSpPr txBox="1"/>
          <p:nvPr/>
        </p:nvSpPr>
        <p:spPr>
          <a:xfrm>
            <a:off x="6306160" y="4398264"/>
            <a:ext cx="144978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LIVE WEATHER NODES</a:t>
            </a:r>
            <a:endParaRPr lang="en-US" sz="850" dirty="0"/>
          </a:p>
        </p:txBody>
      </p:sp>
      <p:sp>
        <p:nvSpPr>
          <p:cNvPr id="44" name="Text 37"/>
          <p:cNvSpPr txBox="1"/>
          <p:nvPr/>
        </p:nvSpPr>
        <p:spPr>
          <a:xfrm>
            <a:off x="6306160" y="4590288"/>
            <a:ext cx="144978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59</a:t>
            </a:r>
            <a:endParaRPr lang="en-US" sz="2500" dirty="0"/>
          </a:p>
        </p:txBody>
      </p:sp>
      <p:sp>
        <p:nvSpPr>
          <p:cNvPr id="45" name="Text 38"/>
          <p:cNvSpPr txBox="1"/>
          <p:nvPr/>
        </p:nvSpPr>
        <p:spPr>
          <a:xfrm>
            <a:off x="6306160" y="5157216"/>
            <a:ext cx="1449781"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Open-Meteo, refreshed every 15 minutes</a:t>
            </a:r>
            <a:endParaRPr lang="en-US" sz="900" dirty="0"/>
          </a:p>
        </p:txBody>
      </p:sp>
      <p:sp>
        <p:nvSpPr>
          <p:cNvPr id="46" name="Shape 39"/>
          <p:cNvSpPr/>
          <p:nvPr/>
        </p:nvSpPr>
        <p:spPr>
          <a:xfrm>
            <a:off x="8030261" y="4279392"/>
            <a:ext cx="1742389" cy="1298448"/>
          </a:xfrm>
          <a:prstGeom prst="roundRect">
            <a:avLst>
              <a:gd name="adj" fmla="val 6338"/>
            </a:avLst>
          </a:prstGeom>
          <a:solidFill>
            <a:srgbClr val="1A1F28"/>
          </a:solidFill>
          <a:ln w="12700">
            <a:solidFill>
              <a:srgbClr val="2B323F"/>
            </a:solidFill>
            <a:prstDash val="solid"/>
          </a:ln>
        </p:spPr>
      </p:sp>
      <p:sp>
        <p:nvSpPr>
          <p:cNvPr id="47" name="Text 40"/>
          <p:cNvSpPr txBox="1"/>
          <p:nvPr/>
        </p:nvSpPr>
        <p:spPr>
          <a:xfrm>
            <a:off x="8176565" y="4398264"/>
            <a:ext cx="144978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CARGO PROFILES</a:t>
            </a:r>
            <a:endParaRPr lang="en-US" sz="850" dirty="0"/>
          </a:p>
        </p:txBody>
      </p:sp>
      <p:sp>
        <p:nvSpPr>
          <p:cNvPr id="48" name="Text 41"/>
          <p:cNvSpPr txBox="1"/>
          <p:nvPr/>
        </p:nvSpPr>
        <p:spPr>
          <a:xfrm>
            <a:off x="8176565" y="4590288"/>
            <a:ext cx="144978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6</a:t>
            </a:r>
            <a:endParaRPr lang="en-US" sz="2500" dirty="0"/>
          </a:p>
        </p:txBody>
      </p:sp>
      <p:sp>
        <p:nvSpPr>
          <p:cNvPr id="49" name="Text 42"/>
          <p:cNvSpPr txBox="1"/>
          <p:nvPr/>
        </p:nvSpPr>
        <p:spPr>
          <a:xfrm>
            <a:off x="8176565" y="5157216"/>
            <a:ext cx="1449781"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Each genuinely changes the chosen route</a:t>
            </a:r>
            <a:endParaRPr lang="en-US" sz="900" dirty="0"/>
          </a:p>
        </p:txBody>
      </p:sp>
      <p:sp>
        <p:nvSpPr>
          <p:cNvPr id="50" name="Shape 43"/>
          <p:cNvSpPr/>
          <p:nvPr/>
        </p:nvSpPr>
        <p:spPr>
          <a:xfrm>
            <a:off x="9900666" y="4279392"/>
            <a:ext cx="1742389" cy="1298448"/>
          </a:xfrm>
          <a:prstGeom prst="roundRect">
            <a:avLst>
              <a:gd name="adj" fmla="val 6338"/>
            </a:avLst>
          </a:prstGeom>
          <a:solidFill>
            <a:srgbClr val="1A1F28"/>
          </a:solidFill>
          <a:ln w="12700">
            <a:solidFill>
              <a:srgbClr val="2B323F"/>
            </a:solidFill>
            <a:prstDash val="solid"/>
          </a:ln>
        </p:spPr>
      </p:sp>
      <p:sp>
        <p:nvSpPr>
          <p:cNvPr id="51" name="Text 44"/>
          <p:cNvSpPr txBox="1"/>
          <p:nvPr/>
        </p:nvSpPr>
        <p:spPr>
          <a:xfrm>
            <a:off x="10046970" y="4398264"/>
            <a:ext cx="144978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STRESS SCENARIOS</a:t>
            </a:r>
            <a:endParaRPr lang="en-US" sz="850" dirty="0"/>
          </a:p>
        </p:txBody>
      </p:sp>
      <p:sp>
        <p:nvSpPr>
          <p:cNvPr id="52" name="Text 45"/>
          <p:cNvSpPr txBox="1"/>
          <p:nvPr/>
        </p:nvSpPr>
        <p:spPr>
          <a:xfrm>
            <a:off x="10046970" y="4590288"/>
            <a:ext cx="144978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6</a:t>
            </a:r>
            <a:endParaRPr lang="en-US" sz="2500" dirty="0"/>
          </a:p>
        </p:txBody>
      </p:sp>
      <p:sp>
        <p:nvSpPr>
          <p:cNvPr id="53" name="Text 46"/>
          <p:cNvSpPr txBox="1"/>
          <p:nvPr/>
        </p:nvSpPr>
        <p:spPr>
          <a:xfrm>
            <a:off x="10046970" y="5157216"/>
            <a:ext cx="1449781"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Re-run through the same models</a:t>
            </a:r>
            <a:endParaRPr lang="en-US" sz="900" dirty="0"/>
          </a:p>
        </p:txBody>
      </p:sp>
      <p:sp>
        <p:nvSpPr>
          <p:cNvPr id="54" name="Text 47"/>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55" name="Text 48"/>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FAB219"/>
                </a:solidFill>
                <a:latin typeface="Calibri" pitchFamily="34" charset="0"/>
                <a:ea typeface="Calibri" pitchFamily="34" charset="-122"/>
                <a:cs typeface="Calibri" pitchFamily="34" charset="-120"/>
              </a:rPr>
              <a:t>SCOPE</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this demo is - and what it is not</a:t>
            </a:r>
            <a:endParaRPr lang="en-US" sz="3000" dirty="0"/>
          </a:p>
        </p:txBody>
      </p:sp>
      <p:sp>
        <p:nvSpPr>
          <p:cNvPr id="4" name="Text 2"/>
          <p:cNvSpPr txBox="1"/>
          <p:nvPr/>
        </p:nvSpPr>
        <p:spPr>
          <a:xfrm>
            <a:off x="548640" y="1280160"/>
            <a:ext cx="8778240" cy="365760"/>
          </a:xfrm>
          <a:prstGeom prst="rect">
            <a:avLst/>
          </a:prstGeom>
          <a:noFill/>
          <a:ln/>
        </p:spPr>
        <p:txBody>
          <a:bodyPr wrap="square" lIns="0" tIns="0" rIns="0" bIns="0" rtlCol="0" anchor="ctr"/>
          <a:lstStyle/>
          <a:p>
            <a:pPr indent="0" marL="0">
              <a:lnSpc>
                <a:spcPct val="125000"/>
              </a:lnSpc>
              <a:buNone/>
            </a:pPr>
            <a:r>
              <a:rPr lang="en-US" sz="1200" dirty="0">
                <a:solidFill>
                  <a:srgbClr val="C3C2B7"/>
                </a:solidFill>
                <a:latin typeface="Calibri" pitchFamily="34" charset="0"/>
                <a:ea typeface="Calibri" pitchFamily="34" charset="-122"/>
                <a:cs typeface="Calibri" pitchFamily="34" charset="-120"/>
              </a:rPr>
              <a:t>A demo that blurs this line is worth less than one that does not. Everything below is stated the same way in the repository README and on the product's own Model &amp; Data screen.</a:t>
            </a:r>
            <a:endParaRPr lang="en-US" sz="1200" dirty="0"/>
          </a:p>
        </p:txBody>
      </p:sp>
      <p:sp>
        <p:nvSpPr>
          <p:cNvPr id="5" name="Shape 3"/>
          <p:cNvSpPr/>
          <p:nvPr/>
        </p:nvSpPr>
        <p:spPr>
          <a:xfrm>
            <a:off x="548640" y="1828800"/>
            <a:ext cx="3576218" cy="3950208"/>
          </a:xfrm>
          <a:prstGeom prst="roundRect">
            <a:avLst>
              <a:gd name="adj" fmla="val 2301"/>
            </a:avLst>
          </a:prstGeom>
          <a:solidFill>
            <a:srgbClr val="1A1F28"/>
          </a:solidFill>
          <a:ln w="12700">
            <a:solidFill>
              <a:srgbClr val="2B323F"/>
            </a:solidFill>
            <a:prstDash val="solid"/>
          </a:ln>
        </p:spPr>
      </p:sp>
      <p:sp>
        <p:nvSpPr>
          <p:cNvPr id="6" name="Shape 4"/>
          <p:cNvSpPr/>
          <p:nvPr/>
        </p:nvSpPr>
        <p:spPr>
          <a:xfrm>
            <a:off x="749808" y="2029968"/>
            <a:ext cx="402336" cy="402336"/>
          </a:xfrm>
          <a:prstGeom prst="ellipse">
            <a:avLst/>
          </a:prstGeom>
          <a:solidFill>
            <a:srgbClr val="1E2937"/>
          </a:solidFill>
          <a:ln w="12700">
            <a:solidFill>
              <a:srgbClr val="0CA30C"/>
            </a:solidFill>
            <a:prstDash val="solid"/>
          </a:ln>
        </p:spPr>
      </p:sp>
      <p:pic>
        <p:nvPicPr>
          <p:cNvPr id="7" name="Image 0" descr="preencoded.png">    </p:cNvPr>
          <p:cNvPicPr>
            <a:picLocks noChangeAspect="1"/>
          </p:cNvPicPr>
          <p:nvPr/>
        </p:nvPicPr>
        <p:blipFill>
          <a:blip r:embed="rId1"/>
          <a:stretch>
            <a:fillRect/>
          </a:stretch>
        </p:blipFill>
        <p:spPr>
          <a:xfrm>
            <a:off x="862462" y="2142622"/>
            <a:ext cx="177028" cy="177028"/>
          </a:xfrm>
          <a:prstGeom prst="rect">
            <a:avLst/>
          </a:prstGeom>
        </p:spPr>
      </p:pic>
      <p:sp>
        <p:nvSpPr>
          <p:cNvPr id="8" name="Text 5"/>
          <p:cNvSpPr txBox="1"/>
          <p:nvPr/>
        </p:nvSpPr>
        <p:spPr>
          <a:xfrm>
            <a:off x="1261872" y="2103120"/>
            <a:ext cx="2661818" cy="274320"/>
          </a:xfrm>
          <a:prstGeom prst="rect">
            <a:avLst/>
          </a:prstGeom>
          <a:noFill/>
          <a:ln/>
        </p:spPr>
        <p:txBody>
          <a:bodyPr wrap="square" lIns="0" tIns="0" rIns="0" bIns="0" rtlCol="0" anchor="ctr"/>
          <a:lstStyle/>
          <a:p>
            <a:pPr indent="0" marL="0">
              <a:buNone/>
            </a:pPr>
            <a:r>
              <a:rPr lang="en-US" sz="1400" b="1" dirty="0">
                <a:solidFill>
                  <a:srgbClr val="0CA30C"/>
                </a:solidFill>
                <a:latin typeface="Arial" pitchFamily="34" charset="0"/>
                <a:ea typeface="Arial" pitchFamily="34" charset="-122"/>
                <a:cs typeface="Arial" pitchFamily="34" charset="-120"/>
              </a:rPr>
              <a:t>Real and running</a:t>
            </a:r>
            <a:endParaRPr lang="en-US" sz="1400" dirty="0"/>
          </a:p>
        </p:txBody>
      </p:sp>
      <p:sp>
        <p:nvSpPr>
          <p:cNvPr id="9" name="Text 6"/>
          <p:cNvSpPr txBox="1"/>
          <p:nvPr/>
        </p:nvSpPr>
        <p:spPr>
          <a:xfrm>
            <a:off x="768096" y="2615184"/>
            <a:ext cx="3137306" cy="3017520"/>
          </a:xfrm>
          <a:prstGeom prst="rect">
            <a:avLst/>
          </a:prstGeom>
          <a:noFill/>
          <a:ln/>
        </p:spPr>
        <p:txBody>
          <a:bodyPr wrap="square" lIns="0" tIns="0" rIns="0" bIns="0" rtlCol="0" anchor="t"/>
          <a:lstStyle/>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Settlement coordinates, elevations and states for 59 places</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Corridor topology: actual NH numbers, the NF Railway network, NW-2 Brahmaputra, NW-16 Barak, scheduled and UDAN-RCS air sectors</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Live rainfall for all 59 nodes from Open-Meteo, every 15 minutes</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Routing, risk, accessibility and explanation engines - all computed, none scripted</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A classifier genuinely trained at every server start</a:t>
            </a:r>
            <a:endParaRPr lang="en-US" sz="1050" dirty="0"/>
          </a:p>
        </p:txBody>
      </p:sp>
      <p:sp>
        <p:nvSpPr>
          <p:cNvPr id="10" name="Shape 7"/>
          <p:cNvSpPr/>
          <p:nvPr/>
        </p:nvSpPr>
        <p:spPr>
          <a:xfrm>
            <a:off x="4307738" y="1828800"/>
            <a:ext cx="3576218" cy="3950208"/>
          </a:xfrm>
          <a:prstGeom prst="roundRect">
            <a:avLst>
              <a:gd name="adj" fmla="val 2301"/>
            </a:avLst>
          </a:prstGeom>
          <a:solidFill>
            <a:srgbClr val="1A1F28"/>
          </a:solidFill>
          <a:ln w="12700">
            <a:solidFill>
              <a:srgbClr val="2B323F"/>
            </a:solidFill>
            <a:prstDash val="solid"/>
          </a:ln>
        </p:spPr>
      </p:sp>
      <p:sp>
        <p:nvSpPr>
          <p:cNvPr id="11" name="Shape 8"/>
          <p:cNvSpPr/>
          <p:nvPr/>
        </p:nvSpPr>
        <p:spPr>
          <a:xfrm>
            <a:off x="4508906" y="2029968"/>
            <a:ext cx="402336" cy="402336"/>
          </a:xfrm>
          <a:prstGeom prst="ellipse">
            <a:avLst/>
          </a:prstGeom>
          <a:solidFill>
            <a:srgbClr val="1E2937"/>
          </a:solidFill>
          <a:ln w="12700">
            <a:solidFill>
              <a:srgbClr val="FAB219"/>
            </a:solidFill>
            <a:prstDash val="solid"/>
          </a:ln>
        </p:spPr>
      </p:sp>
      <p:pic>
        <p:nvPicPr>
          <p:cNvPr id="12" name="Image 1" descr="preencoded.png">    </p:cNvPr>
          <p:cNvPicPr>
            <a:picLocks noChangeAspect="1"/>
          </p:cNvPicPr>
          <p:nvPr/>
        </p:nvPicPr>
        <p:blipFill>
          <a:blip r:embed="rId2"/>
          <a:stretch>
            <a:fillRect/>
          </a:stretch>
        </p:blipFill>
        <p:spPr>
          <a:xfrm>
            <a:off x="4621560" y="2142622"/>
            <a:ext cx="177028" cy="177028"/>
          </a:xfrm>
          <a:prstGeom prst="rect">
            <a:avLst/>
          </a:prstGeom>
        </p:spPr>
      </p:pic>
      <p:sp>
        <p:nvSpPr>
          <p:cNvPr id="13" name="Text 9"/>
          <p:cNvSpPr txBox="1"/>
          <p:nvPr/>
        </p:nvSpPr>
        <p:spPr>
          <a:xfrm>
            <a:off x="5020970" y="2103120"/>
            <a:ext cx="2661818" cy="274320"/>
          </a:xfrm>
          <a:prstGeom prst="rect">
            <a:avLst/>
          </a:prstGeom>
          <a:noFill/>
          <a:ln/>
        </p:spPr>
        <p:txBody>
          <a:bodyPr wrap="square" lIns="0" tIns="0" rIns="0" bIns="0" rtlCol="0" anchor="ctr"/>
          <a:lstStyle/>
          <a:p>
            <a:pPr indent="0" marL="0">
              <a:buNone/>
            </a:pPr>
            <a:r>
              <a:rPr lang="en-US" sz="1400" b="1" dirty="0">
                <a:solidFill>
                  <a:srgbClr val="FAB219"/>
                </a:solidFill>
                <a:latin typeface="Arial" pitchFamily="34" charset="0"/>
                <a:ea typeface="Arial" pitchFamily="34" charset="-122"/>
                <a:cs typeface="Arial" pitchFamily="34" charset="-120"/>
              </a:rPr>
              <a:t>Demo data layer</a:t>
            </a:r>
            <a:endParaRPr lang="en-US" sz="1400" dirty="0"/>
          </a:p>
        </p:txBody>
      </p:sp>
      <p:sp>
        <p:nvSpPr>
          <p:cNvPr id="14" name="Text 10"/>
          <p:cNvSpPr txBox="1"/>
          <p:nvPr/>
        </p:nvSpPr>
        <p:spPr>
          <a:xfrm>
            <a:off x="4527194" y="2615184"/>
            <a:ext cx="3137306" cy="3017520"/>
          </a:xfrm>
          <a:prstGeom prst="rect">
            <a:avLst/>
          </a:prstGeom>
          <a:noFill/>
          <a:ln/>
        </p:spPr>
        <p:txBody>
          <a:bodyPr wrap="square" lIns="0" tIns="0" rIns="0" bIns="0" rtlCol="0" anchor="t"/>
          <a:lstStyle/>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Per-corridor landslide and flood susceptibility priors</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Pavement condition, bridge load class, gradient, night-travel safety</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Settlement accessibility attributes: ramp, step-free, assisted boarding, last-mile gap, nearest health facility, coverage</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The historical disruption record the classifier learns from - synthesised from monsoon climatology, because open per-corridor incident data is not downloadable</a:t>
            </a:r>
            <a:endParaRPr lang="en-US" sz="1050" dirty="0"/>
          </a:p>
        </p:txBody>
      </p:sp>
      <p:sp>
        <p:nvSpPr>
          <p:cNvPr id="15" name="Shape 11"/>
          <p:cNvSpPr/>
          <p:nvPr/>
        </p:nvSpPr>
        <p:spPr>
          <a:xfrm>
            <a:off x="8066837" y="1828800"/>
            <a:ext cx="3576218" cy="3950208"/>
          </a:xfrm>
          <a:prstGeom prst="roundRect">
            <a:avLst>
              <a:gd name="adj" fmla="val 2301"/>
            </a:avLst>
          </a:prstGeom>
          <a:solidFill>
            <a:srgbClr val="1A1F28"/>
          </a:solidFill>
          <a:ln w="12700">
            <a:solidFill>
              <a:srgbClr val="2B323F"/>
            </a:solidFill>
            <a:prstDash val="solid"/>
          </a:ln>
        </p:spPr>
      </p:sp>
      <p:sp>
        <p:nvSpPr>
          <p:cNvPr id="16" name="Shape 12"/>
          <p:cNvSpPr/>
          <p:nvPr/>
        </p:nvSpPr>
        <p:spPr>
          <a:xfrm>
            <a:off x="8268005" y="2029968"/>
            <a:ext cx="402336" cy="402336"/>
          </a:xfrm>
          <a:prstGeom prst="ellipse">
            <a:avLst/>
          </a:prstGeom>
          <a:solidFill>
            <a:srgbClr val="1E2937"/>
          </a:solidFill>
          <a:ln w="12700">
            <a:solidFill>
              <a:srgbClr val="D03B3B"/>
            </a:solidFill>
            <a:prstDash val="solid"/>
          </a:ln>
        </p:spPr>
      </p:sp>
      <p:pic>
        <p:nvPicPr>
          <p:cNvPr id="17" name="Image 2" descr="preencoded.png">    </p:cNvPr>
          <p:cNvPicPr>
            <a:picLocks noChangeAspect="1"/>
          </p:cNvPicPr>
          <p:nvPr/>
        </p:nvPicPr>
        <p:blipFill>
          <a:blip r:embed="rId3"/>
          <a:stretch>
            <a:fillRect/>
          </a:stretch>
        </p:blipFill>
        <p:spPr>
          <a:xfrm>
            <a:off x="8380659" y="2142622"/>
            <a:ext cx="177028" cy="177028"/>
          </a:xfrm>
          <a:prstGeom prst="rect">
            <a:avLst/>
          </a:prstGeom>
        </p:spPr>
      </p:pic>
      <p:sp>
        <p:nvSpPr>
          <p:cNvPr id="18" name="Text 13"/>
          <p:cNvSpPr txBox="1"/>
          <p:nvPr/>
        </p:nvSpPr>
        <p:spPr>
          <a:xfrm>
            <a:off x="8780069" y="2103120"/>
            <a:ext cx="2661818" cy="274320"/>
          </a:xfrm>
          <a:prstGeom prst="rect">
            <a:avLst/>
          </a:prstGeom>
          <a:noFill/>
          <a:ln/>
        </p:spPr>
        <p:txBody>
          <a:bodyPr wrap="square" lIns="0" tIns="0" rIns="0" bIns="0" rtlCol="0" anchor="ctr"/>
          <a:lstStyle/>
          <a:p>
            <a:pPr indent="0" marL="0">
              <a:buNone/>
            </a:pPr>
            <a:r>
              <a:rPr lang="en-US" sz="1400" b="1" dirty="0">
                <a:solidFill>
                  <a:srgbClr val="D03B3B"/>
                </a:solidFill>
                <a:latin typeface="Arial" pitchFamily="34" charset="0"/>
                <a:ea typeface="Arial" pitchFamily="34" charset="-122"/>
                <a:cs typeface="Arial" pitchFamily="34" charset="-120"/>
              </a:rPr>
              <a:t>Not built</a:t>
            </a:r>
            <a:endParaRPr lang="en-US" sz="1400" dirty="0"/>
          </a:p>
        </p:txBody>
      </p:sp>
      <p:sp>
        <p:nvSpPr>
          <p:cNvPr id="19" name="Text 14"/>
          <p:cNvSpPr txBox="1"/>
          <p:nvPr/>
        </p:nvSpPr>
        <p:spPr>
          <a:xfrm>
            <a:off x="8286293" y="2615184"/>
            <a:ext cx="3137306" cy="3017520"/>
          </a:xfrm>
          <a:prstGeom prst="rect">
            <a:avLst/>
          </a:prstGeom>
          <a:noFill/>
          <a:ln/>
        </p:spPr>
        <p:txBody>
          <a:bodyPr wrap="square" lIns="0" tIns="0" rIns="0" bIns="0" rtlCol="0" anchor="t"/>
          <a:lstStyle/>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Reinforcement learning. The planner is a deterministic multi-objective shortest path - calling that RL would be a lie</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Live sensor, satellite or vehicle-telematics ingestion</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A language model. Explanations come from a grounded template engine, so the system cannot state what the data does not support</a:t>
            </a:r>
            <a:endParaRPr lang="en-US" sz="1050" dirty="0"/>
          </a:p>
          <a:p>
            <a:pPr marL="342900" indent="-342900">
              <a:lnSpc>
                <a:spcPct val="112000"/>
              </a:lnSpc>
              <a:spcAft>
                <a:spcPts val="800"/>
              </a:spcAft>
              <a:buSzPct val="100000"/>
              <a:buChar char="•"/>
            </a:pPr>
            <a:r>
              <a:rPr lang="en-US" sz="1050" dirty="0">
                <a:solidFill>
                  <a:srgbClr val="C3C2B7"/>
                </a:solidFill>
                <a:latin typeface="Calibri" pitchFamily="34" charset="0"/>
                <a:ea typeface="Calibri" pitchFamily="34" charset="-122"/>
                <a:cs typeface="Calibri" pitchFamily="34" charset="-120"/>
              </a:rPr>
              <a:t>Authentication, multi-tenancy, and any production hardening</a:t>
            </a:r>
            <a:endParaRPr lang="en-US" sz="1050" dirty="0"/>
          </a:p>
        </p:txBody>
      </p:sp>
      <p:sp>
        <p:nvSpPr>
          <p:cNvPr id="20" name="Text 15"/>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1" name="Text 16"/>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PRODUCT TOUR  ·  01</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Route Planner</a:t>
            </a:r>
            <a:endParaRPr lang="en-US" sz="3000" dirty="0"/>
          </a:p>
        </p:txBody>
      </p:sp>
      <p:sp>
        <p:nvSpPr>
          <p:cNvPr id="4" name="Text 2"/>
          <p:cNvSpPr txBox="1"/>
          <p:nvPr/>
        </p:nvSpPr>
        <p:spPr>
          <a:xfrm>
            <a:off x="548640" y="1133856"/>
            <a:ext cx="11094415" cy="292608"/>
          </a:xfrm>
          <a:prstGeom prst="rect">
            <a:avLst/>
          </a:prstGeom>
          <a:noFill/>
          <a:ln/>
        </p:spPr>
        <p:txBody>
          <a:bodyPr wrap="square" lIns="0" tIns="0" rIns="0" bIns="0" rtlCol="0" anchor="ctr"/>
          <a:lstStyle/>
          <a:p>
            <a:pPr indent="0" marL="0">
              <a:buNone/>
            </a:pPr>
            <a:r>
              <a:rPr lang="en-US" sz="1200" i="1" dirty="0">
                <a:solidFill>
                  <a:srgbClr val="C3C2B7"/>
                </a:solidFill>
                <a:latin typeface="Calibri" pitchFamily="34" charset="0"/>
                <a:ea typeface="Calibri" pitchFamily="34" charset="-122"/>
                <a:cs typeface="Calibri" pitchFamily="34" charset="-120"/>
              </a:rPr>
              <a:t>Plans a consignment across the multimodal network and shows the reasoning, not just the answer.</a:t>
            </a:r>
            <a:endParaRPr lang="en-US" sz="1200" dirty="0"/>
          </a:p>
        </p:txBody>
      </p:sp>
      <p:pic>
        <p:nvPicPr>
          <p:cNvPr id="5" name="Image 0" descr="/home/user/CodeCrew/docs/assets/ui-planner.png">    </p:cNvPr>
          <p:cNvPicPr>
            <a:picLocks noChangeAspect="1"/>
          </p:cNvPicPr>
          <p:nvPr/>
        </p:nvPicPr>
        <p:blipFill>
          <a:blip r:embed="rId1"/>
          <a:stretch>
            <a:fillRect/>
          </a:stretch>
        </p:blipFill>
        <p:spPr>
          <a:xfrm>
            <a:off x="548640" y="1572768"/>
            <a:ext cx="7360920" cy="4381500"/>
          </a:xfrm>
          <a:prstGeom prst="rect">
            <a:avLst/>
          </a:prstGeom>
        </p:spPr>
      </p:pic>
      <p:sp>
        <p:nvSpPr>
          <p:cNvPr id="6" name="Shape 3"/>
          <p:cNvSpPr/>
          <p:nvPr/>
        </p:nvSpPr>
        <p:spPr>
          <a:xfrm>
            <a:off x="530352" y="1554480"/>
            <a:ext cx="7397496" cy="4418076"/>
          </a:xfrm>
          <a:prstGeom prst="roundRect">
            <a:avLst>
              <a:gd name="adj" fmla="val 1035"/>
            </a:avLst>
          </a:prstGeom>
          <a:ln w="15875">
            <a:solidFill>
              <a:srgbClr val="2B323F"/>
            </a:solidFill>
            <a:prstDash val="solid"/>
          </a:ln>
        </p:spPr>
      </p:sp>
      <p:sp>
        <p:nvSpPr>
          <p:cNvPr id="7" name="Shape 4"/>
          <p:cNvSpPr/>
          <p:nvPr/>
        </p:nvSpPr>
        <p:spPr>
          <a:xfrm>
            <a:off x="8202168" y="1682496"/>
            <a:ext cx="173736" cy="173736"/>
          </a:xfrm>
          <a:prstGeom prst="ellipse">
            <a:avLst/>
          </a:prstGeom>
          <a:solidFill>
            <a:srgbClr val="1C4C86"/>
          </a:solidFill>
          <a:ln/>
        </p:spPr>
      </p:sp>
      <p:sp>
        <p:nvSpPr>
          <p:cNvPr id="8" name="Text 5"/>
          <p:cNvSpPr txBox="1"/>
          <p:nvPr/>
        </p:nvSpPr>
        <p:spPr>
          <a:xfrm>
            <a:off x="8202168" y="1682496"/>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9" name="Text 6"/>
          <p:cNvSpPr txBox="1"/>
          <p:nvPr/>
        </p:nvSpPr>
        <p:spPr>
          <a:xfrm>
            <a:off x="8476488" y="1645920"/>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Ranked routings</a:t>
            </a:r>
            <a:endParaRPr lang="en-US" sz="1200" dirty="0"/>
          </a:p>
        </p:txBody>
      </p:sp>
      <p:sp>
        <p:nvSpPr>
          <p:cNvPr id="10" name="Text 7"/>
          <p:cNvSpPr txBox="1"/>
          <p:nvPr/>
        </p:nvSpPr>
        <p:spPr>
          <a:xfrm>
            <a:off x="8476488" y="1920240"/>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Three genuinely distinct options from Yen's k-shortest-paths, not one route relabelled.</a:t>
            </a:r>
            <a:endParaRPr lang="en-US" sz="1050" dirty="0"/>
          </a:p>
        </p:txBody>
      </p:sp>
      <p:sp>
        <p:nvSpPr>
          <p:cNvPr id="11" name="Shape 8"/>
          <p:cNvSpPr/>
          <p:nvPr/>
        </p:nvSpPr>
        <p:spPr>
          <a:xfrm>
            <a:off x="8202168" y="2743200"/>
            <a:ext cx="173736" cy="173736"/>
          </a:xfrm>
          <a:prstGeom prst="ellipse">
            <a:avLst/>
          </a:prstGeom>
          <a:solidFill>
            <a:srgbClr val="1C4C86"/>
          </a:solidFill>
          <a:ln/>
        </p:spPr>
      </p:sp>
      <p:sp>
        <p:nvSpPr>
          <p:cNvPr id="12" name="Text 9"/>
          <p:cNvSpPr txBox="1"/>
          <p:nvPr/>
        </p:nvSpPr>
        <p:spPr>
          <a:xfrm>
            <a:off x="8202168" y="2743200"/>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3" name="Text 10"/>
          <p:cNvSpPr txBox="1"/>
          <p:nvPr/>
        </p:nvSpPr>
        <p:spPr>
          <a:xfrm>
            <a:off x="8476488" y="2706624"/>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Grounded explanation</a:t>
            </a:r>
            <a:endParaRPr lang="en-US" sz="1200" dirty="0"/>
          </a:p>
        </p:txBody>
      </p:sp>
      <p:sp>
        <p:nvSpPr>
          <p:cNvPr id="14" name="Text 11"/>
          <p:cNvSpPr txBox="1"/>
          <p:nvPr/>
        </p:nvSpPr>
        <p:spPr>
          <a:xfrm>
            <a:off x="8476488" y="2980944"/>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Every clause cites a value the planner computed - distance, weakest link, rainfall, both risk models.</a:t>
            </a:r>
            <a:endParaRPr lang="en-US" sz="1050" dirty="0"/>
          </a:p>
        </p:txBody>
      </p:sp>
      <p:sp>
        <p:nvSpPr>
          <p:cNvPr id="15" name="Shape 12"/>
          <p:cNvSpPr/>
          <p:nvPr/>
        </p:nvSpPr>
        <p:spPr>
          <a:xfrm>
            <a:off x="8202168" y="3803904"/>
            <a:ext cx="173736" cy="173736"/>
          </a:xfrm>
          <a:prstGeom prst="ellipse">
            <a:avLst/>
          </a:prstGeom>
          <a:solidFill>
            <a:srgbClr val="1C4C86"/>
          </a:solidFill>
          <a:ln/>
        </p:spPr>
      </p:sp>
      <p:sp>
        <p:nvSpPr>
          <p:cNvPr id="16" name="Text 13"/>
          <p:cNvSpPr txBox="1"/>
          <p:nvPr/>
        </p:nvSpPr>
        <p:spPr>
          <a:xfrm>
            <a:off x="8202168" y="3803904"/>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17" name="Text 14"/>
          <p:cNvSpPr txBox="1"/>
          <p:nvPr/>
        </p:nvSpPr>
        <p:spPr>
          <a:xfrm>
            <a:off x="8476488" y="3767328"/>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 constraints</a:t>
            </a:r>
            <a:endParaRPr lang="en-US" sz="1200" dirty="0"/>
          </a:p>
        </p:txBody>
      </p:sp>
      <p:sp>
        <p:nvSpPr>
          <p:cNvPr id="18" name="Text 15"/>
          <p:cNvSpPr txBox="1"/>
          <p:nvPr/>
        </p:nvSpPr>
        <p:spPr>
          <a:xfrm>
            <a:off x="8476488" y="4041648"/>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Bridge load class is checked against vehicle gross weight; step-free handling and night travel are consignment inputs.</a:t>
            </a:r>
            <a:endParaRPr lang="en-US" sz="1050" dirty="0"/>
          </a:p>
        </p:txBody>
      </p:sp>
      <p:sp>
        <p:nvSpPr>
          <p:cNvPr id="19" name="Shape 16"/>
          <p:cNvSpPr/>
          <p:nvPr/>
        </p:nvSpPr>
        <p:spPr>
          <a:xfrm>
            <a:off x="8202168" y="4864608"/>
            <a:ext cx="173736" cy="173736"/>
          </a:xfrm>
          <a:prstGeom prst="ellipse">
            <a:avLst/>
          </a:prstGeom>
          <a:solidFill>
            <a:srgbClr val="1C4C86"/>
          </a:solidFill>
          <a:ln/>
        </p:spPr>
      </p:sp>
      <p:sp>
        <p:nvSpPr>
          <p:cNvPr id="20" name="Text 17"/>
          <p:cNvSpPr txBox="1"/>
          <p:nvPr/>
        </p:nvSpPr>
        <p:spPr>
          <a:xfrm>
            <a:off x="8202168" y="4864608"/>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21" name="Text 18"/>
          <p:cNvSpPr txBox="1"/>
          <p:nvPr/>
        </p:nvSpPr>
        <p:spPr>
          <a:xfrm>
            <a:off x="8476488" y="4828032"/>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Arrival probability</a:t>
            </a:r>
            <a:endParaRPr lang="en-US" sz="1200" dirty="0"/>
          </a:p>
        </p:txBody>
      </p:sp>
      <p:sp>
        <p:nvSpPr>
          <p:cNvPr id="22" name="Text 19"/>
          <p:cNvSpPr txBox="1"/>
          <p:nvPr/>
        </p:nvSpPr>
        <p:spPr>
          <a:xfrm>
            <a:off x="8476488" y="5102352"/>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The product of every link's survival probability, shown per route.</a:t>
            </a:r>
            <a:endParaRPr lang="en-US" sz="1050" dirty="0"/>
          </a:p>
        </p:txBody>
      </p:sp>
      <p:sp>
        <p:nvSpPr>
          <p:cNvPr id="23" name="Text 20"/>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4" name="Text 21"/>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PRODUCT TOUR  ·  02</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Network Risk</a:t>
            </a:r>
            <a:endParaRPr lang="en-US" sz="3000" dirty="0"/>
          </a:p>
        </p:txBody>
      </p:sp>
      <p:sp>
        <p:nvSpPr>
          <p:cNvPr id="4" name="Text 2"/>
          <p:cNvSpPr txBox="1"/>
          <p:nvPr/>
        </p:nvSpPr>
        <p:spPr>
          <a:xfrm>
            <a:off x="548640" y="1133856"/>
            <a:ext cx="11094415" cy="292608"/>
          </a:xfrm>
          <a:prstGeom prst="rect">
            <a:avLst/>
          </a:prstGeom>
          <a:noFill/>
          <a:ln/>
        </p:spPr>
        <p:txBody>
          <a:bodyPr wrap="square" lIns="0" tIns="0" rIns="0" bIns="0" rtlCol="0" anchor="ctr"/>
          <a:lstStyle/>
          <a:p>
            <a:pPr indent="0" marL="0">
              <a:buNone/>
            </a:pPr>
            <a:r>
              <a:rPr lang="en-US" sz="1200" i="1" dirty="0">
                <a:solidFill>
                  <a:srgbClr val="C3C2B7"/>
                </a:solidFill>
                <a:latin typeface="Calibri" pitchFamily="34" charset="0"/>
                <a:ea typeface="Calibri" pitchFamily="34" charset="-122"/>
                <a:cs typeface="Calibri" pitchFamily="34" charset="-120"/>
              </a:rPr>
              <a:t>The operating picture: what is at risk right now, and who loses their connection if it closes.</a:t>
            </a:r>
            <a:endParaRPr lang="en-US" sz="1200" dirty="0"/>
          </a:p>
        </p:txBody>
      </p:sp>
      <p:pic>
        <p:nvPicPr>
          <p:cNvPr id="5" name="Image 0" descr="/home/user/CodeCrew/docs/assets/ui-risk.png">    </p:cNvPr>
          <p:cNvPicPr>
            <a:picLocks noChangeAspect="1"/>
          </p:cNvPicPr>
          <p:nvPr/>
        </p:nvPicPr>
        <p:blipFill>
          <a:blip r:embed="rId1"/>
          <a:stretch>
            <a:fillRect/>
          </a:stretch>
        </p:blipFill>
        <p:spPr>
          <a:xfrm>
            <a:off x="548640" y="1572768"/>
            <a:ext cx="7360920" cy="4381500"/>
          </a:xfrm>
          <a:prstGeom prst="rect">
            <a:avLst/>
          </a:prstGeom>
        </p:spPr>
      </p:pic>
      <p:sp>
        <p:nvSpPr>
          <p:cNvPr id="6" name="Shape 3"/>
          <p:cNvSpPr/>
          <p:nvPr/>
        </p:nvSpPr>
        <p:spPr>
          <a:xfrm>
            <a:off x="530352" y="1554480"/>
            <a:ext cx="7397496" cy="4418076"/>
          </a:xfrm>
          <a:prstGeom prst="roundRect">
            <a:avLst>
              <a:gd name="adj" fmla="val 1035"/>
            </a:avLst>
          </a:prstGeom>
          <a:ln w="15875">
            <a:solidFill>
              <a:srgbClr val="2B323F"/>
            </a:solidFill>
            <a:prstDash val="solid"/>
          </a:ln>
        </p:spPr>
      </p:sp>
      <p:sp>
        <p:nvSpPr>
          <p:cNvPr id="7" name="Shape 4"/>
          <p:cNvSpPr/>
          <p:nvPr/>
        </p:nvSpPr>
        <p:spPr>
          <a:xfrm>
            <a:off x="8202168" y="1682496"/>
            <a:ext cx="173736" cy="173736"/>
          </a:xfrm>
          <a:prstGeom prst="ellipse">
            <a:avLst/>
          </a:prstGeom>
          <a:solidFill>
            <a:srgbClr val="1C4C86"/>
          </a:solidFill>
          <a:ln/>
        </p:spPr>
      </p:sp>
      <p:sp>
        <p:nvSpPr>
          <p:cNvPr id="8" name="Text 5"/>
          <p:cNvSpPr txBox="1"/>
          <p:nvPr/>
        </p:nvSpPr>
        <p:spPr>
          <a:xfrm>
            <a:off x="8202168" y="1682496"/>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9" name="Text 6"/>
          <p:cNvSpPr txBox="1"/>
          <p:nvPr/>
        </p:nvSpPr>
        <p:spPr>
          <a:xfrm>
            <a:off x="8476488" y="1645920"/>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Colour is risk, dash is mode</a:t>
            </a:r>
            <a:endParaRPr lang="en-US" sz="1200" dirty="0"/>
          </a:p>
        </p:txBody>
      </p:sp>
      <p:sp>
        <p:nvSpPr>
          <p:cNvPr id="10" name="Text 7"/>
          <p:cNvSpPr txBox="1"/>
          <p:nvPr/>
        </p:nvSpPr>
        <p:spPr>
          <a:xfrm>
            <a:off x="8476488" y="1920240"/>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Corridor colour carries current disruption risk; transport mode is carried by line pattern.</a:t>
            </a:r>
            <a:endParaRPr lang="en-US" sz="1050" dirty="0"/>
          </a:p>
        </p:txBody>
      </p:sp>
      <p:sp>
        <p:nvSpPr>
          <p:cNvPr id="11" name="Shape 8"/>
          <p:cNvSpPr/>
          <p:nvPr/>
        </p:nvSpPr>
        <p:spPr>
          <a:xfrm>
            <a:off x="8202168" y="2743200"/>
            <a:ext cx="173736" cy="173736"/>
          </a:xfrm>
          <a:prstGeom prst="ellipse">
            <a:avLst/>
          </a:prstGeom>
          <a:solidFill>
            <a:srgbClr val="1C4C86"/>
          </a:solidFill>
          <a:ln/>
        </p:spPr>
      </p:sp>
      <p:sp>
        <p:nvSpPr>
          <p:cNvPr id="12" name="Text 9"/>
          <p:cNvSpPr txBox="1"/>
          <p:nvPr/>
        </p:nvSpPr>
        <p:spPr>
          <a:xfrm>
            <a:off x="8202168" y="2743200"/>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3" name="Text 10"/>
          <p:cNvSpPr txBox="1"/>
          <p:nvPr/>
        </p:nvSpPr>
        <p:spPr>
          <a:xfrm>
            <a:off x="8476488" y="2706624"/>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Alerts are derived</a:t>
            </a:r>
            <a:endParaRPr lang="en-US" sz="1200" dirty="0"/>
          </a:p>
        </p:txBody>
      </p:sp>
      <p:sp>
        <p:nvSpPr>
          <p:cNvPr id="14" name="Text 11"/>
          <p:cNvSpPr txBox="1"/>
          <p:nvPr/>
        </p:nvSpPr>
        <p:spPr>
          <a:xfrm>
            <a:off x="8476488" y="2980944"/>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Nothing is hand-written. If the rain stops, the alerts clear themselves.</a:t>
            </a:r>
            <a:endParaRPr lang="en-US" sz="1050" dirty="0"/>
          </a:p>
        </p:txBody>
      </p:sp>
      <p:sp>
        <p:nvSpPr>
          <p:cNvPr id="15" name="Shape 12"/>
          <p:cNvSpPr/>
          <p:nvPr/>
        </p:nvSpPr>
        <p:spPr>
          <a:xfrm>
            <a:off x="8202168" y="3803904"/>
            <a:ext cx="173736" cy="173736"/>
          </a:xfrm>
          <a:prstGeom prst="ellipse">
            <a:avLst/>
          </a:prstGeom>
          <a:solidFill>
            <a:srgbClr val="1C4C86"/>
          </a:solidFill>
          <a:ln/>
        </p:spPr>
      </p:sp>
      <p:sp>
        <p:nvSpPr>
          <p:cNvPr id="16" name="Text 13"/>
          <p:cNvSpPr txBox="1"/>
          <p:nvPr/>
        </p:nvSpPr>
        <p:spPr>
          <a:xfrm>
            <a:off x="8202168" y="3803904"/>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17" name="Text 14"/>
          <p:cNvSpPr txBox="1"/>
          <p:nvPr/>
        </p:nvSpPr>
        <p:spPr>
          <a:xfrm>
            <a:off x="8476488" y="3767328"/>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Who gets stranded</a:t>
            </a:r>
            <a:endParaRPr lang="en-US" sz="1200" dirty="0"/>
          </a:p>
        </p:txBody>
      </p:sp>
      <p:sp>
        <p:nvSpPr>
          <p:cNvPr id="18" name="Text 15"/>
          <p:cNvSpPr txBox="1"/>
          <p:nvPr/>
        </p:nvSpPr>
        <p:spPr>
          <a:xfrm>
            <a:off x="8476488" y="4041648"/>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Treat corridors above a threshold as cut, then ask which settlements are unreachable over surface modes.</a:t>
            </a:r>
            <a:endParaRPr lang="en-US" sz="1050" dirty="0"/>
          </a:p>
        </p:txBody>
      </p:sp>
      <p:sp>
        <p:nvSpPr>
          <p:cNvPr id="19" name="Shape 16"/>
          <p:cNvSpPr/>
          <p:nvPr/>
        </p:nvSpPr>
        <p:spPr>
          <a:xfrm>
            <a:off x="8202168" y="4864608"/>
            <a:ext cx="173736" cy="173736"/>
          </a:xfrm>
          <a:prstGeom prst="ellipse">
            <a:avLst/>
          </a:prstGeom>
          <a:solidFill>
            <a:srgbClr val="1C4C86"/>
          </a:solidFill>
          <a:ln/>
        </p:spPr>
      </p:sp>
      <p:sp>
        <p:nvSpPr>
          <p:cNvPr id="20" name="Text 17"/>
          <p:cNvSpPr txBox="1"/>
          <p:nvPr/>
        </p:nvSpPr>
        <p:spPr>
          <a:xfrm>
            <a:off x="8202168" y="4864608"/>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21" name="Text 18"/>
          <p:cNvSpPr txBox="1"/>
          <p:nvPr/>
        </p:nvSpPr>
        <p:spPr>
          <a:xfrm>
            <a:off x="8476488" y="4828032"/>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Air excluded on purpose</a:t>
            </a:r>
            <a:endParaRPr lang="en-US" sz="1200" dirty="0"/>
          </a:p>
        </p:txBody>
      </p:sp>
      <p:sp>
        <p:nvSpPr>
          <p:cNvPr id="22" name="Text 19"/>
          <p:cNvSpPr txBox="1"/>
          <p:nvPr/>
        </p:nvSpPr>
        <p:spPr>
          <a:xfrm>
            <a:off x="8476488" y="5102352"/>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Relief and resupply move on the ground; an air bridge on paper hides the isolation this view exists to show.</a:t>
            </a:r>
            <a:endParaRPr lang="en-US" sz="1050" dirty="0"/>
          </a:p>
        </p:txBody>
      </p:sp>
      <p:sp>
        <p:nvSpPr>
          <p:cNvPr id="23" name="Text 20"/>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4" name="Text 21"/>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PRODUCT TOUR  ·  03</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Accessibility Atlas</a:t>
            </a:r>
            <a:endParaRPr lang="en-US" sz="3000" dirty="0"/>
          </a:p>
        </p:txBody>
      </p:sp>
      <p:sp>
        <p:nvSpPr>
          <p:cNvPr id="4" name="Text 2"/>
          <p:cNvSpPr txBox="1"/>
          <p:nvPr/>
        </p:nvSpPr>
        <p:spPr>
          <a:xfrm>
            <a:off x="548640" y="1133856"/>
            <a:ext cx="11094415" cy="292608"/>
          </a:xfrm>
          <a:prstGeom prst="rect">
            <a:avLst/>
          </a:prstGeom>
          <a:noFill/>
          <a:ln/>
        </p:spPr>
        <p:txBody>
          <a:bodyPr wrap="square" lIns="0" tIns="0" rIns="0" bIns="0" rtlCol="0" anchor="ctr"/>
          <a:lstStyle/>
          <a:p>
            <a:pPr indent="0" marL="0">
              <a:buNone/>
            </a:pPr>
            <a:r>
              <a:rPr lang="en-US" sz="1200" i="1" dirty="0">
                <a:solidFill>
                  <a:srgbClr val="C3C2B7"/>
                </a:solidFill>
                <a:latin typeface="Calibri" pitchFamily="34" charset="0"/>
                <a:ea typeface="Calibri" pitchFamily="34" charset="-122"/>
                <a:cs typeface="Calibri" pitchFamily="34" charset="-120"/>
              </a:rPr>
              <a:t>The differentiator: scoring places, not just routes - because a route that arrives at an unusable road head has not arrived.</a:t>
            </a:r>
            <a:endParaRPr lang="en-US" sz="1200" dirty="0"/>
          </a:p>
        </p:txBody>
      </p:sp>
      <p:pic>
        <p:nvPicPr>
          <p:cNvPr id="5" name="Image 0" descr="/home/user/CodeCrew/docs/assets/ui-atlas.png">    </p:cNvPr>
          <p:cNvPicPr>
            <a:picLocks noChangeAspect="1"/>
          </p:cNvPicPr>
          <p:nvPr/>
        </p:nvPicPr>
        <p:blipFill>
          <a:blip r:embed="rId1"/>
          <a:stretch>
            <a:fillRect/>
          </a:stretch>
        </p:blipFill>
        <p:spPr>
          <a:xfrm>
            <a:off x="548640" y="1572768"/>
            <a:ext cx="7360920" cy="4381500"/>
          </a:xfrm>
          <a:prstGeom prst="rect">
            <a:avLst/>
          </a:prstGeom>
        </p:spPr>
      </p:pic>
      <p:sp>
        <p:nvSpPr>
          <p:cNvPr id="6" name="Shape 3"/>
          <p:cNvSpPr/>
          <p:nvPr/>
        </p:nvSpPr>
        <p:spPr>
          <a:xfrm>
            <a:off x="530352" y="1554480"/>
            <a:ext cx="7397496" cy="4418076"/>
          </a:xfrm>
          <a:prstGeom prst="roundRect">
            <a:avLst>
              <a:gd name="adj" fmla="val 1035"/>
            </a:avLst>
          </a:prstGeom>
          <a:ln w="15875">
            <a:solidFill>
              <a:srgbClr val="2B323F"/>
            </a:solidFill>
            <a:prstDash val="solid"/>
          </a:ln>
        </p:spPr>
      </p:sp>
      <p:sp>
        <p:nvSpPr>
          <p:cNvPr id="7" name="Shape 4"/>
          <p:cNvSpPr/>
          <p:nvPr/>
        </p:nvSpPr>
        <p:spPr>
          <a:xfrm>
            <a:off x="8202168" y="1682496"/>
            <a:ext cx="173736" cy="173736"/>
          </a:xfrm>
          <a:prstGeom prst="ellipse">
            <a:avLst/>
          </a:prstGeom>
          <a:solidFill>
            <a:srgbClr val="1C4C86"/>
          </a:solidFill>
          <a:ln/>
        </p:spPr>
      </p:sp>
      <p:sp>
        <p:nvSpPr>
          <p:cNvPr id="8" name="Text 5"/>
          <p:cNvSpPr txBox="1"/>
          <p:nvPr/>
        </p:nvSpPr>
        <p:spPr>
          <a:xfrm>
            <a:off x="8202168" y="1682496"/>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9" name="Text 6"/>
          <p:cNvSpPr txBox="1"/>
          <p:nvPr/>
        </p:nvSpPr>
        <p:spPr>
          <a:xfrm>
            <a:off x="8476488" y="1645920"/>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0-100 per settlement</a:t>
            </a:r>
            <a:endParaRPr lang="en-US" sz="1200" dirty="0"/>
          </a:p>
        </p:txBody>
      </p:sp>
      <p:sp>
        <p:nvSpPr>
          <p:cNvPr id="10" name="Text 7"/>
          <p:cNvSpPr txBox="1"/>
          <p:nvPr/>
        </p:nvSpPr>
        <p:spPr>
          <a:xfrm>
            <a:off x="8476488" y="1920240"/>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Six sub-scores: last-mile gap, health-facility distance, all-weather approach, terminal access, connectivity, coverage.</a:t>
            </a:r>
            <a:endParaRPr lang="en-US" sz="1050" dirty="0"/>
          </a:p>
        </p:txBody>
      </p:sp>
      <p:sp>
        <p:nvSpPr>
          <p:cNvPr id="11" name="Shape 8"/>
          <p:cNvSpPr/>
          <p:nvPr/>
        </p:nvSpPr>
        <p:spPr>
          <a:xfrm>
            <a:off x="8202168" y="2743200"/>
            <a:ext cx="173736" cy="173736"/>
          </a:xfrm>
          <a:prstGeom prst="ellipse">
            <a:avLst/>
          </a:prstGeom>
          <a:solidFill>
            <a:srgbClr val="1C4C86"/>
          </a:solidFill>
          <a:ln/>
        </p:spPr>
      </p:sp>
      <p:sp>
        <p:nvSpPr>
          <p:cNvPr id="12" name="Text 9"/>
          <p:cNvSpPr txBox="1"/>
          <p:nvPr/>
        </p:nvSpPr>
        <p:spPr>
          <a:xfrm>
            <a:off x="8202168" y="2743200"/>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3" name="Text 10"/>
          <p:cNvSpPr txBox="1"/>
          <p:nvPr/>
        </p:nvSpPr>
        <p:spPr>
          <a:xfrm>
            <a:off x="8476488" y="2706624"/>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Auditable, not a black box</a:t>
            </a:r>
            <a:endParaRPr lang="en-US" sz="1200" dirty="0"/>
          </a:p>
        </p:txBody>
      </p:sp>
      <p:sp>
        <p:nvSpPr>
          <p:cNvPr id="14" name="Text 11"/>
          <p:cNvSpPr txBox="1"/>
          <p:nvPr/>
        </p:nvSpPr>
        <p:spPr>
          <a:xfrm>
            <a:off x="8476488" y="2980944"/>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Every index opens into the sub-scores and raw facilities that produced it.</a:t>
            </a:r>
            <a:endParaRPr lang="en-US" sz="1050" dirty="0"/>
          </a:p>
        </p:txBody>
      </p:sp>
      <p:sp>
        <p:nvSpPr>
          <p:cNvPr id="15" name="Shape 12"/>
          <p:cNvSpPr/>
          <p:nvPr/>
        </p:nvSpPr>
        <p:spPr>
          <a:xfrm>
            <a:off x="8202168" y="3803904"/>
            <a:ext cx="173736" cy="173736"/>
          </a:xfrm>
          <a:prstGeom prst="ellipse">
            <a:avLst/>
          </a:prstGeom>
          <a:solidFill>
            <a:srgbClr val="1C4C86"/>
          </a:solidFill>
          <a:ln/>
        </p:spPr>
      </p:sp>
      <p:sp>
        <p:nvSpPr>
          <p:cNvPr id="16" name="Text 13"/>
          <p:cNvSpPr txBox="1"/>
          <p:nvPr/>
        </p:nvSpPr>
        <p:spPr>
          <a:xfrm>
            <a:off x="8202168" y="3803904"/>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17" name="Text 14"/>
          <p:cNvSpPr txBox="1"/>
          <p:nvPr/>
        </p:nvSpPr>
        <p:spPr>
          <a:xfrm>
            <a:off x="8476488" y="3767328"/>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Population-weighted roll-up</a:t>
            </a:r>
            <a:endParaRPr lang="en-US" sz="1200" dirty="0"/>
          </a:p>
        </p:txBody>
      </p:sp>
      <p:sp>
        <p:nvSpPr>
          <p:cNvPr id="18" name="Text 15"/>
          <p:cNvSpPr txBox="1"/>
          <p:nvPr/>
        </p:nvSpPr>
        <p:spPr>
          <a:xfrm>
            <a:off x="8476488" y="4041648"/>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State ranking weighted by the population each settlement serves - the queue for intervention.</a:t>
            </a:r>
            <a:endParaRPr lang="en-US" sz="1050" dirty="0"/>
          </a:p>
        </p:txBody>
      </p:sp>
      <p:sp>
        <p:nvSpPr>
          <p:cNvPr id="19" name="Shape 16"/>
          <p:cNvSpPr/>
          <p:nvPr/>
        </p:nvSpPr>
        <p:spPr>
          <a:xfrm>
            <a:off x="8202168" y="4864608"/>
            <a:ext cx="173736" cy="173736"/>
          </a:xfrm>
          <a:prstGeom prst="ellipse">
            <a:avLst/>
          </a:prstGeom>
          <a:solidFill>
            <a:srgbClr val="1C4C86"/>
          </a:solidFill>
          <a:ln/>
        </p:spPr>
      </p:sp>
      <p:sp>
        <p:nvSpPr>
          <p:cNvPr id="20" name="Text 17"/>
          <p:cNvSpPr txBox="1"/>
          <p:nvPr/>
        </p:nvSpPr>
        <p:spPr>
          <a:xfrm>
            <a:off x="8202168" y="4864608"/>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21" name="Text 18"/>
          <p:cNvSpPr txBox="1"/>
          <p:nvPr/>
        </p:nvSpPr>
        <p:spPr>
          <a:xfrm>
            <a:off x="8476488" y="4828032"/>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17 settlements under 50</a:t>
            </a:r>
            <a:endParaRPr lang="en-US" sz="1200" dirty="0"/>
          </a:p>
        </p:txBody>
      </p:sp>
      <p:sp>
        <p:nvSpPr>
          <p:cNvPr id="22" name="Text 19"/>
          <p:cNvSpPr txBox="1"/>
          <p:nvPr/>
        </p:nvSpPr>
        <p:spPr>
          <a:xfrm>
            <a:off x="8476488" y="5102352"/>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Restricted access or worse, covering roughly 3.5 lakh people in this dataset.</a:t>
            </a:r>
            <a:endParaRPr lang="en-US" sz="1050" dirty="0"/>
          </a:p>
        </p:txBody>
      </p:sp>
      <p:sp>
        <p:nvSpPr>
          <p:cNvPr id="23" name="Text 20"/>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4" name="Text 21"/>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PRODUCT TOUR  ·  04</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Field Mode</a:t>
            </a:r>
            <a:endParaRPr lang="en-US" sz="3000" dirty="0"/>
          </a:p>
        </p:txBody>
      </p:sp>
      <p:sp>
        <p:nvSpPr>
          <p:cNvPr id="4" name="Text 2"/>
          <p:cNvSpPr txBox="1"/>
          <p:nvPr/>
        </p:nvSpPr>
        <p:spPr>
          <a:xfrm>
            <a:off x="548640" y="1133856"/>
            <a:ext cx="11094415" cy="292608"/>
          </a:xfrm>
          <a:prstGeom prst="rect">
            <a:avLst/>
          </a:prstGeom>
          <a:noFill/>
          <a:ln/>
        </p:spPr>
        <p:txBody>
          <a:bodyPr wrap="square" lIns="0" tIns="0" rIns="0" bIns="0" rtlCol="0" anchor="ctr"/>
          <a:lstStyle/>
          <a:p>
            <a:pPr indent="0" marL="0">
              <a:buNone/>
            </a:pPr>
            <a:r>
              <a:rPr lang="en-US" sz="1200" i="1" dirty="0">
                <a:solidFill>
                  <a:srgbClr val="C3C2B7"/>
                </a:solidFill>
                <a:latin typeface="Calibri" pitchFamily="34" charset="0"/>
                <a:ea typeface="Calibri" pitchFamily="34" charset="-122"/>
                <a:cs typeface="Calibri" pitchFamily="34" charset="-120"/>
              </a:rPr>
              <a:t>A dashboard is useless to a driver on the Kohima-Imphal road with one bar of 2G.</a:t>
            </a:r>
            <a:endParaRPr lang="en-US" sz="1200" dirty="0"/>
          </a:p>
        </p:txBody>
      </p:sp>
      <p:pic>
        <p:nvPicPr>
          <p:cNvPr id="5" name="Image 0" descr="/home/user/CodeCrew/docs/assets/ui-field.png">    </p:cNvPr>
          <p:cNvPicPr>
            <a:picLocks noChangeAspect="1"/>
          </p:cNvPicPr>
          <p:nvPr/>
        </p:nvPicPr>
        <p:blipFill>
          <a:blip r:embed="rId1"/>
          <a:stretch>
            <a:fillRect/>
          </a:stretch>
        </p:blipFill>
        <p:spPr>
          <a:xfrm>
            <a:off x="548640" y="1572768"/>
            <a:ext cx="7360920" cy="4381500"/>
          </a:xfrm>
          <a:prstGeom prst="rect">
            <a:avLst/>
          </a:prstGeom>
        </p:spPr>
      </p:pic>
      <p:sp>
        <p:nvSpPr>
          <p:cNvPr id="6" name="Shape 3"/>
          <p:cNvSpPr/>
          <p:nvPr/>
        </p:nvSpPr>
        <p:spPr>
          <a:xfrm>
            <a:off x="530352" y="1554480"/>
            <a:ext cx="7397496" cy="4418076"/>
          </a:xfrm>
          <a:prstGeom prst="roundRect">
            <a:avLst>
              <a:gd name="adj" fmla="val 1035"/>
            </a:avLst>
          </a:prstGeom>
          <a:ln w="15875">
            <a:solidFill>
              <a:srgbClr val="2B323F"/>
            </a:solidFill>
            <a:prstDash val="solid"/>
          </a:ln>
        </p:spPr>
      </p:sp>
      <p:sp>
        <p:nvSpPr>
          <p:cNvPr id="7" name="Shape 4"/>
          <p:cNvSpPr/>
          <p:nvPr/>
        </p:nvSpPr>
        <p:spPr>
          <a:xfrm>
            <a:off x="8202168" y="1682496"/>
            <a:ext cx="173736" cy="173736"/>
          </a:xfrm>
          <a:prstGeom prst="ellipse">
            <a:avLst/>
          </a:prstGeom>
          <a:solidFill>
            <a:srgbClr val="1C4C86"/>
          </a:solidFill>
          <a:ln/>
        </p:spPr>
      </p:sp>
      <p:sp>
        <p:nvSpPr>
          <p:cNvPr id="8" name="Text 5"/>
          <p:cNvSpPr txBox="1"/>
          <p:nvPr/>
        </p:nvSpPr>
        <p:spPr>
          <a:xfrm>
            <a:off x="8202168" y="1682496"/>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9" name="Text 6"/>
          <p:cNvSpPr txBox="1"/>
          <p:nvPr/>
        </p:nvSpPr>
        <p:spPr>
          <a:xfrm>
            <a:off x="8476488" y="1645920"/>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Sub-160-character pages</a:t>
            </a:r>
            <a:endParaRPr lang="en-US" sz="1200" dirty="0"/>
          </a:p>
        </p:txBody>
      </p:sp>
      <p:sp>
        <p:nvSpPr>
          <p:cNvPr id="10" name="Text 7"/>
          <p:cNvSpPr txBox="1"/>
          <p:nvPr/>
        </p:nvSpPr>
        <p:spPr>
          <a:xfrm>
            <a:off x="8476488" y="1920240"/>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The same plan as numbered SMS pages - route, risk, accessibility and the fallback, each inside one message.</a:t>
            </a:r>
            <a:endParaRPr lang="en-US" sz="1050" dirty="0"/>
          </a:p>
        </p:txBody>
      </p:sp>
      <p:sp>
        <p:nvSpPr>
          <p:cNvPr id="11" name="Shape 8"/>
          <p:cNvSpPr/>
          <p:nvPr/>
        </p:nvSpPr>
        <p:spPr>
          <a:xfrm>
            <a:off x="8202168" y="2743200"/>
            <a:ext cx="173736" cy="173736"/>
          </a:xfrm>
          <a:prstGeom prst="ellipse">
            <a:avLst/>
          </a:prstGeom>
          <a:solidFill>
            <a:srgbClr val="1C4C86"/>
          </a:solidFill>
          <a:ln/>
        </p:spPr>
      </p:sp>
      <p:sp>
        <p:nvSpPr>
          <p:cNvPr id="12" name="Text 9"/>
          <p:cNvSpPr txBox="1"/>
          <p:nvPr/>
        </p:nvSpPr>
        <p:spPr>
          <a:xfrm>
            <a:off x="8202168" y="2743200"/>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3" name="Text 10"/>
          <p:cNvSpPr txBox="1"/>
          <p:nvPr/>
        </p:nvSpPr>
        <p:spPr>
          <a:xfrm>
            <a:off x="8476488" y="2706624"/>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One payload, three channels</a:t>
            </a:r>
            <a:endParaRPr lang="en-US" sz="1200" dirty="0"/>
          </a:p>
        </p:txBody>
      </p:sp>
      <p:sp>
        <p:nvSpPr>
          <p:cNvPr id="14" name="Text 11"/>
          <p:cNvSpPr txBox="1"/>
          <p:nvPr/>
        </p:nvSpPr>
        <p:spPr>
          <a:xfrm>
            <a:off x="8476488" y="2980944"/>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The same bytes work as an SMS, a USSD menu response, or a printed dispatch slip.</a:t>
            </a:r>
            <a:endParaRPr lang="en-US" sz="1050" dirty="0"/>
          </a:p>
        </p:txBody>
      </p:sp>
      <p:sp>
        <p:nvSpPr>
          <p:cNvPr id="15" name="Shape 12"/>
          <p:cNvSpPr/>
          <p:nvPr/>
        </p:nvSpPr>
        <p:spPr>
          <a:xfrm>
            <a:off x="8202168" y="3803904"/>
            <a:ext cx="173736" cy="173736"/>
          </a:xfrm>
          <a:prstGeom prst="ellipse">
            <a:avLst/>
          </a:prstGeom>
          <a:solidFill>
            <a:srgbClr val="1C4C86"/>
          </a:solidFill>
          <a:ln/>
        </p:spPr>
      </p:sp>
      <p:sp>
        <p:nvSpPr>
          <p:cNvPr id="16" name="Text 13"/>
          <p:cNvSpPr txBox="1"/>
          <p:nvPr/>
        </p:nvSpPr>
        <p:spPr>
          <a:xfrm>
            <a:off x="8202168" y="3803904"/>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17" name="Text 14"/>
          <p:cNvSpPr txBox="1"/>
          <p:nvPr/>
        </p:nvSpPr>
        <p:spPr>
          <a:xfrm>
            <a:off x="8476488" y="3767328"/>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Offline-first by default</a:t>
            </a:r>
            <a:endParaRPr lang="en-US" sz="1200" dirty="0"/>
          </a:p>
        </p:txBody>
      </p:sp>
      <p:sp>
        <p:nvSpPr>
          <p:cNvPr id="18" name="Text 15"/>
          <p:cNvSpPr txBox="1"/>
          <p:nvPr/>
        </p:nvSpPr>
        <p:spPr>
          <a:xfrm>
            <a:off x="8476488" y="4041648"/>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Every response is mirrored to local storage; losing the network shows a labelled cached plan, never an error page.</a:t>
            </a:r>
            <a:endParaRPr lang="en-US" sz="1050" dirty="0"/>
          </a:p>
        </p:txBody>
      </p:sp>
      <p:sp>
        <p:nvSpPr>
          <p:cNvPr id="19" name="Shape 16"/>
          <p:cNvSpPr/>
          <p:nvPr/>
        </p:nvSpPr>
        <p:spPr>
          <a:xfrm>
            <a:off x="8202168" y="4864608"/>
            <a:ext cx="173736" cy="173736"/>
          </a:xfrm>
          <a:prstGeom prst="ellipse">
            <a:avLst/>
          </a:prstGeom>
          <a:solidFill>
            <a:srgbClr val="1C4C86"/>
          </a:solidFill>
          <a:ln/>
        </p:spPr>
      </p:sp>
      <p:sp>
        <p:nvSpPr>
          <p:cNvPr id="20" name="Text 17"/>
          <p:cNvSpPr txBox="1"/>
          <p:nvPr/>
        </p:nvSpPr>
        <p:spPr>
          <a:xfrm>
            <a:off x="8202168" y="4864608"/>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21" name="Text 18"/>
          <p:cNvSpPr txBox="1"/>
          <p:nvPr/>
        </p:nvSpPr>
        <p:spPr>
          <a:xfrm>
            <a:off x="8476488" y="4828032"/>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Rendered from the real API</a:t>
            </a:r>
            <a:endParaRPr lang="en-US" sz="1200" dirty="0"/>
          </a:p>
        </p:txBody>
      </p:sp>
      <p:sp>
        <p:nvSpPr>
          <p:cNvPr id="22" name="Text 19"/>
          <p:cNvSpPr txBox="1"/>
          <p:nvPr/>
        </p:nvSpPr>
        <p:spPr>
          <a:xfrm>
            <a:off x="8476488" y="5102352"/>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The feature-phone screen shows the actual bulletin payload, with its byte count.</a:t>
            </a:r>
            <a:endParaRPr lang="en-US" sz="1050" dirty="0"/>
          </a:p>
        </p:txBody>
      </p:sp>
      <p:sp>
        <p:nvSpPr>
          <p:cNvPr id="23" name="Text 20"/>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4" name="Text 21"/>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PRODUCT TOUR  ·  05</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Model &amp; Data</a:t>
            </a:r>
            <a:endParaRPr lang="en-US" sz="3000" dirty="0"/>
          </a:p>
        </p:txBody>
      </p:sp>
      <p:sp>
        <p:nvSpPr>
          <p:cNvPr id="4" name="Text 2"/>
          <p:cNvSpPr txBox="1"/>
          <p:nvPr/>
        </p:nvSpPr>
        <p:spPr>
          <a:xfrm>
            <a:off x="548640" y="1133856"/>
            <a:ext cx="11094415" cy="292608"/>
          </a:xfrm>
          <a:prstGeom prst="rect">
            <a:avLst/>
          </a:prstGeom>
          <a:noFill/>
          <a:ln/>
        </p:spPr>
        <p:txBody>
          <a:bodyPr wrap="square" lIns="0" tIns="0" rIns="0" bIns="0" rtlCol="0" anchor="ctr"/>
          <a:lstStyle/>
          <a:p>
            <a:pPr indent="0" marL="0">
              <a:buNone/>
            </a:pPr>
            <a:r>
              <a:rPr lang="en-US" sz="1200" i="1" dirty="0">
                <a:solidFill>
                  <a:srgbClr val="C3C2B7"/>
                </a:solidFill>
                <a:latin typeface="Calibri" pitchFamily="34" charset="0"/>
                <a:ea typeface="Calibri" pitchFamily="34" charset="-122"/>
                <a:cs typeface="Calibri" pitchFamily="34" charset="-120"/>
              </a:rPr>
              <a:t>The honesty screen, shipped inside the product rather than kept for the pitch.</a:t>
            </a:r>
            <a:endParaRPr lang="en-US" sz="1200" dirty="0"/>
          </a:p>
        </p:txBody>
      </p:sp>
      <p:pic>
        <p:nvPicPr>
          <p:cNvPr id="5" name="Image 0" descr="/home/user/CodeCrew/docs/assets/ui-model.png">    </p:cNvPr>
          <p:cNvPicPr>
            <a:picLocks noChangeAspect="1"/>
          </p:cNvPicPr>
          <p:nvPr/>
        </p:nvPicPr>
        <p:blipFill>
          <a:blip r:embed="rId1"/>
          <a:stretch>
            <a:fillRect/>
          </a:stretch>
        </p:blipFill>
        <p:spPr>
          <a:xfrm>
            <a:off x="548640" y="1572768"/>
            <a:ext cx="7360920" cy="4381500"/>
          </a:xfrm>
          <a:prstGeom prst="rect">
            <a:avLst/>
          </a:prstGeom>
        </p:spPr>
      </p:pic>
      <p:sp>
        <p:nvSpPr>
          <p:cNvPr id="6" name="Shape 3"/>
          <p:cNvSpPr/>
          <p:nvPr/>
        </p:nvSpPr>
        <p:spPr>
          <a:xfrm>
            <a:off x="530352" y="1554480"/>
            <a:ext cx="7397496" cy="4418076"/>
          </a:xfrm>
          <a:prstGeom prst="roundRect">
            <a:avLst>
              <a:gd name="adj" fmla="val 1035"/>
            </a:avLst>
          </a:prstGeom>
          <a:ln w="15875">
            <a:solidFill>
              <a:srgbClr val="2B323F"/>
            </a:solidFill>
            <a:prstDash val="solid"/>
          </a:ln>
        </p:spPr>
      </p:sp>
      <p:sp>
        <p:nvSpPr>
          <p:cNvPr id="7" name="Shape 4"/>
          <p:cNvSpPr/>
          <p:nvPr/>
        </p:nvSpPr>
        <p:spPr>
          <a:xfrm>
            <a:off x="8202168" y="1682496"/>
            <a:ext cx="173736" cy="173736"/>
          </a:xfrm>
          <a:prstGeom prst="ellipse">
            <a:avLst/>
          </a:prstGeom>
          <a:solidFill>
            <a:srgbClr val="1C4C86"/>
          </a:solidFill>
          <a:ln/>
        </p:spPr>
      </p:sp>
      <p:sp>
        <p:nvSpPr>
          <p:cNvPr id="8" name="Text 5"/>
          <p:cNvSpPr txBox="1"/>
          <p:nvPr/>
        </p:nvSpPr>
        <p:spPr>
          <a:xfrm>
            <a:off x="8202168" y="1682496"/>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9" name="Text 6"/>
          <p:cNvSpPr txBox="1"/>
          <p:nvPr/>
        </p:nvSpPr>
        <p:spPr>
          <a:xfrm>
            <a:off x="8476488" y="1645920"/>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Learned weights, on screen</a:t>
            </a:r>
            <a:endParaRPr lang="en-US" sz="1200" dirty="0"/>
          </a:p>
        </p:txBody>
      </p:sp>
      <p:sp>
        <p:nvSpPr>
          <p:cNvPr id="10" name="Text 7"/>
          <p:cNvSpPr txBox="1"/>
          <p:nvPr/>
        </p:nvSpPr>
        <p:spPr>
          <a:xfrm>
            <a:off x="8476488" y="1920240"/>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The classifier's standardised coefficients, so its reasoning can be inspected.</a:t>
            </a:r>
            <a:endParaRPr lang="en-US" sz="1050" dirty="0"/>
          </a:p>
        </p:txBody>
      </p:sp>
      <p:sp>
        <p:nvSpPr>
          <p:cNvPr id="11" name="Shape 8"/>
          <p:cNvSpPr/>
          <p:nvPr/>
        </p:nvSpPr>
        <p:spPr>
          <a:xfrm>
            <a:off x="8202168" y="2743200"/>
            <a:ext cx="173736" cy="173736"/>
          </a:xfrm>
          <a:prstGeom prst="ellipse">
            <a:avLst/>
          </a:prstGeom>
          <a:solidFill>
            <a:srgbClr val="1C4C86"/>
          </a:solidFill>
          <a:ln/>
        </p:spPr>
      </p:sp>
      <p:sp>
        <p:nvSpPr>
          <p:cNvPr id="12" name="Text 9"/>
          <p:cNvSpPr txBox="1"/>
          <p:nvPr/>
        </p:nvSpPr>
        <p:spPr>
          <a:xfrm>
            <a:off x="8202168" y="2743200"/>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3" name="Text 10"/>
          <p:cNvSpPr txBox="1"/>
          <p:nvPr/>
        </p:nvSpPr>
        <p:spPr>
          <a:xfrm>
            <a:off x="8476488" y="2706624"/>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Held-out metrics</a:t>
            </a:r>
            <a:endParaRPr lang="en-US" sz="1200" dirty="0"/>
          </a:p>
        </p:txBody>
      </p:sp>
      <p:sp>
        <p:nvSpPr>
          <p:cNvPr id="14" name="Text 11"/>
          <p:cNvSpPr txBox="1"/>
          <p:nvPr/>
        </p:nvSpPr>
        <p:spPr>
          <a:xfrm>
            <a:off x="8476488" y="2980944"/>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ROC-AUC, accuracy, precision, recall and base rate on a 20% split held out across every corridor.</a:t>
            </a:r>
            <a:endParaRPr lang="en-US" sz="1050" dirty="0"/>
          </a:p>
        </p:txBody>
      </p:sp>
      <p:sp>
        <p:nvSpPr>
          <p:cNvPr id="15" name="Shape 12"/>
          <p:cNvSpPr/>
          <p:nvPr/>
        </p:nvSpPr>
        <p:spPr>
          <a:xfrm>
            <a:off x="8202168" y="3803904"/>
            <a:ext cx="173736" cy="173736"/>
          </a:xfrm>
          <a:prstGeom prst="ellipse">
            <a:avLst/>
          </a:prstGeom>
          <a:solidFill>
            <a:srgbClr val="1C4C86"/>
          </a:solidFill>
          <a:ln/>
        </p:spPr>
      </p:sp>
      <p:sp>
        <p:nvSpPr>
          <p:cNvPr id="16" name="Text 13"/>
          <p:cNvSpPr txBox="1"/>
          <p:nvPr/>
        </p:nvSpPr>
        <p:spPr>
          <a:xfrm>
            <a:off x="8202168" y="3803904"/>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17" name="Text 14"/>
          <p:cNvSpPr txBox="1"/>
          <p:nvPr/>
        </p:nvSpPr>
        <p:spPr>
          <a:xfrm>
            <a:off x="8476488" y="3767328"/>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Stated provenance</a:t>
            </a:r>
            <a:endParaRPr lang="en-US" sz="1200" dirty="0"/>
          </a:p>
        </p:txBody>
      </p:sp>
      <p:sp>
        <p:nvSpPr>
          <p:cNvPr id="18" name="Text 15"/>
          <p:cNvSpPr txBox="1"/>
          <p:nvPr/>
        </p:nvSpPr>
        <p:spPr>
          <a:xfrm>
            <a:off x="8476488" y="4041648"/>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Which data is real and which is the demo layer - in the product, not just the README.</a:t>
            </a:r>
            <a:endParaRPr lang="en-US" sz="1050" dirty="0"/>
          </a:p>
        </p:txBody>
      </p:sp>
      <p:sp>
        <p:nvSpPr>
          <p:cNvPr id="19" name="Shape 16"/>
          <p:cNvSpPr/>
          <p:nvPr/>
        </p:nvSpPr>
        <p:spPr>
          <a:xfrm>
            <a:off x="8202168" y="4864608"/>
            <a:ext cx="173736" cy="173736"/>
          </a:xfrm>
          <a:prstGeom prst="ellipse">
            <a:avLst/>
          </a:prstGeom>
          <a:solidFill>
            <a:srgbClr val="1C4C86"/>
          </a:solidFill>
          <a:ln/>
        </p:spPr>
      </p:sp>
      <p:sp>
        <p:nvSpPr>
          <p:cNvPr id="20" name="Text 17"/>
          <p:cNvSpPr txBox="1"/>
          <p:nvPr/>
        </p:nvSpPr>
        <p:spPr>
          <a:xfrm>
            <a:off x="8202168" y="4864608"/>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21" name="Text 18"/>
          <p:cNvSpPr txBox="1"/>
          <p:nvPr/>
        </p:nvSpPr>
        <p:spPr>
          <a:xfrm>
            <a:off x="8476488" y="4828032"/>
            <a:ext cx="3166567"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Honest about recall</a:t>
            </a:r>
            <a:endParaRPr lang="en-US" sz="1200" dirty="0"/>
          </a:p>
        </p:txBody>
      </p:sp>
      <p:sp>
        <p:nvSpPr>
          <p:cNvPr id="22" name="Text 19"/>
          <p:cNvSpPr txBox="1"/>
          <p:nvPr/>
        </p:nvSpPr>
        <p:spPr>
          <a:xfrm>
            <a:off x="8476488" y="5102352"/>
            <a:ext cx="3166567" cy="731520"/>
          </a:xfrm>
          <a:prstGeom prst="rect">
            <a:avLst/>
          </a:prstGeom>
          <a:noFill/>
          <a:ln/>
        </p:spPr>
        <p:txBody>
          <a:bodyPr wrap="square" lIns="0" tIns="0" rIns="0" bIns="0" rtlCol="0" anchor="t"/>
          <a:lstStyle/>
          <a:p>
            <a:pPr indent="0" marL="0">
              <a:lnSpc>
                <a:spcPct val="115000"/>
              </a:lnSpc>
              <a:buNone/>
            </a:pPr>
            <a:r>
              <a:rPr lang="en-US" sz="1050" dirty="0">
                <a:solidFill>
                  <a:srgbClr val="C3C2B7"/>
                </a:solidFill>
                <a:latin typeface="Calibri" pitchFamily="34" charset="0"/>
                <a:ea typeface="Calibri" pitchFamily="34" charset="-122"/>
                <a:cs typeface="Calibri" pitchFamily="34" charset="-120"/>
              </a:rPr>
              <a:t>Low recall at the 0.5 threshold is explained: the platform consumes the probability, never the hard decision.</a:t>
            </a:r>
            <a:endParaRPr lang="en-US" sz="1050" dirty="0"/>
          </a:p>
        </p:txBody>
      </p:sp>
      <p:sp>
        <p:nvSpPr>
          <p:cNvPr id="23" name="Text 20"/>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4" name="Text 21"/>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ARCHITECTURE</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How a request becomes a routing</a:t>
            </a:r>
            <a:endParaRPr lang="en-US" sz="3000" dirty="0"/>
          </a:p>
        </p:txBody>
      </p:sp>
      <p:sp>
        <p:nvSpPr>
          <p:cNvPr id="4" name="Shape 2"/>
          <p:cNvSpPr/>
          <p:nvPr/>
        </p:nvSpPr>
        <p:spPr>
          <a:xfrm>
            <a:off x="548640" y="1481328"/>
            <a:ext cx="1911645" cy="2395728"/>
          </a:xfrm>
          <a:prstGeom prst="roundRect">
            <a:avLst>
              <a:gd name="adj" fmla="val 4305"/>
            </a:avLst>
          </a:prstGeom>
          <a:solidFill>
            <a:srgbClr val="1A1F28"/>
          </a:solidFill>
          <a:ln w="12700">
            <a:solidFill>
              <a:srgbClr val="2B323F"/>
            </a:solidFill>
            <a:prstDash val="solid"/>
          </a:ln>
        </p:spPr>
      </p:sp>
      <p:sp>
        <p:nvSpPr>
          <p:cNvPr id="5" name="Shape 3"/>
          <p:cNvSpPr/>
          <p:nvPr/>
        </p:nvSpPr>
        <p:spPr>
          <a:xfrm>
            <a:off x="731520" y="1682496"/>
            <a:ext cx="402336" cy="402336"/>
          </a:xfrm>
          <a:prstGeom prst="ellipse">
            <a:avLst/>
          </a:prstGeom>
          <a:solidFill>
            <a:srgbClr val="1E2937"/>
          </a:solidFill>
          <a:ln w="12700">
            <a:solidFill>
              <a:srgbClr val="199E70"/>
            </a:solidFill>
            <a:prstDash val="solid"/>
          </a:ln>
        </p:spPr>
      </p:sp>
      <p:pic>
        <p:nvPicPr>
          <p:cNvPr id="6" name="Image 0" descr="preencoded.png">    </p:cNvPr>
          <p:cNvPicPr>
            <a:picLocks noChangeAspect="1"/>
          </p:cNvPicPr>
          <p:nvPr/>
        </p:nvPicPr>
        <p:blipFill>
          <a:blip r:embed="rId1"/>
          <a:stretch>
            <a:fillRect/>
          </a:stretch>
        </p:blipFill>
        <p:spPr>
          <a:xfrm>
            <a:off x="844174" y="1795150"/>
            <a:ext cx="177028" cy="177028"/>
          </a:xfrm>
          <a:prstGeom prst="rect">
            <a:avLst/>
          </a:prstGeom>
        </p:spPr>
      </p:pic>
      <p:sp>
        <p:nvSpPr>
          <p:cNvPr id="7" name="Text 4"/>
          <p:cNvSpPr txBox="1"/>
          <p:nvPr/>
        </p:nvSpPr>
        <p:spPr>
          <a:xfrm>
            <a:off x="694944" y="2212848"/>
            <a:ext cx="1619037"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Inputs</a:t>
            </a:r>
            <a:endParaRPr lang="en-US" sz="1250" dirty="0"/>
          </a:p>
        </p:txBody>
      </p:sp>
      <p:sp>
        <p:nvSpPr>
          <p:cNvPr id="8" name="Text 5"/>
          <p:cNvSpPr txBox="1"/>
          <p:nvPr/>
        </p:nvSpPr>
        <p:spPr>
          <a:xfrm>
            <a:off x="694944" y="2523744"/>
            <a:ext cx="1619037" cy="1261872"/>
          </a:xfrm>
          <a:prstGeom prst="rect">
            <a:avLst/>
          </a:prstGeom>
          <a:noFill/>
          <a:ln/>
        </p:spPr>
        <p:txBody>
          <a:bodyPr wrap="square" lIns="0" tIns="0" rIns="0" bIns="0" rtlCol="0" anchor="t"/>
          <a:lstStyle/>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Open-Meteo live rainfall</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Network topology</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Corridor priors</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Consignment request</a:t>
            </a:r>
            <a:endParaRPr lang="en-US" sz="980" dirty="0"/>
          </a:p>
        </p:txBody>
      </p:sp>
      <p:sp>
        <p:nvSpPr>
          <p:cNvPr id="9" name="Shape 6"/>
          <p:cNvSpPr/>
          <p:nvPr/>
        </p:nvSpPr>
        <p:spPr>
          <a:xfrm>
            <a:off x="2542581" y="2679192"/>
            <a:ext cx="219456" cy="0"/>
          </a:xfrm>
          <a:prstGeom prst="line">
            <a:avLst/>
          </a:prstGeom>
          <a:noFill/>
          <a:ln w="19050">
            <a:solidFill>
              <a:srgbClr val="3987E5"/>
            </a:solidFill>
            <a:prstDash val="solid"/>
            <a:tailEnd type="triangle"/>
          </a:ln>
        </p:spPr>
      </p:sp>
      <p:sp>
        <p:nvSpPr>
          <p:cNvPr id="10" name="Shape 7"/>
          <p:cNvSpPr/>
          <p:nvPr/>
        </p:nvSpPr>
        <p:spPr>
          <a:xfrm>
            <a:off x="2844333" y="1481328"/>
            <a:ext cx="1911645" cy="2395728"/>
          </a:xfrm>
          <a:prstGeom prst="roundRect">
            <a:avLst>
              <a:gd name="adj" fmla="val 4305"/>
            </a:avLst>
          </a:prstGeom>
          <a:solidFill>
            <a:srgbClr val="1A1F28"/>
          </a:solidFill>
          <a:ln w="12700">
            <a:solidFill>
              <a:srgbClr val="2B323F"/>
            </a:solidFill>
            <a:prstDash val="solid"/>
          </a:ln>
        </p:spPr>
      </p:sp>
      <p:sp>
        <p:nvSpPr>
          <p:cNvPr id="11" name="Shape 8"/>
          <p:cNvSpPr/>
          <p:nvPr/>
        </p:nvSpPr>
        <p:spPr>
          <a:xfrm>
            <a:off x="3027213" y="1682496"/>
            <a:ext cx="402336" cy="402336"/>
          </a:xfrm>
          <a:prstGeom prst="ellipse">
            <a:avLst/>
          </a:prstGeom>
          <a:solidFill>
            <a:srgbClr val="1E2937"/>
          </a:solidFill>
          <a:ln w="12700">
            <a:solidFill>
              <a:srgbClr val="FAB219"/>
            </a:solidFill>
            <a:prstDash val="solid"/>
          </a:ln>
        </p:spPr>
      </p:sp>
      <p:pic>
        <p:nvPicPr>
          <p:cNvPr id="12" name="Image 1" descr="preencoded.png">    </p:cNvPr>
          <p:cNvPicPr>
            <a:picLocks noChangeAspect="1"/>
          </p:cNvPicPr>
          <p:nvPr/>
        </p:nvPicPr>
        <p:blipFill>
          <a:blip r:embed="rId2"/>
          <a:stretch>
            <a:fillRect/>
          </a:stretch>
        </p:blipFill>
        <p:spPr>
          <a:xfrm>
            <a:off x="3139867" y="1795150"/>
            <a:ext cx="177028" cy="177028"/>
          </a:xfrm>
          <a:prstGeom prst="rect">
            <a:avLst/>
          </a:prstGeom>
        </p:spPr>
      </p:pic>
      <p:sp>
        <p:nvSpPr>
          <p:cNvPr id="13" name="Text 9"/>
          <p:cNvSpPr txBox="1"/>
          <p:nvPr/>
        </p:nvSpPr>
        <p:spPr>
          <a:xfrm>
            <a:off x="2990637" y="2212848"/>
            <a:ext cx="1619037"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Risk engine</a:t>
            </a:r>
            <a:endParaRPr lang="en-US" sz="1250" dirty="0"/>
          </a:p>
        </p:txBody>
      </p:sp>
      <p:sp>
        <p:nvSpPr>
          <p:cNvPr id="14" name="Text 10"/>
          <p:cNvSpPr txBox="1"/>
          <p:nvPr/>
        </p:nvSpPr>
        <p:spPr>
          <a:xfrm>
            <a:off x="2990637" y="2523744"/>
            <a:ext cx="1619037" cy="1261872"/>
          </a:xfrm>
          <a:prstGeom prst="rect">
            <a:avLst/>
          </a:prstGeom>
          <a:noFill/>
          <a:ln/>
        </p:spPr>
        <p:txBody>
          <a:bodyPr wrap="square" lIns="0" tIns="0" rIns="0" bIns="0" rtlCol="0" anchor="t"/>
          <a:lstStyle/>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Rainfall-threshold model</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Trained classifier</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45 / 55 blend</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Per-corridor assessment</a:t>
            </a:r>
            <a:endParaRPr lang="en-US" sz="980" dirty="0"/>
          </a:p>
        </p:txBody>
      </p:sp>
      <p:sp>
        <p:nvSpPr>
          <p:cNvPr id="15" name="Shape 11"/>
          <p:cNvSpPr/>
          <p:nvPr/>
        </p:nvSpPr>
        <p:spPr>
          <a:xfrm>
            <a:off x="4838273" y="2679192"/>
            <a:ext cx="219456" cy="0"/>
          </a:xfrm>
          <a:prstGeom prst="line">
            <a:avLst/>
          </a:prstGeom>
          <a:noFill/>
          <a:ln w="19050">
            <a:solidFill>
              <a:srgbClr val="3987E5"/>
            </a:solidFill>
            <a:prstDash val="solid"/>
            <a:tailEnd type="triangle"/>
          </a:ln>
        </p:spPr>
      </p:sp>
      <p:sp>
        <p:nvSpPr>
          <p:cNvPr id="16" name="Shape 12"/>
          <p:cNvSpPr/>
          <p:nvPr/>
        </p:nvSpPr>
        <p:spPr>
          <a:xfrm>
            <a:off x="5140025" y="1481328"/>
            <a:ext cx="1911645" cy="2395728"/>
          </a:xfrm>
          <a:prstGeom prst="roundRect">
            <a:avLst>
              <a:gd name="adj" fmla="val 4305"/>
            </a:avLst>
          </a:prstGeom>
          <a:solidFill>
            <a:srgbClr val="1A1F28"/>
          </a:solidFill>
          <a:ln w="12700">
            <a:solidFill>
              <a:srgbClr val="2B323F"/>
            </a:solidFill>
            <a:prstDash val="solid"/>
          </a:ln>
        </p:spPr>
      </p:sp>
      <p:sp>
        <p:nvSpPr>
          <p:cNvPr id="17" name="Shape 13"/>
          <p:cNvSpPr/>
          <p:nvPr/>
        </p:nvSpPr>
        <p:spPr>
          <a:xfrm>
            <a:off x="5322905" y="1682496"/>
            <a:ext cx="402336" cy="402336"/>
          </a:xfrm>
          <a:prstGeom prst="ellipse">
            <a:avLst/>
          </a:prstGeom>
          <a:solidFill>
            <a:srgbClr val="1E2937"/>
          </a:solidFill>
          <a:ln w="12700">
            <a:solidFill>
              <a:srgbClr val="3987E5"/>
            </a:solidFill>
            <a:prstDash val="solid"/>
          </a:ln>
        </p:spPr>
      </p:sp>
      <p:pic>
        <p:nvPicPr>
          <p:cNvPr id="18" name="Image 2" descr="preencoded.png">    </p:cNvPr>
          <p:cNvPicPr>
            <a:picLocks noChangeAspect="1"/>
          </p:cNvPicPr>
          <p:nvPr/>
        </p:nvPicPr>
        <p:blipFill>
          <a:blip r:embed="rId3"/>
          <a:stretch>
            <a:fillRect/>
          </a:stretch>
        </p:blipFill>
        <p:spPr>
          <a:xfrm>
            <a:off x="5435559" y="1795150"/>
            <a:ext cx="177028" cy="177028"/>
          </a:xfrm>
          <a:prstGeom prst="rect">
            <a:avLst/>
          </a:prstGeom>
        </p:spPr>
      </p:pic>
      <p:sp>
        <p:nvSpPr>
          <p:cNvPr id="19" name="Text 14"/>
          <p:cNvSpPr txBox="1"/>
          <p:nvPr/>
        </p:nvSpPr>
        <p:spPr>
          <a:xfrm>
            <a:off x="5286329" y="2212848"/>
            <a:ext cx="1619037"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Graph search</a:t>
            </a:r>
            <a:endParaRPr lang="en-US" sz="1250" dirty="0"/>
          </a:p>
        </p:txBody>
      </p:sp>
      <p:sp>
        <p:nvSpPr>
          <p:cNvPr id="20" name="Text 15"/>
          <p:cNvSpPr txBox="1"/>
          <p:nvPr/>
        </p:nvSpPr>
        <p:spPr>
          <a:xfrm>
            <a:off x="5286329" y="2523744"/>
            <a:ext cx="1619037" cy="1261872"/>
          </a:xfrm>
          <a:prstGeom prst="rect">
            <a:avLst/>
          </a:prstGeom>
          <a:noFill/>
          <a:ln/>
        </p:spPr>
        <p:txBody>
          <a:bodyPr wrap="square" lIns="0" tIns="0" rIns="0" bIns="0" rtlCol="0" anchor="t"/>
          <a:lstStyle/>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(settlement, mode) expansion</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Transfer arcs at terminals</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Dijkstra + Yen k-shortest</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Node-revisit rejection</a:t>
            </a:r>
            <a:endParaRPr lang="en-US" sz="980" dirty="0"/>
          </a:p>
        </p:txBody>
      </p:sp>
      <p:sp>
        <p:nvSpPr>
          <p:cNvPr id="21" name="Shape 16"/>
          <p:cNvSpPr/>
          <p:nvPr/>
        </p:nvSpPr>
        <p:spPr>
          <a:xfrm>
            <a:off x="7133966" y="2679192"/>
            <a:ext cx="219456" cy="0"/>
          </a:xfrm>
          <a:prstGeom prst="line">
            <a:avLst/>
          </a:prstGeom>
          <a:noFill/>
          <a:ln w="19050">
            <a:solidFill>
              <a:srgbClr val="3987E5"/>
            </a:solidFill>
            <a:prstDash val="solid"/>
            <a:tailEnd type="triangle"/>
          </a:ln>
        </p:spPr>
      </p:sp>
      <p:sp>
        <p:nvSpPr>
          <p:cNvPr id="22" name="Shape 17"/>
          <p:cNvSpPr/>
          <p:nvPr/>
        </p:nvSpPr>
        <p:spPr>
          <a:xfrm>
            <a:off x="7435718" y="1481328"/>
            <a:ext cx="1911645" cy="2395728"/>
          </a:xfrm>
          <a:prstGeom prst="roundRect">
            <a:avLst>
              <a:gd name="adj" fmla="val 4305"/>
            </a:avLst>
          </a:prstGeom>
          <a:solidFill>
            <a:srgbClr val="1A1F28"/>
          </a:solidFill>
          <a:ln w="12700">
            <a:solidFill>
              <a:srgbClr val="2B323F"/>
            </a:solidFill>
            <a:prstDash val="solid"/>
          </a:ln>
        </p:spPr>
      </p:sp>
      <p:sp>
        <p:nvSpPr>
          <p:cNvPr id="23" name="Shape 18"/>
          <p:cNvSpPr/>
          <p:nvPr/>
        </p:nvSpPr>
        <p:spPr>
          <a:xfrm>
            <a:off x="7618598" y="1682496"/>
            <a:ext cx="402336" cy="402336"/>
          </a:xfrm>
          <a:prstGeom prst="ellipse">
            <a:avLst/>
          </a:prstGeom>
          <a:solidFill>
            <a:srgbClr val="1E2937"/>
          </a:solidFill>
          <a:ln w="12700">
            <a:solidFill>
              <a:srgbClr val="9085E9"/>
            </a:solidFill>
            <a:prstDash val="solid"/>
          </a:ln>
        </p:spPr>
      </p:sp>
      <p:pic>
        <p:nvPicPr>
          <p:cNvPr id="24" name="Image 3" descr="preencoded.png">    </p:cNvPr>
          <p:cNvPicPr>
            <a:picLocks noChangeAspect="1"/>
          </p:cNvPicPr>
          <p:nvPr/>
        </p:nvPicPr>
        <p:blipFill>
          <a:blip r:embed="rId4"/>
          <a:stretch>
            <a:fillRect/>
          </a:stretch>
        </p:blipFill>
        <p:spPr>
          <a:xfrm>
            <a:off x="7731252" y="1795150"/>
            <a:ext cx="177028" cy="177028"/>
          </a:xfrm>
          <a:prstGeom prst="rect">
            <a:avLst/>
          </a:prstGeom>
        </p:spPr>
      </p:pic>
      <p:sp>
        <p:nvSpPr>
          <p:cNvPr id="25" name="Text 19"/>
          <p:cNvSpPr txBox="1"/>
          <p:nvPr/>
        </p:nvSpPr>
        <p:spPr>
          <a:xfrm>
            <a:off x="7582022" y="2212848"/>
            <a:ext cx="1619037"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Scoring</a:t>
            </a:r>
            <a:endParaRPr lang="en-US" sz="1250" dirty="0"/>
          </a:p>
        </p:txBody>
      </p:sp>
      <p:sp>
        <p:nvSpPr>
          <p:cNvPr id="26" name="Text 20"/>
          <p:cNvSpPr txBox="1"/>
          <p:nvPr/>
        </p:nvSpPr>
        <p:spPr>
          <a:xfrm>
            <a:off x="7582022" y="2523744"/>
            <a:ext cx="1619037" cy="1261872"/>
          </a:xfrm>
          <a:prstGeom prst="rect">
            <a:avLst/>
          </a:prstGeom>
          <a:noFill/>
          <a:ln/>
        </p:spPr>
        <p:txBody>
          <a:bodyPr wrap="square" lIns="0" tIns="0" rIns="0" bIns="0" rtlCol="0" anchor="t"/>
          <a:lstStyle/>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Time, cost, reliability</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Emissions, accessibility</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Profile re-weighting</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Barrier detection</a:t>
            </a:r>
            <a:endParaRPr lang="en-US" sz="980" dirty="0"/>
          </a:p>
        </p:txBody>
      </p:sp>
      <p:sp>
        <p:nvSpPr>
          <p:cNvPr id="27" name="Shape 21"/>
          <p:cNvSpPr/>
          <p:nvPr/>
        </p:nvSpPr>
        <p:spPr>
          <a:xfrm>
            <a:off x="9429659" y="2679192"/>
            <a:ext cx="219456" cy="0"/>
          </a:xfrm>
          <a:prstGeom prst="line">
            <a:avLst/>
          </a:prstGeom>
          <a:noFill/>
          <a:ln w="19050">
            <a:solidFill>
              <a:srgbClr val="3987E5"/>
            </a:solidFill>
            <a:prstDash val="solid"/>
            <a:tailEnd type="triangle"/>
          </a:ln>
        </p:spPr>
      </p:sp>
      <p:sp>
        <p:nvSpPr>
          <p:cNvPr id="28" name="Shape 22"/>
          <p:cNvSpPr/>
          <p:nvPr/>
        </p:nvSpPr>
        <p:spPr>
          <a:xfrm>
            <a:off x="9731411" y="1481328"/>
            <a:ext cx="1911645" cy="2395728"/>
          </a:xfrm>
          <a:prstGeom prst="roundRect">
            <a:avLst>
              <a:gd name="adj" fmla="val 4305"/>
            </a:avLst>
          </a:prstGeom>
          <a:solidFill>
            <a:srgbClr val="1A1F28"/>
          </a:solidFill>
          <a:ln w="12700">
            <a:solidFill>
              <a:srgbClr val="2B323F"/>
            </a:solidFill>
            <a:prstDash val="solid"/>
          </a:ln>
        </p:spPr>
      </p:sp>
      <p:sp>
        <p:nvSpPr>
          <p:cNvPr id="29" name="Shape 23"/>
          <p:cNvSpPr/>
          <p:nvPr/>
        </p:nvSpPr>
        <p:spPr>
          <a:xfrm>
            <a:off x="9914291" y="1682496"/>
            <a:ext cx="402336" cy="402336"/>
          </a:xfrm>
          <a:prstGeom prst="ellipse">
            <a:avLst/>
          </a:prstGeom>
          <a:solidFill>
            <a:srgbClr val="1E2937"/>
          </a:solidFill>
          <a:ln w="12700">
            <a:solidFill>
              <a:srgbClr val="0CA30C"/>
            </a:solidFill>
            <a:prstDash val="solid"/>
          </a:ln>
        </p:spPr>
      </p:sp>
      <p:pic>
        <p:nvPicPr>
          <p:cNvPr id="30" name="Image 4" descr="preencoded.png">    </p:cNvPr>
          <p:cNvPicPr>
            <a:picLocks noChangeAspect="1"/>
          </p:cNvPicPr>
          <p:nvPr/>
        </p:nvPicPr>
        <p:blipFill>
          <a:blip r:embed="rId5"/>
          <a:stretch>
            <a:fillRect/>
          </a:stretch>
        </p:blipFill>
        <p:spPr>
          <a:xfrm>
            <a:off x="10026945" y="1795150"/>
            <a:ext cx="177028" cy="177028"/>
          </a:xfrm>
          <a:prstGeom prst="rect">
            <a:avLst/>
          </a:prstGeom>
        </p:spPr>
      </p:pic>
      <p:sp>
        <p:nvSpPr>
          <p:cNvPr id="31" name="Text 24"/>
          <p:cNvSpPr txBox="1"/>
          <p:nvPr/>
        </p:nvSpPr>
        <p:spPr>
          <a:xfrm>
            <a:off x="9877715" y="2212848"/>
            <a:ext cx="1619037"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Output</a:t>
            </a:r>
            <a:endParaRPr lang="en-US" sz="1250" dirty="0"/>
          </a:p>
        </p:txBody>
      </p:sp>
      <p:sp>
        <p:nvSpPr>
          <p:cNvPr id="32" name="Text 25"/>
          <p:cNvSpPr txBox="1"/>
          <p:nvPr/>
        </p:nvSpPr>
        <p:spPr>
          <a:xfrm>
            <a:off x="9877715" y="2523744"/>
            <a:ext cx="1619037" cy="1261872"/>
          </a:xfrm>
          <a:prstGeom prst="rect">
            <a:avLst/>
          </a:prstGeom>
          <a:noFill/>
          <a:ln/>
        </p:spPr>
        <p:txBody>
          <a:bodyPr wrap="square" lIns="0" tIns="0" rIns="0" bIns="0" rtlCol="0" anchor="t"/>
          <a:lstStyle/>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Ranked routings</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Grounded explanation</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SMS / USSD bulletin</a:t>
            </a:r>
            <a:endParaRPr lang="en-US" sz="980" dirty="0"/>
          </a:p>
          <a:p>
            <a:pPr indent="0" marL="0">
              <a:lnSpc>
                <a:spcPct val="110000"/>
              </a:lnSpc>
              <a:spcAft>
                <a:spcPts val="500"/>
              </a:spcAft>
              <a:buNone/>
            </a:pPr>
            <a:r>
              <a:rPr lang="en-US" sz="980" dirty="0">
                <a:solidFill>
                  <a:srgbClr val="C3C2B7"/>
                </a:solidFill>
                <a:latin typeface="Calibri" pitchFamily="34" charset="0"/>
                <a:ea typeface="Calibri" pitchFamily="34" charset="-122"/>
                <a:cs typeface="Calibri" pitchFamily="34" charset="-120"/>
              </a:rPr>
              <a:t>Offline-cached response</a:t>
            </a:r>
            <a:endParaRPr lang="en-US" sz="980" dirty="0"/>
          </a:p>
        </p:txBody>
      </p:sp>
      <p:sp>
        <p:nvSpPr>
          <p:cNvPr id="33" name="Text 26"/>
          <p:cNvSpPr txBox="1"/>
          <p:nvPr/>
        </p:nvSpPr>
        <p:spPr>
          <a:xfrm>
            <a:off x="548640" y="4169664"/>
            <a:ext cx="2743200"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Stack</a:t>
            </a:r>
            <a:endParaRPr lang="en-US" sz="1400" dirty="0"/>
          </a:p>
        </p:txBody>
      </p:sp>
      <p:sp>
        <p:nvSpPr>
          <p:cNvPr id="34" name="Shape 27"/>
          <p:cNvSpPr/>
          <p:nvPr/>
        </p:nvSpPr>
        <p:spPr>
          <a:xfrm>
            <a:off x="548640" y="4498848"/>
            <a:ext cx="2663876" cy="841248"/>
          </a:xfrm>
          <a:prstGeom prst="roundRect">
            <a:avLst>
              <a:gd name="adj" fmla="val 9783"/>
            </a:avLst>
          </a:prstGeom>
          <a:solidFill>
            <a:srgbClr val="1A1F28"/>
          </a:solidFill>
          <a:ln w="12700">
            <a:solidFill>
              <a:srgbClr val="2B323F"/>
            </a:solidFill>
            <a:prstDash val="solid"/>
          </a:ln>
        </p:spPr>
      </p:sp>
      <p:sp>
        <p:nvSpPr>
          <p:cNvPr id="35" name="Text 28"/>
          <p:cNvSpPr txBox="1"/>
          <p:nvPr/>
        </p:nvSpPr>
        <p:spPr>
          <a:xfrm>
            <a:off x="694944" y="4608576"/>
            <a:ext cx="2371268" cy="182880"/>
          </a:xfrm>
          <a:prstGeom prst="rect">
            <a:avLst/>
          </a:prstGeom>
          <a:noFill/>
          <a:ln/>
        </p:spPr>
        <p:txBody>
          <a:bodyPr wrap="square" lIns="0" tIns="0" rIns="0" bIns="0" rtlCol="0" anchor="ctr"/>
          <a:lstStyle/>
          <a:p>
            <a:pPr indent="0" marL="0">
              <a:buNone/>
            </a:pPr>
            <a:r>
              <a:rPr lang="en-US" sz="850" b="1" spc="110" kern="0" dirty="0">
                <a:solidFill>
                  <a:srgbClr val="3987E5"/>
                </a:solidFill>
                <a:latin typeface="Calibri" pitchFamily="34" charset="0"/>
                <a:ea typeface="Calibri" pitchFamily="34" charset="-122"/>
                <a:cs typeface="Calibri" pitchFamily="34" charset="-120"/>
              </a:rPr>
              <a:t>API</a:t>
            </a:r>
            <a:endParaRPr lang="en-US" sz="850" dirty="0"/>
          </a:p>
        </p:txBody>
      </p:sp>
      <p:sp>
        <p:nvSpPr>
          <p:cNvPr id="36" name="Text 29"/>
          <p:cNvSpPr txBox="1"/>
          <p:nvPr/>
        </p:nvSpPr>
        <p:spPr>
          <a:xfrm>
            <a:off x="694944" y="4828032"/>
            <a:ext cx="2371268" cy="438912"/>
          </a:xfrm>
          <a:prstGeom prst="rect">
            <a:avLst/>
          </a:prstGeom>
          <a:noFill/>
          <a:ln/>
        </p:spPr>
        <p:txBody>
          <a:bodyPr wrap="square" lIns="0" tIns="0" rIns="0" bIns="0" rtlCol="0" anchor="t"/>
          <a:lstStyle/>
          <a:p>
            <a:pPr indent="0" marL="0">
              <a:lnSpc>
                <a:spcPct val="110000"/>
              </a:lnSpc>
              <a:buNone/>
            </a:pPr>
            <a:r>
              <a:rPr lang="en-US" sz="1000" dirty="0">
                <a:solidFill>
                  <a:srgbClr val="C3C2B7"/>
                </a:solidFill>
                <a:latin typeface="Calibri" pitchFamily="34" charset="0"/>
                <a:ea typeface="Calibri" pitchFamily="34" charset="-122"/>
                <a:cs typeface="Calibri" pitchFamily="34" charset="-120"/>
              </a:rPr>
              <a:t>Node + Express, ES modules, no build step</a:t>
            </a:r>
            <a:endParaRPr lang="en-US" sz="1000" dirty="0"/>
          </a:p>
        </p:txBody>
      </p:sp>
      <p:sp>
        <p:nvSpPr>
          <p:cNvPr id="37" name="Shape 30"/>
          <p:cNvSpPr/>
          <p:nvPr/>
        </p:nvSpPr>
        <p:spPr>
          <a:xfrm>
            <a:off x="3358820" y="4498848"/>
            <a:ext cx="2663876" cy="841248"/>
          </a:xfrm>
          <a:prstGeom prst="roundRect">
            <a:avLst>
              <a:gd name="adj" fmla="val 9783"/>
            </a:avLst>
          </a:prstGeom>
          <a:solidFill>
            <a:srgbClr val="1A1F28"/>
          </a:solidFill>
          <a:ln w="12700">
            <a:solidFill>
              <a:srgbClr val="2B323F"/>
            </a:solidFill>
            <a:prstDash val="solid"/>
          </a:ln>
        </p:spPr>
      </p:sp>
      <p:sp>
        <p:nvSpPr>
          <p:cNvPr id="38" name="Text 31"/>
          <p:cNvSpPr txBox="1"/>
          <p:nvPr/>
        </p:nvSpPr>
        <p:spPr>
          <a:xfrm>
            <a:off x="3505124" y="4608576"/>
            <a:ext cx="2371268" cy="182880"/>
          </a:xfrm>
          <a:prstGeom prst="rect">
            <a:avLst/>
          </a:prstGeom>
          <a:noFill/>
          <a:ln/>
        </p:spPr>
        <p:txBody>
          <a:bodyPr wrap="square" lIns="0" tIns="0" rIns="0" bIns="0" rtlCol="0" anchor="ctr"/>
          <a:lstStyle/>
          <a:p>
            <a:pPr indent="0" marL="0">
              <a:buNone/>
            </a:pPr>
            <a:r>
              <a:rPr lang="en-US" sz="850" b="1" spc="110" kern="0" dirty="0">
                <a:solidFill>
                  <a:srgbClr val="3987E5"/>
                </a:solidFill>
                <a:latin typeface="Calibri" pitchFamily="34" charset="0"/>
                <a:ea typeface="Calibri" pitchFamily="34" charset="-122"/>
                <a:cs typeface="Calibri" pitchFamily="34" charset="-120"/>
              </a:rPr>
              <a:t>ENGINES</a:t>
            </a:r>
            <a:endParaRPr lang="en-US" sz="850" dirty="0"/>
          </a:p>
        </p:txBody>
      </p:sp>
      <p:sp>
        <p:nvSpPr>
          <p:cNvPr id="39" name="Text 32"/>
          <p:cNvSpPr txBox="1"/>
          <p:nvPr/>
        </p:nvSpPr>
        <p:spPr>
          <a:xfrm>
            <a:off x="3505124" y="4828032"/>
            <a:ext cx="2371268" cy="438912"/>
          </a:xfrm>
          <a:prstGeom prst="rect">
            <a:avLst/>
          </a:prstGeom>
          <a:noFill/>
          <a:ln/>
        </p:spPr>
        <p:txBody>
          <a:bodyPr wrap="square" lIns="0" tIns="0" rIns="0" bIns="0" rtlCol="0" anchor="t"/>
          <a:lstStyle/>
          <a:p>
            <a:pPr indent="0" marL="0">
              <a:lnSpc>
                <a:spcPct val="110000"/>
              </a:lnSpc>
              <a:buNone/>
            </a:pPr>
            <a:r>
              <a:rPr lang="en-US" sz="1000" dirty="0">
                <a:solidFill>
                  <a:srgbClr val="C3C2B7"/>
                </a:solidFill>
                <a:latin typeface="Calibri" pitchFamily="34" charset="0"/>
                <a:ea typeface="Calibri" pitchFamily="34" charset="-122"/>
                <a:cs typeface="Calibri" pitchFamily="34" charset="-120"/>
              </a:rPr>
              <a:t>Dependency-free: graph, routing, risk, accessibility</a:t>
            </a:r>
            <a:endParaRPr lang="en-US" sz="1000" dirty="0"/>
          </a:p>
        </p:txBody>
      </p:sp>
      <p:sp>
        <p:nvSpPr>
          <p:cNvPr id="40" name="Shape 33"/>
          <p:cNvSpPr/>
          <p:nvPr/>
        </p:nvSpPr>
        <p:spPr>
          <a:xfrm>
            <a:off x="6169000" y="4498848"/>
            <a:ext cx="2663876" cy="841248"/>
          </a:xfrm>
          <a:prstGeom prst="roundRect">
            <a:avLst>
              <a:gd name="adj" fmla="val 9783"/>
            </a:avLst>
          </a:prstGeom>
          <a:solidFill>
            <a:srgbClr val="1A1F28"/>
          </a:solidFill>
          <a:ln w="12700">
            <a:solidFill>
              <a:srgbClr val="2B323F"/>
            </a:solidFill>
            <a:prstDash val="solid"/>
          </a:ln>
        </p:spPr>
      </p:sp>
      <p:sp>
        <p:nvSpPr>
          <p:cNvPr id="41" name="Text 34"/>
          <p:cNvSpPr txBox="1"/>
          <p:nvPr/>
        </p:nvSpPr>
        <p:spPr>
          <a:xfrm>
            <a:off x="6315304" y="4608576"/>
            <a:ext cx="2371268" cy="182880"/>
          </a:xfrm>
          <a:prstGeom prst="rect">
            <a:avLst/>
          </a:prstGeom>
          <a:noFill/>
          <a:ln/>
        </p:spPr>
        <p:txBody>
          <a:bodyPr wrap="square" lIns="0" tIns="0" rIns="0" bIns="0" rtlCol="0" anchor="ctr"/>
          <a:lstStyle/>
          <a:p>
            <a:pPr indent="0" marL="0">
              <a:buNone/>
            </a:pPr>
            <a:r>
              <a:rPr lang="en-US" sz="850" b="1" spc="110" kern="0" dirty="0">
                <a:solidFill>
                  <a:srgbClr val="3987E5"/>
                </a:solidFill>
                <a:latin typeface="Calibri" pitchFamily="34" charset="0"/>
                <a:ea typeface="Calibri" pitchFamily="34" charset="-122"/>
                <a:cs typeface="Calibri" pitchFamily="34" charset="-120"/>
              </a:rPr>
              <a:t>WEB</a:t>
            </a:r>
            <a:endParaRPr lang="en-US" sz="850" dirty="0"/>
          </a:p>
        </p:txBody>
      </p:sp>
      <p:sp>
        <p:nvSpPr>
          <p:cNvPr id="42" name="Text 35"/>
          <p:cNvSpPr txBox="1"/>
          <p:nvPr/>
        </p:nvSpPr>
        <p:spPr>
          <a:xfrm>
            <a:off x="6315304" y="4828032"/>
            <a:ext cx="2371268" cy="438912"/>
          </a:xfrm>
          <a:prstGeom prst="rect">
            <a:avLst/>
          </a:prstGeom>
          <a:noFill/>
          <a:ln/>
        </p:spPr>
        <p:txBody>
          <a:bodyPr wrap="square" lIns="0" tIns="0" rIns="0" bIns="0" rtlCol="0" anchor="t"/>
          <a:lstStyle/>
          <a:p>
            <a:pPr indent="0" marL="0">
              <a:lnSpc>
                <a:spcPct val="110000"/>
              </a:lnSpc>
              <a:buNone/>
            </a:pPr>
            <a:r>
              <a:rPr lang="en-US" sz="1000" dirty="0">
                <a:solidFill>
                  <a:srgbClr val="C3C2B7"/>
                </a:solidFill>
                <a:latin typeface="Calibri" pitchFamily="34" charset="0"/>
                <a:ea typeface="Calibri" pitchFamily="34" charset="-122"/>
                <a:cs typeface="Calibri" pitchFamily="34" charset="-120"/>
              </a:rPr>
              <a:t>React 18 + TypeScript + Vite + Tailwind v4</a:t>
            </a:r>
            <a:endParaRPr lang="en-US" sz="1000" dirty="0"/>
          </a:p>
        </p:txBody>
      </p:sp>
      <p:sp>
        <p:nvSpPr>
          <p:cNvPr id="43" name="Shape 36"/>
          <p:cNvSpPr/>
          <p:nvPr/>
        </p:nvSpPr>
        <p:spPr>
          <a:xfrm>
            <a:off x="8979179" y="4498848"/>
            <a:ext cx="2663876" cy="841248"/>
          </a:xfrm>
          <a:prstGeom prst="roundRect">
            <a:avLst>
              <a:gd name="adj" fmla="val 9783"/>
            </a:avLst>
          </a:prstGeom>
          <a:solidFill>
            <a:srgbClr val="1A1F28"/>
          </a:solidFill>
          <a:ln w="12700">
            <a:solidFill>
              <a:srgbClr val="2B323F"/>
            </a:solidFill>
            <a:prstDash val="solid"/>
          </a:ln>
        </p:spPr>
      </p:sp>
      <p:sp>
        <p:nvSpPr>
          <p:cNvPr id="44" name="Text 37"/>
          <p:cNvSpPr txBox="1"/>
          <p:nvPr/>
        </p:nvSpPr>
        <p:spPr>
          <a:xfrm>
            <a:off x="9125483" y="4608576"/>
            <a:ext cx="2371268" cy="182880"/>
          </a:xfrm>
          <a:prstGeom prst="rect">
            <a:avLst/>
          </a:prstGeom>
          <a:noFill/>
          <a:ln/>
        </p:spPr>
        <p:txBody>
          <a:bodyPr wrap="square" lIns="0" tIns="0" rIns="0" bIns="0" rtlCol="0" anchor="ctr"/>
          <a:lstStyle/>
          <a:p>
            <a:pPr indent="0" marL="0">
              <a:buNone/>
            </a:pPr>
            <a:r>
              <a:rPr lang="en-US" sz="850" b="1" spc="110" kern="0" dirty="0">
                <a:solidFill>
                  <a:srgbClr val="3987E5"/>
                </a:solidFill>
                <a:latin typeface="Calibri" pitchFamily="34" charset="0"/>
                <a:ea typeface="Calibri" pitchFamily="34" charset="-122"/>
                <a:cs typeface="Calibri" pitchFamily="34" charset="-120"/>
              </a:rPr>
              <a:t>MAP &amp; CHARTS</a:t>
            </a:r>
            <a:endParaRPr lang="en-US" sz="850" dirty="0"/>
          </a:p>
        </p:txBody>
      </p:sp>
      <p:sp>
        <p:nvSpPr>
          <p:cNvPr id="45" name="Text 38"/>
          <p:cNvSpPr txBox="1"/>
          <p:nvPr/>
        </p:nvSpPr>
        <p:spPr>
          <a:xfrm>
            <a:off x="9125483" y="4828032"/>
            <a:ext cx="2371268" cy="438912"/>
          </a:xfrm>
          <a:prstGeom prst="rect">
            <a:avLst/>
          </a:prstGeom>
          <a:noFill/>
          <a:ln/>
        </p:spPr>
        <p:txBody>
          <a:bodyPr wrap="square" lIns="0" tIns="0" rIns="0" bIns="0" rtlCol="0" anchor="t"/>
          <a:lstStyle/>
          <a:p>
            <a:pPr indent="0" marL="0">
              <a:lnSpc>
                <a:spcPct val="110000"/>
              </a:lnSpc>
              <a:buNone/>
            </a:pPr>
            <a:r>
              <a:rPr lang="en-US" sz="1000" dirty="0">
                <a:solidFill>
                  <a:srgbClr val="C3C2B7"/>
                </a:solidFill>
                <a:latin typeface="Calibri" pitchFamily="34" charset="0"/>
                <a:ea typeface="Calibri" pitchFamily="34" charset="-122"/>
                <a:cs typeface="Calibri" pitchFamily="34" charset="-120"/>
              </a:rPr>
              <a:t>Leaflet / OpenStreetMap, Recharts</a:t>
            </a:r>
            <a:endParaRPr lang="en-US" sz="1000" dirty="0"/>
          </a:p>
        </p:txBody>
      </p:sp>
      <p:sp>
        <p:nvSpPr>
          <p:cNvPr id="46" name="Text 39"/>
          <p:cNvSpPr txBox="1"/>
          <p:nvPr/>
        </p:nvSpPr>
        <p:spPr>
          <a:xfrm>
            <a:off x="548640" y="5541264"/>
            <a:ext cx="11094415" cy="329184"/>
          </a:xfrm>
          <a:prstGeom prst="rect">
            <a:avLst/>
          </a:prstGeom>
          <a:noFill/>
          <a:ln/>
        </p:spPr>
        <p:txBody>
          <a:bodyPr wrap="square" lIns="0" tIns="0" rIns="0" bIns="0" rtlCol="0" anchor="ctr"/>
          <a:lstStyle/>
          <a:p>
            <a:pPr indent="0" marL="0">
              <a:buNone/>
            </a:pPr>
            <a:r>
              <a:rPr lang="en-US" sz="1100" i="1" dirty="0">
                <a:solidFill>
                  <a:srgbClr val="8A93A3"/>
                </a:solidFill>
                <a:latin typeface="Calibri" pitchFamily="34" charset="0"/>
                <a:ea typeface="Calibri" pitchFamily="34" charset="-122"/>
                <a:cs typeface="Calibri" pitchFamily="34" charset="-120"/>
              </a:rPr>
              <a:t>No API keys, no database, no external service beyond the free Open-Meteo forecast API - and the platform degrades to monsoon climatology when that is unreachable, so it runs fully offline.</a:t>
            </a:r>
            <a:endParaRPr lang="en-US" sz="1100" dirty="0"/>
          </a:p>
        </p:txBody>
      </p:sp>
      <p:sp>
        <p:nvSpPr>
          <p:cNvPr id="47" name="Text 40"/>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48" name="Text 41"/>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ENGINE  ·  01</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Routing: a graph that knows what a terminal is</a:t>
            </a:r>
            <a:endParaRPr lang="en-US" sz="3000" dirty="0"/>
          </a:p>
        </p:txBody>
      </p:sp>
      <p:sp>
        <p:nvSpPr>
          <p:cNvPr id="4" name="Shape 2"/>
          <p:cNvSpPr/>
          <p:nvPr/>
        </p:nvSpPr>
        <p:spPr>
          <a:xfrm>
            <a:off x="548640" y="1298448"/>
            <a:ext cx="5806440" cy="2212848"/>
          </a:xfrm>
          <a:prstGeom prst="roundRect">
            <a:avLst>
              <a:gd name="adj" fmla="val 3719"/>
            </a:avLst>
          </a:prstGeom>
          <a:solidFill>
            <a:srgbClr val="1A1F28"/>
          </a:solidFill>
          <a:ln w="12700">
            <a:solidFill>
              <a:srgbClr val="2B323F"/>
            </a:solidFill>
            <a:prstDash val="solid"/>
          </a:ln>
        </p:spPr>
      </p:sp>
      <p:sp>
        <p:nvSpPr>
          <p:cNvPr id="5" name="Shape 3"/>
          <p:cNvSpPr/>
          <p:nvPr/>
        </p:nvSpPr>
        <p:spPr>
          <a:xfrm>
            <a:off x="768096" y="1499616"/>
            <a:ext cx="402336" cy="402336"/>
          </a:xfrm>
          <a:prstGeom prst="ellipse">
            <a:avLst/>
          </a:prstGeom>
          <a:solidFill>
            <a:srgbClr val="1E2937"/>
          </a:solidFill>
          <a:ln w="12700">
            <a:solidFill>
              <a:srgbClr val="3987E5"/>
            </a:solidFill>
            <a:prstDash val="solid"/>
          </a:ln>
        </p:spPr>
      </p:sp>
      <p:pic>
        <p:nvPicPr>
          <p:cNvPr id="6" name="Image 0" descr="preencoded.png">    </p:cNvPr>
          <p:cNvPicPr>
            <a:picLocks noChangeAspect="1"/>
          </p:cNvPicPr>
          <p:nvPr/>
        </p:nvPicPr>
        <p:blipFill>
          <a:blip r:embed="rId1"/>
          <a:stretch>
            <a:fillRect/>
          </a:stretch>
        </p:blipFill>
        <p:spPr>
          <a:xfrm>
            <a:off x="880750" y="1612270"/>
            <a:ext cx="177028" cy="177028"/>
          </a:xfrm>
          <a:prstGeom prst="rect">
            <a:avLst/>
          </a:prstGeom>
        </p:spPr>
      </p:pic>
      <p:sp>
        <p:nvSpPr>
          <p:cNvPr id="7" name="Text 4"/>
          <p:cNvSpPr txBox="1"/>
          <p:nvPr/>
        </p:nvSpPr>
        <p:spPr>
          <a:xfrm>
            <a:off x="1280160" y="1572768"/>
            <a:ext cx="493776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The (settlement, mode) expansion</a:t>
            </a:r>
            <a:endParaRPr lang="en-US" sz="1350" dirty="0"/>
          </a:p>
        </p:txBody>
      </p:sp>
      <p:sp>
        <p:nvSpPr>
          <p:cNvPr id="8" name="Text 5"/>
          <p:cNvSpPr txBox="1"/>
          <p:nvPr/>
        </p:nvSpPr>
        <p:spPr>
          <a:xfrm>
            <a:off x="768096" y="2048256"/>
            <a:ext cx="5394960" cy="1316736"/>
          </a:xfrm>
          <a:prstGeom prst="rect">
            <a:avLst/>
          </a:prstGeom>
          <a:noFill/>
          <a:ln/>
        </p:spPr>
        <p:txBody>
          <a:bodyPr wrap="square" lIns="0" tIns="0" rIns="0" bIns="0" rtlCol="0" anchor="t"/>
          <a:lstStyle/>
          <a:p>
            <a:pPr indent="0" marL="0">
              <a:lnSpc>
                <a:spcPct val="120000"/>
              </a:lnSpc>
              <a:buNone/>
            </a:pPr>
            <a:r>
              <a:rPr lang="en-US" sz="1100" dirty="0">
                <a:solidFill>
                  <a:srgbClr val="C3C2B7"/>
                </a:solidFill>
                <a:latin typeface="Calibri" pitchFamily="34" charset="0"/>
                <a:ea typeface="Calibri" pitchFamily="34" charset="-122"/>
                <a:cs typeface="Calibri" pitchFamily="34" charset="-120"/>
              </a:rPr>
              <a:t>A plain node-to-node graph cannot express transshipment. Switching road to rail at Dimapur costs four hours and a handling fee, and is only possible because Dimapur actually has a rail terminal. So the search space is expanded to (settlement, mode) pairs, and moving between two modes at one place is an explicit transfer arc that exists only where both terminals do.</a:t>
            </a:r>
            <a:endParaRPr lang="en-US" sz="1100" dirty="0"/>
          </a:p>
        </p:txBody>
      </p:sp>
      <p:sp>
        <p:nvSpPr>
          <p:cNvPr id="9" name="Shape 6"/>
          <p:cNvSpPr/>
          <p:nvPr/>
        </p:nvSpPr>
        <p:spPr>
          <a:xfrm>
            <a:off x="6537960" y="1298448"/>
            <a:ext cx="5105095" cy="2212848"/>
          </a:xfrm>
          <a:prstGeom prst="roundRect">
            <a:avLst>
              <a:gd name="adj" fmla="val 3719"/>
            </a:avLst>
          </a:prstGeom>
          <a:solidFill>
            <a:srgbClr val="1A1F28"/>
          </a:solidFill>
          <a:ln w="12700">
            <a:solidFill>
              <a:srgbClr val="2B323F"/>
            </a:solidFill>
            <a:prstDash val="solid"/>
          </a:ln>
        </p:spPr>
      </p:sp>
      <p:sp>
        <p:nvSpPr>
          <p:cNvPr id="10" name="Shape 7"/>
          <p:cNvSpPr/>
          <p:nvPr/>
        </p:nvSpPr>
        <p:spPr>
          <a:xfrm>
            <a:off x="6757416" y="1499616"/>
            <a:ext cx="402336" cy="402336"/>
          </a:xfrm>
          <a:prstGeom prst="ellipse">
            <a:avLst/>
          </a:prstGeom>
          <a:solidFill>
            <a:srgbClr val="1E2937"/>
          </a:solidFill>
          <a:ln w="12700">
            <a:solidFill>
              <a:srgbClr val="9085E9"/>
            </a:solidFill>
            <a:prstDash val="solid"/>
          </a:ln>
        </p:spPr>
      </p:sp>
      <p:pic>
        <p:nvPicPr>
          <p:cNvPr id="11" name="Image 1" descr="preencoded.png">    </p:cNvPr>
          <p:cNvPicPr>
            <a:picLocks noChangeAspect="1"/>
          </p:cNvPicPr>
          <p:nvPr/>
        </p:nvPicPr>
        <p:blipFill>
          <a:blip r:embed="rId2"/>
          <a:stretch>
            <a:fillRect/>
          </a:stretch>
        </p:blipFill>
        <p:spPr>
          <a:xfrm>
            <a:off x="6870070" y="1612270"/>
            <a:ext cx="177028" cy="177028"/>
          </a:xfrm>
          <a:prstGeom prst="rect">
            <a:avLst/>
          </a:prstGeom>
        </p:spPr>
      </p:pic>
      <p:sp>
        <p:nvSpPr>
          <p:cNvPr id="12" name="Text 8"/>
          <p:cNvSpPr txBox="1"/>
          <p:nvPr/>
        </p:nvSpPr>
        <p:spPr>
          <a:xfrm>
            <a:off x="7269480" y="1572768"/>
            <a:ext cx="402336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One objective, five terms</a:t>
            </a:r>
            <a:endParaRPr lang="en-US" sz="1350" dirty="0"/>
          </a:p>
        </p:txBody>
      </p:sp>
      <p:sp>
        <p:nvSpPr>
          <p:cNvPr id="13" name="Text 9"/>
          <p:cNvSpPr txBox="1"/>
          <p:nvPr/>
        </p:nvSpPr>
        <p:spPr>
          <a:xfrm>
            <a:off x="6757416" y="2048256"/>
            <a:ext cx="5120640" cy="566928"/>
          </a:xfrm>
          <a:prstGeom prst="rect">
            <a:avLst/>
          </a:prstGeom>
          <a:noFill/>
          <a:ln/>
        </p:spPr>
        <p:txBody>
          <a:bodyPr wrap="square" lIns="0" tIns="0" rIns="0" bIns="0" rtlCol="0" anchor="t"/>
          <a:lstStyle/>
          <a:p>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cost  =  w</a:t>
            </a:r>
            <a:pPr indent="0" marL="0">
              <a:lnSpc>
                <a:spcPct val="130000"/>
              </a:lnSpc>
              <a:buNone/>
            </a:pPr>
            <a:r>
              <a:rPr lang="en-US" sz="800" dirty="0">
                <a:solidFill>
                  <a:srgbClr val="3987E5"/>
                </a:solidFill>
                <a:latin typeface="Courier New" pitchFamily="34" charset="0"/>
                <a:ea typeface="Courier New" pitchFamily="34" charset="-122"/>
                <a:cs typeface="Courier New" pitchFamily="34" charset="-120"/>
              </a:rPr>
              <a:t>time</a:t>
            </a:r>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·time + w</a:t>
            </a:r>
            <a:pPr indent="0" marL="0">
              <a:lnSpc>
                <a:spcPct val="130000"/>
              </a:lnSpc>
              <a:buNone/>
            </a:pPr>
            <a:r>
              <a:rPr lang="en-US" sz="800" dirty="0">
                <a:solidFill>
                  <a:srgbClr val="3987E5"/>
                </a:solidFill>
                <a:latin typeface="Courier New" pitchFamily="34" charset="0"/>
                <a:ea typeface="Courier New" pitchFamily="34" charset="-122"/>
                <a:cs typeface="Courier New" pitchFamily="34" charset="-120"/>
              </a:rPr>
              <a:t>money</a:t>
            </a:r>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·cost + w</a:t>
            </a:r>
            <a:pPr indent="0" marL="0">
              <a:lnSpc>
                <a:spcPct val="130000"/>
              </a:lnSpc>
              <a:buNone/>
            </a:pPr>
            <a:r>
              <a:rPr lang="en-US" sz="800" dirty="0">
                <a:solidFill>
                  <a:srgbClr val="3987E5"/>
                </a:solidFill>
                <a:latin typeface="Courier New" pitchFamily="34" charset="0"/>
                <a:ea typeface="Courier New" pitchFamily="34" charset="-122"/>
                <a:cs typeface="Courier New" pitchFamily="34" charset="-120"/>
              </a:rPr>
              <a:t>risk</a:t>
            </a:r>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·(-ln(1-p))</a:t>
            </a:r>
            <a:pPr indent="0" marL="0">
              <a:lnSpc>
                <a:spcPct val="130000"/>
              </a:lnSpc>
              <a:buNone/>
            </a:pPr>
            <a:endParaRPr lang="en-US" sz="1050" dirty="0"/>
          </a:p>
          <a:p>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            + w</a:t>
            </a:r>
            <a:endParaRPr lang="en-US" sz="1050" dirty="0"/>
          </a:p>
          <a:p>
            <a:pPr indent="0" marL="0">
              <a:lnSpc>
                <a:spcPct val="130000"/>
              </a:lnSpc>
              <a:buNone/>
            </a:pPr>
            <a:r>
              <a:rPr lang="en-US" sz="800" dirty="0">
                <a:solidFill>
                  <a:srgbClr val="3987E5"/>
                </a:solidFill>
                <a:latin typeface="Courier New" pitchFamily="34" charset="0"/>
                <a:ea typeface="Courier New" pitchFamily="34" charset="-122"/>
                <a:cs typeface="Courier New" pitchFamily="34" charset="-120"/>
              </a:rPr>
              <a:t>co2</a:t>
            </a:r>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·emissions + w</a:t>
            </a:r>
            <a:pPr indent="0" marL="0">
              <a:lnSpc>
                <a:spcPct val="130000"/>
              </a:lnSpc>
              <a:buNone/>
            </a:pPr>
            <a:r>
              <a:rPr lang="en-US" sz="800" dirty="0">
                <a:solidFill>
                  <a:srgbClr val="3987E5"/>
                </a:solidFill>
                <a:latin typeface="Courier New" pitchFamily="34" charset="0"/>
                <a:ea typeface="Courier New" pitchFamily="34" charset="-122"/>
                <a:cs typeface="Courier New" pitchFamily="34" charset="-120"/>
              </a:rPr>
              <a:t>access</a:t>
            </a:r>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·deficit</a:t>
            </a:r>
            <a:endParaRPr lang="en-US" sz="1050" dirty="0"/>
          </a:p>
        </p:txBody>
      </p:sp>
      <p:sp>
        <p:nvSpPr>
          <p:cNvPr id="14" name="Text 10"/>
          <p:cNvSpPr txBox="1"/>
          <p:nvPr/>
        </p:nvSpPr>
        <p:spPr>
          <a:xfrm>
            <a:off x="6757416" y="2688336"/>
            <a:ext cx="5120640" cy="749808"/>
          </a:xfrm>
          <a:prstGeom prst="rect">
            <a:avLst/>
          </a:prstGeom>
          <a:noFill/>
          <a:ln/>
        </p:spPr>
        <p:txBody>
          <a:bodyPr wrap="square" lIns="0" tIns="0" rIns="0" bIns="0" rtlCol="0" anchor="t"/>
          <a:lstStyle/>
          <a:p>
            <a:pPr indent="0" marL="0">
              <a:lnSpc>
                <a:spcPct val="118000"/>
              </a:lnSpc>
              <a:buNone/>
            </a:pPr>
            <a:r>
              <a:rPr lang="en-US" sz="1050" dirty="0">
                <a:solidFill>
                  <a:srgbClr val="C3C2B7"/>
                </a:solidFill>
                <a:latin typeface="Calibri" pitchFamily="34" charset="0"/>
                <a:ea typeface="Calibri" pitchFamily="34" charset="-122"/>
                <a:cs typeface="Calibri" pitchFamily="34" charset="-120"/>
              </a:rPr>
              <a:t>Reliability enters as -ln(1-p) because that is the only additive form whose path total corresponds to the real quantity: the probability the whole routing survives is the product of its links' survival probabilities. Terms are normalised to a typical NER movement so no term silently dominates.</a:t>
            </a:r>
            <a:endParaRPr lang="en-US" sz="1050" dirty="0"/>
          </a:p>
        </p:txBody>
      </p:sp>
      <p:sp>
        <p:nvSpPr>
          <p:cNvPr id="15" name="Text 11"/>
          <p:cNvSpPr txBox="1"/>
          <p:nvPr/>
        </p:nvSpPr>
        <p:spPr>
          <a:xfrm>
            <a:off x="548640" y="3712464"/>
            <a:ext cx="11094415"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Three design decisions that made the answers correct</a:t>
            </a:r>
            <a:endParaRPr lang="en-US" sz="1500" dirty="0"/>
          </a:p>
        </p:txBody>
      </p:sp>
      <p:sp>
        <p:nvSpPr>
          <p:cNvPr id="16" name="Shape 12"/>
          <p:cNvSpPr/>
          <p:nvPr/>
        </p:nvSpPr>
        <p:spPr>
          <a:xfrm>
            <a:off x="548640" y="4078224"/>
            <a:ext cx="3588410" cy="1572768"/>
          </a:xfrm>
          <a:prstGeom prst="roundRect">
            <a:avLst>
              <a:gd name="adj" fmla="val 5233"/>
            </a:avLst>
          </a:prstGeom>
          <a:solidFill>
            <a:srgbClr val="1A1F28"/>
          </a:solidFill>
          <a:ln w="12700">
            <a:solidFill>
              <a:srgbClr val="2B323F"/>
            </a:solidFill>
            <a:prstDash val="solid"/>
          </a:ln>
        </p:spPr>
      </p:sp>
      <p:sp>
        <p:nvSpPr>
          <p:cNvPr id="17" name="Shape 13"/>
          <p:cNvSpPr/>
          <p:nvPr/>
        </p:nvSpPr>
        <p:spPr>
          <a:xfrm>
            <a:off x="749808" y="4279392"/>
            <a:ext cx="182880" cy="182880"/>
          </a:xfrm>
          <a:prstGeom prst="ellipse">
            <a:avLst/>
          </a:prstGeom>
          <a:solidFill>
            <a:srgbClr val="3987E5"/>
          </a:solidFill>
          <a:ln/>
        </p:spPr>
      </p:sp>
      <p:sp>
        <p:nvSpPr>
          <p:cNvPr id="18" name="Text 14"/>
          <p:cNvSpPr txBox="1"/>
          <p:nvPr/>
        </p:nvSpPr>
        <p:spPr>
          <a:xfrm>
            <a:off x="1024128" y="4251960"/>
            <a:ext cx="2911754"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Yen's k-shortest-paths</a:t>
            </a:r>
            <a:endParaRPr lang="en-US" sz="1200" dirty="0"/>
          </a:p>
        </p:txBody>
      </p:sp>
      <p:sp>
        <p:nvSpPr>
          <p:cNvPr id="19" name="Text 15"/>
          <p:cNvSpPr txBox="1"/>
          <p:nvPr/>
        </p:nvSpPr>
        <p:spPr>
          <a:xfrm>
            <a:off x="749808" y="4590288"/>
            <a:ext cx="3186074" cy="932688"/>
          </a:xfrm>
          <a:prstGeom prst="rect">
            <a:avLst/>
          </a:prstGeom>
          <a:noFill/>
          <a:ln/>
        </p:spPr>
        <p:txBody>
          <a:bodyPr wrap="square" lIns="0" tIns="0" rIns="0" bIns="0" rtlCol="0" anchor="t"/>
          <a:lstStyle/>
          <a:p>
            <a:pPr indent="0" marL="0">
              <a:lnSpc>
                <a:spcPct val="116000"/>
              </a:lnSpc>
              <a:buNone/>
            </a:pPr>
            <a:r>
              <a:rPr lang="en-US" sz="1030" dirty="0">
                <a:solidFill>
                  <a:srgbClr val="C3C2B7"/>
                </a:solidFill>
                <a:latin typeface="Calibri" pitchFamily="34" charset="0"/>
                <a:ea typeface="Calibri" pitchFamily="34" charset="-122"/>
                <a:cs typeface="Calibri" pitchFamily="34" charset="-120"/>
              </a:rPr>
              <a:t>Produces genuinely different alternatives - a rail routing, a drier road routing - instead of three cosmetic variants of one corridor.</a:t>
            </a:r>
            <a:endParaRPr lang="en-US" sz="1030" dirty="0"/>
          </a:p>
        </p:txBody>
      </p:sp>
      <p:sp>
        <p:nvSpPr>
          <p:cNvPr id="20" name="Shape 16"/>
          <p:cNvSpPr/>
          <p:nvPr/>
        </p:nvSpPr>
        <p:spPr>
          <a:xfrm>
            <a:off x="4301642" y="4078224"/>
            <a:ext cx="3588410" cy="1572768"/>
          </a:xfrm>
          <a:prstGeom prst="roundRect">
            <a:avLst>
              <a:gd name="adj" fmla="val 5233"/>
            </a:avLst>
          </a:prstGeom>
          <a:solidFill>
            <a:srgbClr val="1A1F28"/>
          </a:solidFill>
          <a:ln w="12700">
            <a:solidFill>
              <a:srgbClr val="2B323F"/>
            </a:solidFill>
            <a:prstDash val="solid"/>
          </a:ln>
        </p:spPr>
      </p:sp>
      <p:sp>
        <p:nvSpPr>
          <p:cNvPr id="21" name="Shape 17"/>
          <p:cNvSpPr/>
          <p:nvPr/>
        </p:nvSpPr>
        <p:spPr>
          <a:xfrm>
            <a:off x="4502810" y="4279392"/>
            <a:ext cx="182880" cy="182880"/>
          </a:xfrm>
          <a:prstGeom prst="ellipse">
            <a:avLst/>
          </a:prstGeom>
          <a:solidFill>
            <a:srgbClr val="FAB219"/>
          </a:solidFill>
          <a:ln/>
        </p:spPr>
      </p:sp>
      <p:sp>
        <p:nvSpPr>
          <p:cNvPr id="22" name="Text 18"/>
          <p:cNvSpPr txBox="1"/>
          <p:nvPr/>
        </p:nvSpPr>
        <p:spPr>
          <a:xfrm>
            <a:off x="4777130" y="4251960"/>
            <a:ext cx="2911754"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Node-revisit rejection</a:t>
            </a:r>
            <a:endParaRPr lang="en-US" sz="1200" dirty="0"/>
          </a:p>
        </p:txBody>
      </p:sp>
      <p:sp>
        <p:nvSpPr>
          <p:cNvPr id="23" name="Text 19"/>
          <p:cNvSpPr txBox="1"/>
          <p:nvPr/>
        </p:nvSpPr>
        <p:spPr>
          <a:xfrm>
            <a:off x="4502810" y="4590288"/>
            <a:ext cx="3186074" cy="932688"/>
          </a:xfrm>
          <a:prstGeom prst="rect">
            <a:avLst/>
          </a:prstGeom>
          <a:noFill/>
          <a:ln/>
        </p:spPr>
        <p:txBody>
          <a:bodyPr wrap="square" lIns="0" tIns="0" rIns="0" bIns="0" rtlCol="0" anchor="t"/>
          <a:lstStyle/>
          <a:p>
            <a:pPr indent="0" marL="0">
              <a:lnSpc>
                <a:spcPct val="116000"/>
              </a:lnSpc>
              <a:buNone/>
            </a:pPr>
            <a:r>
              <a:rPr lang="en-US" sz="1030" dirty="0">
                <a:solidFill>
                  <a:srgbClr val="C3C2B7"/>
                </a:solidFill>
                <a:latin typeface="Calibri" pitchFamily="34" charset="0"/>
                <a:ea typeface="Calibri" pitchFamily="34" charset="-122"/>
                <a:cs typeface="Calibri" pitchFamily="34" charset="-120"/>
              </a:rPr>
              <a:t>Yen is loopless over the expanded graph, so it can legally return "drive Guwahati to Shillong, then fly back through Guwahati". Those paths are rejected.</a:t>
            </a:r>
            <a:endParaRPr lang="en-US" sz="1030" dirty="0"/>
          </a:p>
        </p:txBody>
      </p:sp>
      <p:sp>
        <p:nvSpPr>
          <p:cNvPr id="24" name="Shape 20"/>
          <p:cNvSpPr/>
          <p:nvPr/>
        </p:nvSpPr>
        <p:spPr>
          <a:xfrm>
            <a:off x="8054645" y="4078224"/>
            <a:ext cx="3588410" cy="1572768"/>
          </a:xfrm>
          <a:prstGeom prst="roundRect">
            <a:avLst>
              <a:gd name="adj" fmla="val 5233"/>
            </a:avLst>
          </a:prstGeom>
          <a:solidFill>
            <a:srgbClr val="1A1F28"/>
          </a:solidFill>
          <a:ln w="12700">
            <a:solidFill>
              <a:srgbClr val="2B323F"/>
            </a:solidFill>
            <a:prstDash val="solid"/>
          </a:ln>
        </p:spPr>
      </p:sp>
      <p:sp>
        <p:nvSpPr>
          <p:cNvPr id="25" name="Shape 21"/>
          <p:cNvSpPr/>
          <p:nvPr/>
        </p:nvSpPr>
        <p:spPr>
          <a:xfrm>
            <a:off x="8255813" y="4279392"/>
            <a:ext cx="182880" cy="182880"/>
          </a:xfrm>
          <a:prstGeom prst="ellipse">
            <a:avLst/>
          </a:prstGeom>
          <a:solidFill>
            <a:srgbClr val="D03B3B"/>
          </a:solidFill>
          <a:ln/>
        </p:spPr>
      </p:sp>
      <p:sp>
        <p:nvSpPr>
          <p:cNvPr id="26" name="Text 22"/>
          <p:cNvSpPr txBox="1"/>
          <p:nvPr/>
        </p:nvSpPr>
        <p:spPr>
          <a:xfrm>
            <a:off x="8530133" y="4251960"/>
            <a:ext cx="2911754"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Impassable gating at 97%</a:t>
            </a:r>
            <a:endParaRPr lang="en-US" sz="1200" dirty="0"/>
          </a:p>
        </p:txBody>
      </p:sp>
      <p:sp>
        <p:nvSpPr>
          <p:cNvPr id="27" name="Text 23"/>
          <p:cNvSpPr txBox="1"/>
          <p:nvPr/>
        </p:nvSpPr>
        <p:spPr>
          <a:xfrm>
            <a:off x="8255813" y="4590288"/>
            <a:ext cx="3186074" cy="932688"/>
          </a:xfrm>
          <a:prstGeom prst="rect">
            <a:avLst/>
          </a:prstGeom>
          <a:noFill/>
          <a:ln/>
        </p:spPr>
        <p:txBody>
          <a:bodyPr wrap="square" lIns="0" tIns="0" rIns="0" bIns="0" rtlCol="0" anchor="t"/>
          <a:lstStyle/>
          <a:p>
            <a:pPr indent="0" marL="0">
              <a:lnSpc>
                <a:spcPct val="116000"/>
              </a:lnSpc>
              <a:buNone/>
            </a:pPr>
            <a:r>
              <a:rPr lang="en-US" sz="1030" dirty="0">
                <a:solidFill>
                  <a:srgbClr val="C3C2B7"/>
                </a:solidFill>
                <a:latin typeface="Calibri" pitchFamily="34" charset="0"/>
                <a:ea typeface="Calibri" pitchFamily="34" charset="-122"/>
                <a:cs typeface="Calibri" pitchFamily="34" charset="-120"/>
              </a:rPr>
              <a:t>Above that probability a corridor is treated as closed, not merely expensive - otherwise a cheap washed-out road outscores a sound one on price.</a:t>
            </a:r>
            <a:endParaRPr lang="en-US" sz="1030" dirty="0"/>
          </a:p>
        </p:txBody>
      </p:sp>
      <p:sp>
        <p:nvSpPr>
          <p:cNvPr id="28" name="Text 24"/>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9" name="Text 25"/>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ENGINE  ·  02</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profile changes the answer, not just the label</a:t>
            </a:r>
            <a:endParaRPr lang="en-US" sz="3000" dirty="0"/>
          </a:p>
        </p:txBody>
      </p:sp>
      <p:sp>
        <p:nvSpPr>
          <p:cNvPr id="4" name="Text 2"/>
          <p:cNvSpPr txBox="1"/>
          <p:nvPr/>
        </p:nvSpPr>
        <p:spPr>
          <a:xfrm>
            <a:off x="548640" y="1133856"/>
            <a:ext cx="9692640" cy="292608"/>
          </a:xfrm>
          <a:prstGeom prst="rect">
            <a:avLst/>
          </a:prstGeom>
          <a:noFill/>
          <a:ln/>
        </p:spPr>
        <p:txBody>
          <a:bodyPr wrap="square" lIns="0" tIns="0" rIns="0" bIns="0" rtlCol="0" anchor="ctr"/>
          <a:lstStyle/>
          <a:p>
            <a:pPr indent="0" marL="0">
              <a:buNone/>
            </a:pPr>
            <a:r>
              <a:rPr lang="en-US" sz="1200" i="1" dirty="0">
                <a:solidFill>
                  <a:srgbClr val="C3C2B7"/>
                </a:solidFill>
                <a:latin typeface="Calibri" pitchFamily="34" charset="0"/>
                <a:ea typeface="Calibri" pitchFamily="34" charset="-122"/>
                <a:cs typeface="Calibri" pitchFamily="34" charset="-120"/>
              </a:rPr>
              <a:t>Same origin, same destination, same 12 tonnes. Only the objective weights differ - and the platform picks a different mode, corridor and cost each time.</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11094415" cy="914400"/>
        </p:xfrm>
        <a:graphic>
          <a:graphicData uri="http://schemas.openxmlformats.org/drawingml/2006/table">
            <a:tbl>
              <a:tblPr/>
              <a:tblGrid>
                <a:gridCol w="2286000"/>
                <a:gridCol w="2834640"/>
                <a:gridCol w="1828800"/>
                <a:gridCol w="1234440"/>
                <a:gridCol w="1737360"/>
                <a:gridCol w="1170432"/>
              </a:tblGrid>
              <a:tr h="402336">
                <a:tc>
                  <a:txBody>
                    <a:bodyPr/>
                    <a:lstStyle/>
                    <a:p>
                      <a:pPr algn="l" indent="0" marL="0">
                        <a:buNone/>
                      </a:pPr>
                      <a:r>
                        <a:rPr lang="en-US" sz="1000" b="1" dirty="0">
                          <a:solidFill>
                            <a:srgbClr val="8A93A3"/>
                          </a:solidFill>
                          <a:latin typeface="Calibri" pitchFamily="34" charset="0"/>
                          <a:ea typeface="Calibri" pitchFamily="34" charset="-122"/>
                          <a:cs typeface="Calibri" pitchFamily="34" charset="-120"/>
                        </a:rPr>
                        <a:t>Cargo profile</a:t>
                      </a:r>
                      <a:endParaRPr lang="en-US" sz="10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0F131A"/>
                    </a:solidFill>
                  </a:tcPr>
                </a:tc>
                <a:tc>
                  <a:txBody>
                    <a:bodyPr/>
                    <a:lstStyle/>
                    <a:p>
                      <a:pPr algn="l" indent="0" marL="0">
                        <a:buNone/>
                      </a:pPr>
                      <a:r>
                        <a:rPr lang="en-US" sz="1000" b="1" dirty="0">
                          <a:solidFill>
                            <a:srgbClr val="8A93A3"/>
                          </a:solidFill>
                          <a:latin typeface="Calibri" pitchFamily="34" charset="0"/>
                          <a:ea typeface="Calibri" pitchFamily="34" charset="-122"/>
                          <a:cs typeface="Calibri" pitchFamily="34" charset="-120"/>
                        </a:rPr>
                        <a:t>Weighting emphasis</a:t>
                      </a:r>
                      <a:endParaRPr lang="en-US" sz="10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0F131A"/>
                    </a:solidFill>
                  </a:tcPr>
                </a:tc>
                <a:tc>
                  <a:txBody>
                    <a:bodyPr/>
                    <a:lstStyle/>
                    <a:p>
                      <a:pPr algn="l" indent="0" marL="0">
                        <a:buNone/>
                      </a:pPr>
                      <a:r>
                        <a:rPr lang="en-US" sz="1000" b="1" dirty="0">
                          <a:solidFill>
                            <a:srgbClr val="8A93A3"/>
                          </a:solidFill>
                          <a:latin typeface="Calibri" pitchFamily="34" charset="0"/>
                          <a:ea typeface="Calibri" pitchFamily="34" charset="-122"/>
                          <a:cs typeface="Calibri" pitchFamily="34" charset="-120"/>
                        </a:rPr>
                        <a:t>Chosen mode</a:t>
                      </a:r>
                      <a:endParaRPr lang="en-US" sz="10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0F131A"/>
                    </a:solidFill>
                  </a:tcPr>
                </a:tc>
                <a:tc>
                  <a:txBody>
                    <a:bodyPr/>
                    <a:lstStyle/>
                    <a:p>
                      <a:pPr algn="r" indent="0" marL="0">
                        <a:buNone/>
                      </a:pPr>
                      <a:r>
                        <a:rPr lang="en-US" sz="1000" b="1" dirty="0">
                          <a:solidFill>
                            <a:srgbClr val="8A93A3"/>
                          </a:solidFill>
                          <a:latin typeface="Calibri" pitchFamily="34" charset="0"/>
                          <a:ea typeface="Calibri" pitchFamily="34" charset="-122"/>
                          <a:cs typeface="Calibri" pitchFamily="34" charset="-120"/>
                        </a:rPr>
                        <a:t>ETA</a:t>
                      </a:r>
                      <a:endParaRPr lang="en-US" sz="10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0F131A"/>
                    </a:solidFill>
                  </a:tcPr>
                </a:tc>
                <a:tc>
                  <a:txBody>
                    <a:bodyPr/>
                    <a:lstStyle/>
                    <a:p>
                      <a:pPr algn="r" indent="0" marL="0">
                        <a:buNone/>
                      </a:pPr>
                      <a:r>
                        <a:rPr lang="en-US" sz="1000" b="1" dirty="0">
                          <a:solidFill>
                            <a:srgbClr val="8A93A3"/>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0F131A"/>
                    </a:solidFill>
                  </a:tcPr>
                </a:tc>
                <a:tc>
                  <a:txBody>
                    <a:bodyPr/>
                    <a:lstStyle/>
                    <a:p>
                      <a:pPr algn="r" indent="0" marL="0">
                        <a:buNone/>
                      </a:pPr>
                      <a:r>
                        <a:rPr lang="en-US" sz="1000" b="1" dirty="0">
                          <a:solidFill>
                            <a:srgbClr val="8A93A3"/>
                          </a:solidFill>
                          <a:latin typeface="Calibri" pitchFamily="34" charset="0"/>
                          <a:ea typeface="Calibri" pitchFamily="34" charset="-122"/>
                          <a:cs typeface="Calibri" pitchFamily="34" charset="-120"/>
                        </a:rPr>
                        <a:t>CO₂</a:t>
                      </a:r>
                      <a:endParaRPr lang="en-US" sz="10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0F131A"/>
                    </a:solidFill>
                  </a:tcPr>
                </a:tc>
              </a:tr>
              <a:tr h="40233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Emergency medical</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Time 2.4  ·  Reliability 1.8</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Air cargo</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3.5 h</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 1,69,440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1,734 kg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r>
              <a:tr h="40233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Perishable / agri</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Time 1.8  ·  Cost 0.7</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Road</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18.3 h</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 19,834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356 kg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r>
              <a:tr h="40233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General freight</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Balanced across all five</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Road</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18.3 h</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 19,834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356 kg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r>
              <a:tr h="40233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Bulk freight</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Cost 2.6  ·  Time 0.25</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Rail + Road</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22.1 h</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 17,750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230 kg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r>
              <a:tr h="40233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Low-emission</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Emissions 3.0</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Rail + Road</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22.1 h</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 17,750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230 kg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A1F28"/>
                    </a:solidFill>
                  </a:tcPr>
                </a:tc>
              </a:tr>
              <a:tr h="40233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Disaster relief</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Reliability 2.0  ·  Access 1.6</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l" indent="0" marL="0">
                        <a:buNone/>
                      </a:pPr>
                      <a:r>
                        <a:rPr lang="en-US" sz="1100" dirty="0">
                          <a:solidFill>
                            <a:srgbClr val="C3C2B7"/>
                          </a:solidFill>
                          <a:latin typeface="Calibri" pitchFamily="34" charset="0"/>
                          <a:ea typeface="Calibri" pitchFamily="34" charset="-122"/>
                          <a:cs typeface="Calibri" pitchFamily="34" charset="-120"/>
                        </a:rPr>
                        <a:t>Air cargo</a:t>
                      </a:r>
                      <a:endParaRPr lang="en-US" sz="1100" dirty="0">
                        <a:latin typeface="Calibri" charset="0"/>
                        <a:ea typeface="Calibri" charset="0"/>
                        <a:cs typeface="Calibri"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3.5 h</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 1,69,440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c>
                  <a:txBody>
                    <a:bodyPr/>
                    <a:lstStyle/>
                    <a:p>
                      <a:pPr algn="r" indent="0" marL="0">
                        <a:buNone/>
                      </a:pPr>
                      <a:r>
                        <a:rPr lang="en-US" sz="1100" dirty="0">
                          <a:solidFill>
                            <a:srgbClr val="C3C2B7"/>
                          </a:solidFill>
                          <a:latin typeface="Courier New" pitchFamily="34" charset="0"/>
                          <a:ea typeface="Courier New" pitchFamily="34" charset="-122"/>
                          <a:cs typeface="Courier New" pitchFamily="34" charset="-120"/>
                        </a:rPr>
                        <a:t>1,734 kg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0F131A"/>
                      </a:solidFill>
                      <a:prstDash val="solid"/>
                      <a:round/>
                      <a:headEnd type="none" w="med" len="med"/>
                      <a:tailEnd type="none" w="med" len="med"/>
                    </a:lnL>
                    <a:lnR w="12700" cap="flat" cmpd="sng" algn="ctr">
                      <a:solidFill>
                        <a:srgbClr val="0F131A"/>
                      </a:solidFill>
                      <a:prstDash val="solid"/>
                      <a:round/>
                      <a:headEnd type="none" w="med" len="med"/>
                      <a:tailEnd type="none" w="med" len="med"/>
                    </a:lnR>
                    <a:lnT w="12700" cap="flat" cmpd="sng" algn="ctr">
                      <a:solidFill>
                        <a:srgbClr val="0F131A"/>
                      </a:solidFill>
                      <a:prstDash val="solid"/>
                      <a:round/>
                      <a:headEnd type="none" w="med" len="med"/>
                      <a:tailEnd type="none" w="med" len="med"/>
                    </a:lnT>
                    <a:lnB w="12700" cap="flat" cmpd="sng" algn="ctr">
                      <a:solidFill>
                        <a:srgbClr val="20262F"/>
                      </a:solidFill>
                      <a:prstDash val="solid"/>
                      <a:round/>
                      <a:headEnd type="none" w="med" len="med"/>
                      <a:tailEnd type="none" w="med" len="med"/>
                    </a:lnB>
                    <a:solidFill>
                      <a:srgbClr val="161B23"/>
                    </a:solidFill>
                  </a:tcPr>
                </a:tc>
              </a:tr>
            </a:tbl>
          </a:graphicData>
        </a:graphic>
      </p:graphicFrame>
      <p:sp>
        <p:nvSpPr>
          <p:cNvPr id="6" name="Shape 3"/>
          <p:cNvSpPr/>
          <p:nvPr/>
        </p:nvSpPr>
        <p:spPr>
          <a:xfrm>
            <a:off x="548640" y="4553712"/>
            <a:ext cx="3588410" cy="1170432"/>
          </a:xfrm>
          <a:prstGeom prst="roundRect">
            <a:avLst>
              <a:gd name="adj" fmla="val 7031"/>
            </a:avLst>
          </a:prstGeom>
          <a:solidFill>
            <a:srgbClr val="1A1F28"/>
          </a:solidFill>
          <a:ln w="12700">
            <a:solidFill>
              <a:srgbClr val="2B323F"/>
            </a:solidFill>
            <a:prstDash val="solid"/>
          </a:ln>
        </p:spPr>
      </p:sp>
      <p:sp>
        <p:nvSpPr>
          <p:cNvPr id="7" name="Shape 4"/>
          <p:cNvSpPr/>
          <p:nvPr/>
        </p:nvSpPr>
        <p:spPr>
          <a:xfrm>
            <a:off x="731520" y="4736592"/>
            <a:ext cx="164592" cy="164592"/>
          </a:xfrm>
          <a:prstGeom prst="ellipse">
            <a:avLst/>
          </a:prstGeom>
          <a:solidFill>
            <a:srgbClr val="D03B3B"/>
          </a:solidFill>
          <a:ln/>
        </p:spPr>
      </p:sp>
      <p:sp>
        <p:nvSpPr>
          <p:cNvPr id="8" name="Text 5"/>
          <p:cNvSpPr txBox="1"/>
          <p:nvPr/>
        </p:nvSpPr>
        <p:spPr>
          <a:xfrm>
            <a:off x="969264" y="4709160"/>
            <a:ext cx="2984906"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Emergency medical flies</a:t>
            </a:r>
            <a:endParaRPr lang="en-US" sz="1150" dirty="0"/>
          </a:p>
        </p:txBody>
      </p:sp>
      <p:sp>
        <p:nvSpPr>
          <p:cNvPr id="9" name="Text 6"/>
          <p:cNvSpPr txBox="1"/>
          <p:nvPr/>
        </p:nvSpPr>
        <p:spPr>
          <a:xfrm>
            <a:off x="731520" y="5029200"/>
            <a:ext cx="3222650" cy="603504"/>
          </a:xfrm>
          <a:prstGeom prst="rect">
            <a:avLst/>
          </a:prstGeom>
          <a:noFill/>
          <a:ln/>
        </p:spPr>
        <p:txBody>
          <a:bodyPr wrap="square" lIns="0" tIns="0" rIns="0" bIns="0" rtlCol="0" anchor="t"/>
          <a:lstStyle/>
          <a:p>
            <a:pPr indent="0" marL="0">
              <a:lnSpc>
                <a:spcPct val="114000"/>
              </a:lnSpc>
              <a:buNone/>
            </a:pPr>
            <a:r>
              <a:rPr lang="en-US" sz="1030" dirty="0">
                <a:solidFill>
                  <a:srgbClr val="C3C2B7"/>
                </a:solidFill>
                <a:latin typeface="Calibri" pitchFamily="34" charset="0"/>
                <a:ea typeface="Calibri" pitchFamily="34" charset="-122"/>
                <a:cs typeface="Calibri" pitchFamily="34" charset="-120"/>
              </a:rPr>
              <a:t>Cost weight drops to 0.2, so a 5x price for 15 hours saved is the right trade.</a:t>
            </a:r>
            <a:endParaRPr lang="en-US" sz="1030" dirty="0"/>
          </a:p>
        </p:txBody>
      </p:sp>
      <p:sp>
        <p:nvSpPr>
          <p:cNvPr id="10" name="Shape 7"/>
          <p:cNvSpPr/>
          <p:nvPr/>
        </p:nvSpPr>
        <p:spPr>
          <a:xfrm>
            <a:off x="4301642" y="4553712"/>
            <a:ext cx="3588410" cy="1170432"/>
          </a:xfrm>
          <a:prstGeom prst="roundRect">
            <a:avLst>
              <a:gd name="adj" fmla="val 7031"/>
            </a:avLst>
          </a:prstGeom>
          <a:solidFill>
            <a:srgbClr val="1A1F28"/>
          </a:solidFill>
          <a:ln w="12700">
            <a:solidFill>
              <a:srgbClr val="2B323F"/>
            </a:solidFill>
            <a:prstDash val="solid"/>
          </a:ln>
        </p:spPr>
      </p:sp>
      <p:sp>
        <p:nvSpPr>
          <p:cNvPr id="11" name="Shape 8"/>
          <p:cNvSpPr/>
          <p:nvPr/>
        </p:nvSpPr>
        <p:spPr>
          <a:xfrm>
            <a:off x="4484522" y="4736592"/>
            <a:ext cx="164592" cy="164592"/>
          </a:xfrm>
          <a:prstGeom prst="ellipse">
            <a:avLst/>
          </a:prstGeom>
          <a:solidFill>
            <a:srgbClr val="199E70"/>
          </a:solidFill>
          <a:ln/>
        </p:spPr>
      </p:sp>
      <p:sp>
        <p:nvSpPr>
          <p:cNvPr id="12" name="Text 9"/>
          <p:cNvSpPr txBox="1"/>
          <p:nvPr/>
        </p:nvSpPr>
        <p:spPr>
          <a:xfrm>
            <a:off x="4722266" y="4709160"/>
            <a:ext cx="2984906"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Bulk freight takes the train</a:t>
            </a:r>
            <a:endParaRPr lang="en-US" sz="1150" dirty="0"/>
          </a:p>
        </p:txBody>
      </p:sp>
      <p:sp>
        <p:nvSpPr>
          <p:cNvPr id="13" name="Text 10"/>
          <p:cNvSpPr txBox="1"/>
          <p:nvPr/>
        </p:nvSpPr>
        <p:spPr>
          <a:xfrm>
            <a:off x="4484522" y="5029200"/>
            <a:ext cx="3222650" cy="603504"/>
          </a:xfrm>
          <a:prstGeom prst="rect">
            <a:avLst/>
          </a:prstGeom>
          <a:noFill/>
          <a:ln/>
        </p:spPr>
        <p:txBody>
          <a:bodyPr wrap="square" lIns="0" tIns="0" rIns="0" bIns="0" rtlCol="0" anchor="t"/>
          <a:lstStyle/>
          <a:p>
            <a:pPr indent="0" marL="0">
              <a:lnSpc>
                <a:spcPct val="114000"/>
              </a:lnSpc>
              <a:buNone/>
            </a:pPr>
            <a:r>
              <a:rPr lang="en-US" sz="1030" dirty="0">
                <a:solidFill>
                  <a:srgbClr val="C3C2B7"/>
                </a:solidFill>
                <a:latin typeface="Calibri" pitchFamily="34" charset="0"/>
                <a:ea typeface="Calibri" pitchFamily="34" charset="-122"/>
                <a:cs typeface="Calibri" pitchFamily="34" charset="-120"/>
              </a:rPr>
              <a:t>Cost weight 2.6 against time 0.25 moves the answer onto rail - cheaper and 35% less CO₂.</a:t>
            </a:r>
            <a:endParaRPr lang="en-US" sz="1030" dirty="0"/>
          </a:p>
        </p:txBody>
      </p:sp>
      <p:sp>
        <p:nvSpPr>
          <p:cNvPr id="14" name="Shape 11"/>
          <p:cNvSpPr/>
          <p:nvPr/>
        </p:nvSpPr>
        <p:spPr>
          <a:xfrm>
            <a:off x="8054645" y="4553712"/>
            <a:ext cx="3588410" cy="1170432"/>
          </a:xfrm>
          <a:prstGeom prst="roundRect">
            <a:avLst>
              <a:gd name="adj" fmla="val 7031"/>
            </a:avLst>
          </a:prstGeom>
          <a:solidFill>
            <a:srgbClr val="1A1F28"/>
          </a:solidFill>
          <a:ln w="12700">
            <a:solidFill>
              <a:srgbClr val="2B323F"/>
            </a:solidFill>
            <a:prstDash val="solid"/>
          </a:ln>
        </p:spPr>
      </p:sp>
      <p:sp>
        <p:nvSpPr>
          <p:cNvPr id="15" name="Shape 12"/>
          <p:cNvSpPr/>
          <p:nvPr/>
        </p:nvSpPr>
        <p:spPr>
          <a:xfrm>
            <a:off x="8237525" y="4736592"/>
            <a:ext cx="164592" cy="164592"/>
          </a:xfrm>
          <a:prstGeom prst="ellipse">
            <a:avLst/>
          </a:prstGeom>
          <a:solidFill>
            <a:srgbClr val="9085E9"/>
          </a:solidFill>
          <a:ln/>
        </p:spPr>
      </p:sp>
      <p:sp>
        <p:nvSpPr>
          <p:cNvPr id="16" name="Text 13"/>
          <p:cNvSpPr txBox="1"/>
          <p:nvPr/>
        </p:nvSpPr>
        <p:spPr>
          <a:xfrm>
            <a:off x="8475269" y="4709160"/>
            <a:ext cx="2984906"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Relief buys reliability</a:t>
            </a:r>
            <a:endParaRPr lang="en-US" sz="1150" dirty="0"/>
          </a:p>
        </p:txBody>
      </p:sp>
      <p:sp>
        <p:nvSpPr>
          <p:cNvPr id="17" name="Text 14"/>
          <p:cNvSpPr txBox="1"/>
          <p:nvPr/>
        </p:nvSpPr>
        <p:spPr>
          <a:xfrm>
            <a:off x="8237525" y="5029200"/>
            <a:ext cx="3222650" cy="603504"/>
          </a:xfrm>
          <a:prstGeom prst="rect">
            <a:avLst/>
          </a:prstGeom>
          <a:noFill/>
          <a:ln/>
        </p:spPr>
        <p:txBody>
          <a:bodyPr wrap="square" lIns="0" tIns="0" rIns="0" bIns="0" rtlCol="0" anchor="t"/>
          <a:lstStyle/>
          <a:p>
            <a:pPr indent="0" marL="0">
              <a:lnSpc>
                <a:spcPct val="114000"/>
              </a:lnSpc>
              <a:buNone/>
            </a:pPr>
            <a:r>
              <a:rPr lang="en-US" sz="1030" dirty="0">
                <a:solidFill>
                  <a:srgbClr val="C3C2B7"/>
                </a:solidFill>
                <a:latin typeface="Calibri" pitchFamily="34" charset="0"/>
                <a:ea typeface="Calibri" pitchFamily="34" charset="-122"/>
                <a:cs typeface="Calibri" pitchFamily="34" charset="-120"/>
              </a:rPr>
              <a:t>Reliability 2.0 and accessibility 1.6 pick the option most likely to actually arrive.</a:t>
            </a:r>
            <a:endParaRPr lang="en-US" sz="1030" dirty="0"/>
          </a:p>
        </p:txBody>
      </p:sp>
      <p:sp>
        <p:nvSpPr>
          <p:cNvPr id="18" name="Text 15"/>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19" name="Text 16"/>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ENGINE  ·  03</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Risk: a physical model and a learned one, reported separately</a:t>
            </a:r>
            <a:endParaRPr lang="en-US" sz="3000" dirty="0"/>
          </a:p>
        </p:txBody>
      </p:sp>
      <p:sp>
        <p:nvSpPr>
          <p:cNvPr id="4" name="Shape 2"/>
          <p:cNvSpPr/>
          <p:nvPr/>
        </p:nvSpPr>
        <p:spPr>
          <a:xfrm>
            <a:off x="548640" y="1298448"/>
            <a:ext cx="3401568" cy="2286000"/>
          </a:xfrm>
          <a:prstGeom prst="roundRect">
            <a:avLst>
              <a:gd name="adj" fmla="val 3600"/>
            </a:avLst>
          </a:prstGeom>
          <a:solidFill>
            <a:srgbClr val="1A1F28"/>
          </a:solidFill>
          <a:ln w="12700">
            <a:solidFill>
              <a:srgbClr val="2B323F"/>
            </a:solidFill>
            <a:prstDash val="solid"/>
          </a:ln>
        </p:spPr>
      </p:sp>
      <p:sp>
        <p:nvSpPr>
          <p:cNvPr id="5" name="Shape 3"/>
          <p:cNvSpPr/>
          <p:nvPr/>
        </p:nvSpPr>
        <p:spPr>
          <a:xfrm>
            <a:off x="749808" y="1481328"/>
            <a:ext cx="384048" cy="384048"/>
          </a:xfrm>
          <a:prstGeom prst="ellipse">
            <a:avLst/>
          </a:prstGeom>
          <a:solidFill>
            <a:srgbClr val="2A2029"/>
          </a:solidFill>
          <a:ln w="12700">
            <a:solidFill>
              <a:srgbClr val="FAB219"/>
            </a:solidFill>
            <a:prstDash val="solid"/>
          </a:ln>
        </p:spPr>
      </p:sp>
      <p:pic>
        <p:nvPicPr>
          <p:cNvPr id="6" name="Image 0" descr="preencoded.png">    </p:cNvPr>
          <p:cNvPicPr>
            <a:picLocks noChangeAspect="1"/>
          </p:cNvPicPr>
          <p:nvPr/>
        </p:nvPicPr>
        <p:blipFill>
          <a:blip r:embed="rId1"/>
          <a:stretch>
            <a:fillRect/>
          </a:stretch>
        </p:blipFill>
        <p:spPr>
          <a:xfrm>
            <a:off x="857341" y="1588861"/>
            <a:ext cx="168981" cy="168981"/>
          </a:xfrm>
          <a:prstGeom prst="rect">
            <a:avLst/>
          </a:prstGeom>
        </p:spPr>
      </p:pic>
      <p:sp>
        <p:nvSpPr>
          <p:cNvPr id="7" name="Text 4"/>
          <p:cNvSpPr txBox="1"/>
          <p:nvPr/>
        </p:nvSpPr>
        <p:spPr>
          <a:xfrm>
            <a:off x="1243584" y="1536192"/>
            <a:ext cx="2560320" cy="274320"/>
          </a:xfrm>
          <a:prstGeom prst="rect">
            <a:avLst/>
          </a:prstGeom>
          <a:noFill/>
          <a:ln/>
        </p:spPr>
        <p:txBody>
          <a:bodyPr wrap="square" lIns="0" tIns="0" rIns="0" bIns="0" rtlCol="0" anchor="ctr"/>
          <a:lstStyle/>
          <a:p>
            <a:pPr indent="0" marL="0">
              <a:buNone/>
            </a:pPr>
            <a:r>
              <a:rPr lang="en-US" sz="1350" b="1" dirty="0">
                <a:solidFill>
                  <a:srgbClr val="FAB219"/>
                </a:solidFill>
                <a:latin typeface="Arial" pitchFamily="34" charset="0"/>
                <a:ea typeface="Arial" pitchFamily="34" charset="-122"/>
                <a:cs typeface="Arial" pitchFamily="34" charset="-120"/>
              </a:rPr>
              <a:t>Physical</a:t>
            </a:r>
            <a:endParaRPr lang="en-US" sz="1350" dirty="0"/>
          </a:p>
        </p:txBody>
      </p:sp>
      <p:sp>
        <p:nvSpPr>
          <p:cNvPr id="8" name="Text 5"/>
          <p:cNvSpPr txBox="1"/>
          <p:nvPr/>
        </p:nvSpPr>
        <p:spPr>
          <a:xfrm>
            <a:off x="749808" y="2011680"/>
            <a:ext cx="3017520" cy="1463040"/>
          </a:xfrm>
          <a:prstGeom prst="rect">
            <a:avLst/>
          </a:prstGeom>
          <a:noFill/>
          <a:ln/>
        </p:spPr>
        <p:txBody>
          <a:bodyPr wrap="square" lIns="0" tIns="0" rIns="0" bIns="0" rtlCol="0" anchor="t"/>
          <a:lstStyle/>
          <a:p>
            <a:pPr indent="0" marL="0">
              <a:lnSpc>
                <a:spcPct val="116000"/>
              </a:lnSpc>
              <a:buNone/>
            </a:pPr>
            <a:r>
              <a:rPr lang="en-US" sz="1020" dirty="0">
                <a:solidFill>
                  <a:srgbClr val="C3C2B7"/>
                </a:solidFill>
                <a:latin typeface="Calibri" pitchFamily="34" charset="0"/>
                <a:ea typeface="Calibri" pitchFamily="34" charset="-122"/>
                <a:cs typeface="Calibri" pitchFamily="34" charset="-120"/>
              </a:rPr>
              <a:t>Regional landslide early-warning systems trigger on antecedent accumulation, not the day's intensity. 24-hour and 3-day rainfall are compared against a critical line that falls as the corridor's own susceptibility rises; the exceedance ratio maps through a logistic curve. Flooding uses basin accumulation with a relief factor - water pools on the valley floor and drains above ~600 m.</a:t>
            </a:r>
            <a:endParaRPr lang="en-US" sz="1020" dirty="0"/>
          </a:p>
        </p:txBody>
      </p:sp>
      <p:sp>
        <p:nvSpPr>
          <p:cNvPr id="9" name="Shape 6"/>
          <p:cNvSpPr/>
          <p:nvPr/>
        </p:nvSpPr>
        <p:spPr>
          <a:xfrm>
            <a:off x="4133088" y="1298448"/>
            <a:ext cx="3401568" cy="2286000"/>
          </a:xfrm>
          <a:prstGeom prst="roundRect">
            <a:avLst>
              <a:gd name="adj" fmla="val 3600"/>
            </a:avLst>
          </a:prstGeom>
          <a:solidFill>
            <a:srgbClr val="1A1F28"/>
          </a:solidFill>
          <a:ln w="12700">
            <a:solidFill>
              <a:srgbClr val="2B323F"/>
            </a:solidFill>
            <a:prstDash val="solid"/>
          </a:ln>
        </p:spPr>
      </p:sp>
      <p:sp>
        <p:nvSpPr>
          <p:cNvPr id="10" name="Shape 7"/>
          <p:cNvSpPr/>
          <p:nvPr/>
        </p:nvSpPr>
        <p:spPr>
          <a:xfrm>
            <a:off x="4334256" y="1481328"/>
            <a:ext cx="384048" cy="384048"/>
          </a:xfrm>
          <a:prstGeom prst="ellipse">
            <a:avLst/>
          </a:prstGeom>
          <a:solidFill>
            <a:srgbClr val="1E2937"/>
          </a:solidFill>
          <a:ln w="12700">
            <a:solidFill>
              <a:srgbClr val="3987E5"/>
            </a:solidFill>
            <a:prstDash val="solid"/>
          </a:ln>
        </p:spPr>
      </p:sp>
      <p:pic>
        <p:nvPicPr>
          <p:cNvPr id="11" name="Image 1" descr="preencoded.png">    </p:cNvPr>
          <p:cNvPicPr>
            <a:picLocks noChangeAspect="1"/>
          </p:cNvPicPr>
          <p:nvPr/>
        </p:nvPicPr>
        <p:blipFill>
          <a:blip r:embed="rId2"/>
          <a:stretch>
            <a:fillRect/>
          </a:stretch>
        </p:blipFill>
        <p:spPr>
          <a:xfrm>
            <a:off x="4441789" y="1588861"/>
            <a:ext cx="168981" cy="168981"/>
          </a:xfrm>
          <a:prstGeom prst="rect">
            <a:avLst/>
          </a:prstGeom>
        </p:spPr>
      </p:pic>
      <p:sp>
        <p:nvSpPr>
          <p:cNvPr id="12" name="Text 8"/>
          <p:cNvSpPr txBox="1"/>
          <p:nvPr/>
        </p:nvSpPr>
        <p:spPr>
          <a:xfrm>
            <a:off x="4828032" y="1536192"/>
            <a:ext cx="2560320" cy="274320"/>
          </a:xfrm>
          <a:prstGeom prst="rect">
            <a:avLst/>
          </a:prstGeom>
          <a:noFill/>
          <a:ln/>
        </p:spPr>
        <p:txBody>
          <a:bodyPr wrap="square" lIns="0" tIns="0" rIns="0" bIns="0" rtlCol="0" anchor="ctr"/>
          <a:lstStyle/>
          <a:p>
            <a:pPr indent="0" marL="0">
              <a:buNone/>
            </a:pPr>
            <a:r>
              <a:rPr lang="en-US" sz="1350" b="1" dirty="0">
                <a:solidFill>
                  <a:srgbClr val="3987E5"/>
                </a:solidFill>
                <a:latin typeface="Arial" pitchFamily="34" charset="0"/>
                <a:ea typeface="Arial" pitchFamily="34" charset="-122"/>
                <a:cs typeface="Arial" pitchFamily="34" charset="-120"/>
              </a:rPr>
              <a:t>Learned</a:t>
            </a:r>
            <a:endParaRPr lang="en-US" sz="1350" dirty="0"/>
          </a:p>
        </p:txBody>
      </p:sp>
      <p:sp>
        <p:nvSpPr>
          <p:cNvPr id="13" name="Text 9"/>
          <p:cNvSpPr txBox="1"/>
          <p:nvPr/>
        </p:nvSpPr>
        <p:spPr>
          <a:xfrm>
            <a:off x="4334256" y="2011680"/>
            <a:ext cx="3017520" cy="1463040"/>
          </a:xfrm>
          <a:prstGeom prst="rect">
            <a:avLst/>
          </a:prstGeom>
          <a:noFill/>
          <a:ln/>
        </p:spPr>
        <p:txBody>
          <a:bodyPr wrap="square" lIns="0" tIns="0" rIns="0" bIns="0" rtlCol="0" anchor="t"/>
          <a:lstStyle/>
          <a:p>
            <a:pPr indent="0" marL="0">
              <a:lnSpc>
                <a:spcPct val="116000"/>
              </a:lnSpc>
              <a:buNone/>
            </a:pPr>
            <a:r>
              <a:rPr lang="en-US" sz="1020" dirty="0">
                <a:solidFill>
                  <a:srgbClr val="C3C2B7"/>
                </a:solidFill>
                <a:latin typeface="Calibri" pitchFamily="34" charset="0"/>
                <a:ea typeface="Calibri" pitchFamily="34" charset="-122"/>
                <a:cs typeface="Calibri" pitchFamily="34" charset="-120"/>
              </a:rPr>
              <a:t>An L2-regularised logistic regression, trained by batch gradient descent at every server start on the bundled historical record. It is genuinely fitted, not handed its coefficients - and it recovers the right structure: all-weather status, terrain class and the landslide x rainfall interaction come out as the dominant signals.</a:t>
            </a:r>
            <a:endParaRPr lang="en-US" sz="1020" dirty="0"/>
          </a:p>
        </p:txBody>
      </p:sp>
      <p:sp>
        <p:nvSpPr>
          <p:cNvPr id="14" name="Shape 10"/>
          <p:cNvSpPr/>
          <p:nvPr/>
        </p:nvSpPr>
        <p:spPr>
          <a:xfrm>
            <a:off x="7717536" y="1298448"/>
            <a:ext cx="3925519" cy="530352"/>
          </a:xfrm>
          <a:prstGeom prst="roundRect">
            <a:avLst>
              <a:gd name="adj" fmla="val 15517"/>
            </a:avLst>
          </a:prstGeom>
          <a:solidFill>
            <a:srgbClr val="1A1F28"/>
          </a:solidFill>
          <a:ln w="12700">
            <a:solidFill>
              <a:srgbClr val="2B323F"/>
            </a:solidFill>
            <a:prstDash val="solid"/>
          </a:ln>
        </p:spPr>
      </p:sp>
      <p:sp>
        <p:nvSpPr>
          <p:cNvPr id="15" name="Text 11"/>
          <p:cNvSpPr txBox="1"/>
          <p:nvPr/>
        </p:nvSpPr>
        <p:spPr>
          <a:xfrm>
            <a:off x="7863840" y="1417320"/>
            <a:ext cx="363291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HELD-OUT ROC-AUC</a:t>
            </a:r>
            <a:endParaRPr lang="en-US" sz="850" dirty="0"/>
          </a:p>
        </p:txBody>
      </p:sp>
      <p:sp>
        <p:nvSpPr>
          <p:cNvPr id="16" name="Text 12"/>
          <p:cNvSpPr txBox="1"/>
          <p:nvPr/>
        </p:nvSpPr>
        <p:spPr>
          <a:xfrm>
            <a:off x="7863840" y="1609344"/>
            <a:ext cx="3632911" cy="384048"/>
          </a:xfrm>
          <a:prstGeom prst="rect">
            <a:avLst/>
          </a:prstGeom>
          <a:noFill/>
          <a:ln/>
        </p:spPr>
        <p:txBody>
          <a:bodyPr wrap="square" lIns="0" tIns="0" rIns="0" bIns="0" rtlCol="0" anchor="t"/>
          <a:lstStyle/>
          <a:p>
            <a:pPr indent="0" marL="0">
              <a:buNone/>
            </a:pPr>
            <a:r>
              <a:rPr lang="en-US" sz="2500" b="1" dirty="0">
                <a:solidFill>
                  <a:srgbClr val="0CA30C"/>
                </a:solidFill>
                <a:latin typeface="Arial" pitchFamily="34" charset="0"/>
                <a:ea typeface="Arial" pitchFamily="34" charset="-122"/>
                <a:cs typeface="Arial" pitchFamily="34" charset="-120"/>
              </a:rPr>
              <a:t>0.828</a:t>
            </a:r>
            <a:endParaRPr lang="en-US" sz="2500" dirty="0"/>
          </a:p>
        </p:txBody>
      </p:sp>
      <p:sp>
        <p:nvSpPr>
          <p:cNvPr id="17" name="Shape 13"/>
          <p:cNvSpPr/>
          <p:nvPr/>
        </p:nvSpPr>
        <p:spPr>
          <a:xfrm>
            <a:off x="7717536" y="1883664"/>
            <a:ext cx="3925519" cy="530352"/>
          </a:xfrm>
          <a:prstGeom prst="roundRect">
            <a:avLst>
              <a:gd name="adj" fmla="val 15517"/>
            </a:avLst>
          </a:prstGeom>
          <a:solidFill>
            <a:srgbClr val="1A1F28"/>
          </a:solidFill>
          <a:ln w="12700">
            <a:solidFill>
              <a:srgbClr val="2B323F"/>
            </a:solidFill>
            <a:prstDash val="solid"/>
          </a:ln>
        </p:spPr>
      </p:sp>
      <p:sp>
        <p:nvSpPr>
          <p:cNvPr id="18" name="Text 14"/>
          <p:cNvSpPr txBox="1"/>
          <p:nvPr/>
        </p:nvSpPr>
        <p:spPr>
          <a:xfrm>
            <a:off x="7863840" y="2002536"/>
            <a:ext cx="363291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HELD-OUT ACCURACY</a:t>
            </a:r>
            <a:endParaRPr lang="en-US" sz="850" dirty="0"/>
          </a:p>
        </p:txBody>
      </p:sp>
      <p:sp>
        <p:nvSpPr>
          <p:cNvPr id="19" name="Text 15"/>
          <p:cNvSpPr txBox="1"/>
          <p:nvPr/>
        </p:nvSpPr>
        <p:spPr>
          <a:xfrm>
            <a:off x="7863840" y="2194560"/>
            <a:ext cx="363291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0.889</a:t>
            </a:r>
            <a:endParaRPr lang="en-US" sz="2500" dirty="0"/>
          </a:p>
        </p:txBody>
      </p:sp>
      <p:sp>
        <p:nvSpPr>
          <p:cNvPr id="20" name="Shape 16"/>
          <p:cNvSpPr/>
          <p:nvPr/>
        </p:nvSpPr>
        <p:spPr>
          <a:xfrm>
            <a:off x="7717536" y="2468880"/>
            <a:ext cx="3925519" cy="530352"/>
          </a:xfrm>
          <a:prstGeom prst="roundRect">
            <a:avLst>
              <a:gd name="adj" fmla="val 15517"/>
            </a:avLst>
          </a:prstGeom>
          <a:solidFill>
            <a:srgbClr val="1A1F28"/>
          </a:solidFill>
          <a:ln w="12700">
            <a:solidFill>
              <a:srgbClr val="2B323F"/>
            </a:solidFill>
            <a:prstDash val="solid"/>
          </a:ln>
        </p:spPr>
      </p:sp>
      <p:sp>
        <p:nvSpPr>
          <p:cNvPr id="21" name="Text 17"/>
          <p:cNvSpPr txBox="1"/>
          <p:nvPr/>
        </p:nvSpPr>
        <p:spPr>
          <a:xfrm>
            <a:off x="7863840" y="2587752"/>
            <a:ext cx="363291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TRAINING RECORDS</a:t>
            </a:r>
            <a:endParaRPr lang="en-US" sz="850" dirty="0"/>
          </a:p>
        </p:txBody>
      </p:sp>
      <p:sp>
        <p:nvSpPr>
          <p:cNvPr id="22" name="Text 18"/>
          <p:cNvSpPr txBox="1"/>
          <p:nvPr/>
        </p:nvSpPr>
        <p:spPr>
          <a:xfrm>
            <a:off x="7863840" y="2779776"/>
            <a:ext cx="363291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10,023</a:t>
            </a:r>
            <a:endParaRPr lang="en-US" sz="2500" dirty="0"/>
          </a:p>
        </p:txBody>
      </p:sp>
      <p:sp>
        <p:nvSpPr>
          <p:cNvPr id="23" name="Shape 19"/>
          <p:cNvSpPr/>
          <p:nvPr/>
        </p:nvSpPr>
        <p:spPr>
          <a:xfrm>
            <a:off x="7717536" y="3054096"/>
            <a:ext cx="3925519" cy="530352"/>
          </a:xfrm>
          <a:prstGeom prst="roundRect">
            <a:avLst>
              <a:gd name="adj" fmla="val 15517"/>
            </a:avLst>
          </a:prstGeom>
          <a:solidFill>
            <a:srgbClr val="1A1F28"/>
          </a:solidFill>
          <a:ln w="12700">
            <a:solidFill>
              <a:srgbClr val="2B323F"/>
            </a:solidFill>
            <a:prstDash val="solid"/>
          </a:ln>
        </p:spPr>
      </p:sp>
      <p:sp>
        <p:nvSpPr>
          <p:cNvPr id="24" name="Text 20"/>
          <p:cNvSpPr txBox="1"/>
          <p:nvPr/>
        </p:nvSpPr>
        <p:spPr>
          <a:xfrm>
            <a:off x="7863840" y="3172968"/>
            <a:ext cx="3632911"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FIT TIME</a:t>
            </a:r>
            <a:endParaRPr lang="en-US" sz="850" dirty="0"/>
          </a:p>
        </p:txBody>
      </p:sp>
      <p:sp>
        <p:nvSpPr>
          <p:cNvPr id="25" name="Text 21"/>
          <p:cNvSpPr txBox="1"/>
          <p:nvPr/>
        </p:nvSpPr>
        <p:spPr>
          <a:xfrm>
            <a:off x="7863840" y="3364992"/>
            <a:ext cx="3632911"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924</a:t>
            </a:r>
            <a:pPr indent="0" marL="0">
              <a:buNone/>
            </a:pPr>
            <a:r>
              <a:rPr lang="en-US" sz="1100" dirty="0">
                <a:solidFill>
                  <a:srgbClr val="8A93A3"/>
                </a:solidFill>
                <a:latin typeface="Calibri" pitchFamily="34" charset="0"/>
                <a:ea typeface="Calibri" pitchFamily="34" charset="-122"/>
                <a:cs typeface="Calibri" pitchFamily="34" charset="-120"/>
              </a:rPr>
              <a:t> ms</a:t>
            </a:r>
            <a:endParaRPr lang="en-US" sz="2500" dirty="0"/>
          </a:p>
        </p:txBody>
      </p:sp>
      <p:sp>
        <p:nvSpPr>
          <p:cNvPr id="26" name="Shape 22"/>
          <p:cNvSpPr/>
          <p:nvPr/>
        </p:nvSpPr>
        <p:spPr>
          <a:xfrm>
            <a:off x="7717536" y="1298448"/>
            <a:ext cx="3925519" cy="530352"/>
          </a:xfrm>
          <a:prstGeom prst="roundRect">
            <a:avLst>
              <a:gd name="adj" fmla="val 15517"/>
            </a:avLst>
          </a:prstGeom>
          <a:solidFill>
            <a:srgbClr val="1A1F28"/>
          </a:solidFill>
          <a:ln w="12700">
            <a:solidFill>
              <a:srgbClr val="2B323F"/>
            </a:solidFill>
            <a:prstDash val="solid"/>
          </a:ln>
        </p:spPr>
      </p:sp>
      <p:sp>
        <p:nvSpPr>
          <p:cNvPr id="27" name="Text 23"/>
          <p:cNvSpPr txBox="1"/>
          <p:nvPr/>
        </p:nvSpPr>
        <p:spPr>
          <a:xfrm>
            <a:off x="7863840" y="1380744"/>
            <a:ext cx="2355312" cy="182880"/>
          </a:xfrm>
          <a:prstGeom prst="rect">
            <a:avLst/>
          </a:prstGeom>
          <a:noFill/>
          <a:ln/>
        </p:spPr>
        <p:txBody>
          <a:bodyPr wrap="square" lIns="0" tIns="0" rIns="0" bIns="0" rtlCol="0" anchor="ctr"/>
          <a:lstStyle/>
          <a:p>
            <a:pPr indent="0" marL="0">
              <a:buNone/>
            </a:pPr>
            <a:r>
              <a:rPr lang="en-US" sz="850" b="1" spc="100" kern="0" dirty="0">
                <a:solidFill>
                  <a:srgbClr val="8A93A3"/>
                </a:solidFill>
                <a:latin typeface="Calibri" pitchFamily="34" charset="0"/>
                <a:ea typeface="Calibri" pitchFamily="34" charset="-122"/>
                <a:cs typeface="Calibri" pitchFamily="34" charset="-120"/>
              </a:rPr>
              <a:t>HELD-OUT ROC-AUC</a:t>
            </a:r>
            <a:endParaRPr lang="en-US" sz="850" dirty="0"/>
          </a:p>
        </p:txBody>
      </p:sp>
      <p:sp>
        <p:nvSpPr>
          <p:cNvPr id="28" name="Text 24"/>
          <p:cNvSpPr txBox="1"/>
          <p:nvPr/>
        </p:nvSpPr>
        <p:spPr>
          <a:xfrm>
            <a:off x="7863840" y="1581912"/>
            <a:ext cx="2433822" cy="182880"/>
          </a:xfrm>
          <a:prstGeom prst="rect">
            <a:avLst/>
          </a:prstGeom>
          <a:noFill/>
          <a:ln/>
        </p:spPr>
        <p:txBody>
          <a:bodyPr wrap="square" lIns="0" tIns="0" rIns="0" bIns="0" rtlCol="0" anchor="ctr"/>
          <a:lstStyle/>
          <a:p>
            <a:pPr indent="0" marL="0">
              <a:buNone/>
            </a:pPr>
            <a:r>
              <a:rPr lang="en-US" sz="900" dirty="0">
                <a:solidFill>
                  <a:srgbClr val="8A93A3"/>
                </a:solidFill>
                <a:latin typeface="Calibri" pitchFamily="34" charset="0"/>
                <a:ea typeface="Calibri" pitchFamily="34" charset="-122"/>
                <a:cs typeface="Calibri" pitchFamily="34" charset="-120"/>
              </a:rPr>
              <a:t>Ranking quality; 0.5 is chance</a:t>
            </a:r>
            <a:endParaRPr lang="en-US" sz="900" dirty="0"/>
          </a:p>
        </p:txBody>
      </p:sp>
      <p:sp>
        <p:nvSpPr>
          <p:cNvPr id="29" name="Text 25"/>
          <p:cNvSpPr txBox="1"/>
          <p:nvPr/>
        </p:nvSpPr>
        <p:spPr>
          <a:xfrm>
            <a:off x="10151358" y="1417320"/>
            <a:ext cx="1345393" cy="310896"/>
          </a:xfrm>
          <a:prstGeom prst="rect">
            <a:avLst/>
          </a:prstGeom>
          <a:noFill/>
          <a:ln/>
        </p:spPr>
        <p:txBody>
          <a:bodyPr wrap="square" lIns="0" tIns="0" rIns="0" bIns="0" rtlCol="0" anchor="ctr"/>
          <a:lstStyle/>
          <a:p>
            <a:pPr algn="r" indent="0" marL="0">
              <a:buNone/>
            </a:pPr>
            <a:r>
              <a:rPr lang="en-US" sz="2100" b="1" dirty="0">
                <a:solidFill>
                  <a:srgbClr val="0CA30C"/>
                </a:solidFill>
                <a:latin typeface="Arial" pitchFamily="34" charset="0"/>
                <a:ea typeface="Arial" pitchFamily="34" charset="-122"/>
                <a:cs typeface="Arial" pitchFamily="34" charset="-120"/>
              </a:rPr>
              <a:t>0.828</a:t>
            </a:r>
            <a:endParaRPr lang="en-US" sz="2100" dirty="0"/>
          </a:p>
        </p:txBody>
      </p:sp>
      <p:sp>
        <p:nvSpPr>
          <p:cNvPr id="30" name="Shape 26"/>
          <p:cNvSpPr/>
          <p:nvPr/>
        </p:nvSpPr>
        <p:spPr>
          <a:xfrm>
            <a:off x="7717536" y="1892808"/>
            <a:ext cx="3925519" cy="530352"/>
          </a:xfrm>
          <a:prstGeom prst="roundRect">
            <a:avLst>
              <a:gd name="adj" fmla="val 15517"/>
            </a:avLst>
          </a:prstGeom>
          <a:solidFill>
            <a:srgbClr val="1A1F28"/>
          </a:solidFill>
          <a:ln w="12700">
            <a:solidFill>
              <a:srgbClr val="2B323F"/>
            </a:solidFill>
            <a:prstDash val="solid"/>
          </a:ln>
        </p:spPr>
      </p:sp>
      <p:sp>
        <p:nvSpPr>
          <p:cNvPr id="31" name="Text 27"/>
          <p:cNvSpPr txBox="1"/>
          <p:nvPr/>
        </p:nvSpPr>
        <p:spPr>
          <a:xfrm>
            <a:off x="7863840" y="1975104"/>
            <a:ext cx="2355312" cy="182880"/>
          </a:xfrm>
          <a:prstGeom prst="rect">
            <a:avLst/>
          </a:prstGeom>
          <a:noFill/>
          <a:ln/>
        </p:spPr>
        <p:txBody>
          <a:bodyPr wrap="square" lIns="0" tIns="0" rIns="0" bIns="0" rtlCol="0" anchor="ctr"/>
          <a:lstStyle/>
          <a:p>
            <a:pPr indent="0" marL="0">
              <a:buNone/>
            </a:pPr>
            <a:r>
              <a:rPr lang="en-US" sz="850" b="1" spc="100" kern="0" dirty="0">
                <a:solidFill>
                  <a:srgbClr val="8A93A3"/>
                </a:solidFill>
                <a:latin typeface="Calibri" pitchFamily="34" charset="0"/>
                <a:ea typeface="Calibri" pitchFamily="34" charset="-122"/>
                <a:cs typeface="Calibri" pitchFamily="34" charset="-120"/>
              </a:rPr>
              <a:t>HELD-OUT ACCURACY</a:t>
            </a:r>
            <a:endParaRPr lang="en-US" sz="850" dirty="0"/>
          </a:p>
        </p:txBody>
      </p:sp>
      <p:sp>
        <p:nvSpPr>
          <p:cNvPr id="32" name="Text 28"/>
          <p:cNvSpPr txBox="1"/>
          <p:nvPr/>
        </p:nvSpPr>
        <p:spPr>
          <a:xfrm>
            <a:off x="7863840" y="2176272"/>
            <a:ext cx="2433822" cy="182880"/>
          </a:xfrm>
          <a:prstGeom prst="rect">
            <a:avLst/>
          </a:prstGeom>
          <a:noFill/>
          <a:ln/>
        </p:spPr>
        <p:txBody>
          <a:bodyPr wrap="square" lIns="0" tIns="0" rIns="0" bIns="0" rtlCol="0" anchor="ctr"/>
          <a:lstStyle/>
          <a:p>
            <a:pPr indent="0" marL="0">
              <a:buNone/>
            </a:pPr>
            <a:r>
              <a:rPr lang="en-US" sz="900" dirty="0">
                <a:solidFill>
                  <a:srgbClr val="8A93A3"/>
                </a:solidFill>
                <a:latin typeface="Calibri" pitchFamily="34" charset="0"/>
                <a:ea typeface="Calibri" pitchFamily="34" charset="-122"/>
                <a:cs typeface="Calibri" pitchFamily="34" charset="-120"/>
              </a:rPr>
              <a:t>Base rate 0.123</a:t>
            </a:r>
            <a:endParaRPr lang="en-US" sz="900" dirty="0"/>
          </a:p>
        </p:txBody>
      </p:sp>
      <p:sp>
        <p:nvSpPr>
          <p:cNvPr id="33" name="Text 29"/>
          <p:cNvSpPr txBox="1"/>
          <p:nvPr/>
        </p:nvSpPr>
        <p:spPr>
          <a:xfrm>
            <a:off x="10151358" y="2011680"/>
            <a:ext cx="1345393" cy="310896"/>
          </a:xfrm>
          <a:prstGeom prst="rect">
            <a:avLst/>
          </a:prstGeom>
          <a:noFill/>
          <a:ln/>
        </p:spPr>
        <p:txBody>
          <a:bodyPr wrap="square" lIns="0" tIns="0" rIns="0" bIns="0" rtlCol="0" anchor="ctr"/>
          <a:lstStyle/>
          <a:p>
            <a:pPr algn="r" indent="0" marL="0">
              <a:buNone/>
            </a:pPr>
            <a:r>
              <a:rPr lang="en-US" sz="2100" b="1" dirty="0">
                <a:solidFill>
                  <a:srgbClr val="FFFFFF"/>
                </a:solidFill>
                <a:latin typeface="Arial" pitchFamily="34" charset="0"/>
                <a:ea typeface="Arial" pitchFamily="34" charset="-122"/>
                <a:cs typeface="Arial" pitchFamily="34" charset="-120"/>
              </a:rPr>
              <a:t>0.889</a:t>
            </a:r>
            <a:endParaRPr lang="en-US" sz="2100" dirty="0"/>
          </a:p>
        </p:txBody>
      </p:sp>
      <p:sp>
        <p:nvSpPr>
          <p:cNvPr id="34" name="Shape 30"/>
          <p:cNvSpPr/>
          <p:nvPr/>
        </p:nvSpPr>
        <p:spPr>
          <a:xfrm>
            <a:off x="7717536" y="2487168"/>
            <a:ext cx="3925519" cy="530352"/>
          </a:xfrm>
          <a:prstGeom prst="roundRect">
            <a:avLst>
              <a:gd name="adj" fmla="val 15517"/>
            </a:avLst>
          </a:prstGeom>
          <a:solidFill>
            <a:srgbClr val="1A1F28"/>
          </a:solidFill>
          <a:ln w="12700">
            <a:solidFill>
              <a:srgbClr val="2B323F"/>
            </a:solidFill>
            <a:prstDash val="solid"/>
          </a:ln>
        </p:spPr>
      </p:sp>
      <p:sp>
        <p:nvSpPr>
          <p:cNvPr id="35" name="Text 31"/>
          <p:cNvSpPr txBox="1"/>
          <p:nvPr/>
        </p:nvSpPr>
        <p:spPr>
          <a:xfrm>
            <a:off x="7863840" y="2569464"/>
            <a:ext cx="2355312" cy="182880"/>
          </a:xfrm>
          <a:prstGeom prst="rect">
            <a:avLst/>
          </a:prstGeom>
          <a:noFill/>
          <a:ln/>
        </p:spPr>
        <p:txBody>
          <a:bodyPr wrap="square" lIns="0" tIns="0" rIns="0" bIns="0" rtlCol="0" anchor="ctr"/>
          <a:lstStyle/>
          <a:p>
            <a:pPr indent="0" marL="0">
              <a:buNone/>
            </a:pPr>
            <a:r>
              <a:rPr lang="en-US" sz="850" b="1" spc="100" kern="0" dirty="0">
                <a:solidFill>
                  <a:srgbClr val="8A93A3"/>
                </a:solidFill>
                <a:latin typeface="Calibri" pitchFamily="34" charset="0"/>
                <a:ea typeface="Calibri" pitchFamily="34" charset="-122"/>
                <a:cs typeface="Calibri" pitchFamily="34" charset="-120"/>
              </a:rPr>
              <a:t>TRAINING RECORDS</a:t>
            </a:r>
            <a:endParaRPr lang="en-US" sz="850" dirty="0"/>
          </a:p>
        </p:txBody>
      </p:sp>
      <p:sp>
        <p:nvSpPr>
          <p:cNvPr id="36" name="Text 32"/>
          <p:cNvSpPr txBox="1"/>
          <p:nvPr/>
        </p:nvSpPr>
        <p:spPr>
          <a:xfrm>
            <a:off x="7863840" y="2770632"/>
            <a:ext cx="2433822" cy="182880"/>
          </a:xfrm>
          <a:prstGeom prst="rect">
            <a:avLst/>
          </a:prstGeom>
          <a:noFill/>
          <a:ln/>
        </p:spPr>
        <p:txBody>
          <a:bodyPr wrap="square" lIns="0" tIns="0" rIns="0" bIns="0" rtlCol="0" anchor="ctr"/>
          <a:lstStyle/>
          <a:p>
            <a:pPr indent="0" marL="0">
              <a:buNone/>
            </a:pPr>
            <a:r>
              <a:rPr lang="en-US" sz="900" dirty="0">
                <a:solidFill>
                  <a:srgbClr val="8A93A3"/>
                </a:solidFill>
                <a:latin typeface="Calibri" pitchFamily="34" charset="0"/>
                <a:ea typeface="Calibri" pitchFamily="34" charset="-122"/>
                <a:cs typeface="Calibri" pitchFamily="34" charset="-120"/>
              </a:rPr>
              <a:t>2,505 held out on a stride split</a:t>
            </a:r>
            <a:endParaRPr lang="en-US" sz="900" dirty="0"/>
          </a:p>
        </p:txBody>
      </p:sp>
      <p:sp>
        <p:nvSpPr>
          <p:cNvPr id="37" name="Text 33"/>
          <p:cNvSpPr txBox="1"/>
          <p:nvPr/>
        </p:nvSpPr>
        <p:spPr>
          <a:xfrm>
            <a:off x="10151358" y="2606040"/>
            <a:ext cx="1345393" cy="310896"/>
          </a:xfrm>
          <a:prstGeom prst="rect">
            <a:avLst/>
          </a:prstGeom>
          <a:noFill/>
          <a:ln/>
        </p:spPr>
        <p:txBody>
          <a:bodyPr wrap="square" lIns="0" tIns="0" rIns="0" bIns="0" rtlCol="0" anchor="ctr"/>
          <a:lstStyle/>
          <a:p>
            <a:pPr algn="r" indent="0" marL="0">
              <a:buNone/>
            </a:pPr>
            <a:r>
              <a:rPr lang="en-US" sz="2100" b="1" dirty="0">
                <a:solidFill>
                  <a:srgbClr val="FFFFFF"/>
                </a:solidFill>
                <a:latin typeface="Arial" pitchFamily="34" charset="0"/>
                <a:ea typeface="Arial" pitchFamily="34" charset="-122"/>
                <a:cs typeface="Arial" pitchFamily="34" charset="-120"/>
              </a:rPr>
              <a:t>10,023</a:t>
            </a:r>
            <a:endParaRPr lang="en-US" sz="2100" dirty="0"/>
          </a:p>
        </p:txBody>
      </p:sp>
      <p:sp>
        <p:nvSpPr>
          <p:cNvPr id="38" name="Shape 34"/>
          <p:cNvSpPr/>
          <p:nvPr/>
        </p:nvSpPr>
        <p:spPr>
          <a:xfrm>
            <a:off x="7717536" y="3081528"/>
            <a:ext cx="3925519" cy="530352"/>
          </a:xfrm>
          <a:prstGeom prst="roundRect">
            <a:avLst>
              <a:gd name="adj" fmla="val 15517"/>
            </a:avLst>
          </a:prstGeom>
          <a:solidFill>
            <a:srgbClr val="1A1F28"/>
          </a:solidFill>
          <a:ln w="12700">
            <a:solidFill>
              <a:srgbClr val="2B323F"/>
            </a:solidFill>
            <a:prstDash val="solid"/>
          </a:ln>
        </p:spPr>
      </p:sp>
      <p:sp>
        <p:nvSpPr>
          <p:cNvPr id="39" name="Text 35"/>
          <p:cNvSpPr txBox="1"/>
          <p:nvPr/>
        </p:nvSpPr>
        <p:spPr>
          <a:xfrm>
            <a:off x="7863840" y="3163824"/>
            <a:ext cx="2355312" cy="182880"/>
          </a:xfrm>
          <a:prstGeom prst="rect">
            <a:avLst/>
          </a:prstGeom>
          <a:noFill/>
          <a:ln/>
        </p:spPr>
        <p:txBody>
          <a:bodyPr wrap="square" lIns="0" tIns="0" rIns="0" bIns="0" rtlCol="0" anchor="ctr"/>
          <a:lstStyle/>
          <a:p>
            <a:pPr indent="0" marL="0">
              <a:buNone/>
            </a:pPr>
            <a:r>
              <a:rPr lang="en-US" sz="850" b="1" spc="100" kern="0" dirty="0">
                <a:solidFill>
                  <a:srgbClr val="8A93A3"/>
                </a:solidFill>
                <a:latin typeface="Calibri" pitchFamily="34" charset="0"/>
                <a:ea typeface="Calibri" pitchFamily="34" charset="-122"/>
                <a:cs typeface="Calibri" pitchFamily="34" charset="-120"/>
              </a:rPr>
              <a:t>FIT TIME</a:t>
            </a:r>
            <a:endParaRPr lang="en-US" sz="850" dirty="0"/>
          </a:p>
        </p:txBody>
      </p:sp>
      <p:sp>
        <p:nvSpPr>
          <p:cNvPr id="40" name="Text 36"/>
          <p:cNvSpPr txBox="1"/>
          <p:nvPr/>
        </p:nvSpPr>
        <p:spPr>
          <a:xfrm>
            <a:off x="7863840" y="3364992"/>
            <a:ext cx="2433822" cy="182880"/>
          </a:xfrm>
          <a:prstGeom prst="rect">
            <a:avLst/>
          </a:prstGeom>
          <a:noFill/>
          <a:ln/>
        </p:spPr>
        <p:txBody>
          <a:bodyPr wrap="square" lIns="0" tIns="0" rIns="0" bIns="0" rtlCol="0" anchor="ctr"/>
          <a:lstStyle/>
          <a:p>
            <a:pPr indent="0" marL="0">
              <a:buNone/>
            </a:pPr>
            <a:r>
              <a:rPr lang="en-US" sz="900" dirty="0">
                <a:solidFill>
                  <a:srgbClr val="8A93A3"/>
                </a:solidFill>
                <a:latin typeface="Calibri" pitchFamily="34" charset="0"/>
                <a:ea typeface="Calibri" pitchFamily="34" charset="-122"/>
                <a:cs typeface="Calibri" pitchFamily="34" charset="-120"/>
              </a:rPr>
              <a:t>Refitted on every server start</a:t>
            </a:r>
            <a:endParaRPr lang="en-US" sz="900" dirty="0"/>
          </a:p>
        </p:txBody>
      </p:sp>
      <p:sp>
        <p:nvSpPr>
          <p:cNvPr id="41" name="Text 37"/>
          <p:cNvSpPr txBox="1"/>
          <p:nvPr/>
        </p:nvSpPr>
        <p:spPr>
          <a:xfrm>
            <a:off x="10151358" y="3200400"/>
            <a:ext cx="1345393" cy="310896"/>
          </a:xfrm>
          <a:prstGeom prst="rect">
            <a:avLst/>
          </a:prstGeom>
          <a:noFill/>
          <a:ln/>
        </p:spPr>
        <p:txBody>
          <a:bodyPr wrap="square" lIns="0" tIns="0" rIns="0" bIns="0" rtlCol="0" anchor="ctr"/>
          <a:lstStyle/>
          <a:p>
            <a:pPr algn="r" indent="0" marL="0">
              <a:buNone/>
            </a:pPr>
            <a:r>
              <a:rPr lang="en-US" sz="2100" b="1" dirty="0">
                <a:solidFill>
                  <a:srgbClr val="FFFFFF"/>
                </a:solidFill>
                <a:latin typeface="Arial" pitchFamily="34" charset="0"/>
                <a:ea typeface="Arial" pitchFamily="34" charset="-122"/>
                <a:cs typeface="Arial" pitchFamily="34" charset="-120"/>
              </a:rPr>
              <a:t>924</a:t>
            </a:r>
            <a:pPr algn="r" indent="0" marL="0">
              <a:buNone/>
            </a:pPr>
            <a:r>
              <a:rPr lang="en-US" sz="1000" dirty="0">
                <a:solidFill>
                  <a:srgbClr val="8A93A3"/>
                </a:solidFill>
                <a:latin typeface="Calibri" pitchFamily="34" charset="0"/>
                <a:ea typeface="Calibri" pitchFamily="34" charset="-122"/>
                <a:cs typeface="Calibri" pitchFamily="34" charset="-120"/>
              </a:rPr>
              <a:t> ms</a:t>
            </a:r>
            <a:endParaRPr lang="en-US" sz="2100" dirty="0"/>
          </a:p>
        </p:txBody>
      </p:sp>
      <p:sp>
        <p:nvSpPr>
          <p:cNvPr id="42" name="Shape 38"/>
          <p:cNvSpPr/>
          <p:nvPr/>
        </p:nvSpPr>
        <p:spPr>
          <a:xfrm>
            <a:off x="548640" y="3712464"/>
            <a:ext cx="6986016" cy="2011680"/>
          </a:xfrm>
          <a:prstGeom prst="roundRect">
            <a:avLst>
              <a:gd name="adj" fmla="val 4091"/>
            </a:avLst>
          </a:prstGeom>
          <a:solidFill>
            <a:srgbClr val="1A1F28"/>
          </a:solidFill>
          <a:ln w="12700">
            <a:solidFill>
              <a:srgbClr val="2B323F"/>
            </a:solidFill>
            <a:prstDash val="solid"/>
          </a:ln>
        </p:spPr>
      </p:sp>
      <p:sp>
        <p:nvSpPr>
          <p:cNvPr id="43" name="Text 39"/>
          <p:cNvSpPr txBox="1"/>
          <p:nvPr/>
        </p:nvSpPr>
        <p:spPr>
          <a:xfrm>
            <a:off x="749808" y="3822192"/>
            <a:ext cx="658368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Learned feature weights  ·  standardised coefficients</a:t>
            </a:r>
            <a:endParaRPr lang="en-US" sz="1150" dirty="0"/>
          </a:p>
        </p:txBody>
      </p:sp>
      <p:graphicFrame>
        <p:nvGraphicFramePr>
          <p:cNvPr id="44" name="Chart 0" descr=""/>
          <p:cNvGraphicFramePr/>
          <p:nvPr/>
        </p:nvGraphicFramePr>
        <p:xfrm>
          <a:off x="694944" y="4078224"/>
          <a:ext cx="6711696" cy="1572768"/>
        </p:xfrm>
        <a:graphic xmlns:a="http://schemas.openxmlformats.org/drawingml/2006/main">
          <a:graphicData uri="http://schemas.openxmlformats.org/drawingml/2006/chart">
            <c:chart xmlns:c="http://schemas.openxmlformats.org/drawingml/2006/chart" r:id="rId3"/>
          </a:graphicData>
        </a:graphic>
      </p:graphicFrame>
      <p:sp>
        <p:nvSpPr>
          <p:cNvPr id="45" name="Shape 40"/>
          <p:cNvSpPr/>
          <p:nvPr/>
        </p:nvSpPr>
        <p:spPr>
          <a:xfrm>
            <a:off x="7717536" y="3712464"/>
            <a:ext cx="3925519" cy="2011680"/>
          </a:xfrm>
          <a:prstGeom prst="roundRect">
            <a:avLst>
              <a:gd name="adj" fmla="val 4091"/>
            </a:avLst>
          </a:prstGeom>
          <a:solidFill>
            <a:srgbClr val="1A1F28"/>
          </a:solidFill>
          <a:ln w="12700">
            <a:solidFill>
              <a:srgbClr val="2B323F"/>
            </a:solidFill>
            <a:prstDash val="solid"/>
          </a:ln>
        </p:spPr>
      </p:sp>
      <p:sp>
        <p:nvSpPr>
          <p:cNvPr id="46" name="Shape 41"/>
          <p:cNvSpPr/>
          <p:nvPr/>
        </p:nvSpPr>
        <p:spPr>
          <a:xfrm>
            <a:off x="7918704" y="3895344"/>
            <a:ext cx="384048" cy="384048"/>
          </a:xfrm>
          <a:prstGeom prst="ellipse">
            <a:avLst/>
          </a:prstGeom>
          <a:solidFill>
            <a:srgbClr val="1E2937"/>
          </a:solidFill>
          <a:ln w="12700">
            <a:solidFill>
              <a:srgbClr val="0CA30C"/>
            </a:solidFill>
            <a:prstDash val="solid"/>
          </a:ln>
        </p:spPr>
      </p:sp>
      <p:pic>
        <p:nvPicPr>
          <p:cNvPr id="47" name="Image 2" descr="preencoded.png">    </p:cNvPr>
          <p:cNvPicPr>
            <a:picLocks noChangeAspect="1"/>
          </p:cNvPicPr>
          <p:nvPr/>
        </p:nvPicPr>
        <p:blipFill>
          <a:blip r:embed="rId4"/>
          <a:stretch>
            <a:fillRect/>
          </a:stretch>
        </p:blipFill>
        <p:spPr>
          <a:xfrm>
            <a:off x="8026237" y="4002877"/>
            <a:ext cx="168981" cy="168981"/>
          </a:xfrm>
          <a:prstGeom prst="rect">
            <a:avLst/>
          </a:prstGeom>
        </p:spPr>
      </p:pic>
      <p:sp>
        <p:nvSpPr>
          <p:cNvPr id="48" name="Text 42"/>
          <p:cNvSpPr txBox="1"/>
          <p:nvPr/>
        </p:nvSpPr>
        <p:spPr>
          <a:xfrm>
            <a:off x="8412480" y="3950208"/>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Blended 45 / 55</a:t>
            </a:r>
            <a:endParaRPr lang="en-US" sz="1300" dirty="0"/>
          </a:p>
        </p:txBody>
      </p:sp>
      <p:sp>
        <p:nvSpPr>
          <p:cNvPr id="49" name="Text 43"/>
          <p:cNvSpPr txBox="1"/>
          <p:nvPr/>
        </p:nvSpPr>
        <p:spPr>
          <a:xfrm>
            <a:off x="7918704" y="4425696"/>
            <a:ext cx="3523183" cy="1188720"/>
          </a:xfrm>
          <a:prstGeom prst="rect">
            <a:avLst/>
          </a:prstGeom>
          <a:noFill/>
          <a:ln/>
        </p:spPr>
        <p:txBody>
          <a:bodyPr wrap="square" lIns="0" tIns="0" rIns="0" bIns="0" rtlCol="0" anchor="t"/>
          <a:lstStyle/>
          <a:p>
            <a:pPr indent="0" marL="0">
              <a:lnSpc>
                <a:spcPct val="116000"/>
              </a:lnSpc>
              <a:buNone/>
            </a:pPr>
            <a:r>
              <a:rPr lang="en-US" sz="1030" dirty="0">
                <a:solidFill>
                  <a:srgbClr val="C3C2B7"/>
                </a:solidFill>
                <a:latin typeface="Calibri" pitchFamily="34" charset="0"/>
                <a:ea typeface="Calibri" pitchFamily="34" charset="-122"/>
                <a:cs typeface="Calibri" pitchFamily="34" charset="-120"/>
              </a:rPr>
              <a:t>Both components are reported on every corridor, side by side, so the number can be argued with rather than taken on faith. A corridor with no historical signal still gets a sane physical estimate; a corridor the data knows well gets the benefit of it.</a:t>
            </a:r>
            <a:endParaRPr lang="en-US" sz="1030" dirty="0"/>
          </a:p>
        </p:txBody>
      </p:sp>
      <p:sp>
        <p:nvSpPr>
          <p:cNvPr id="50" name="Text 44"/>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51" name="Text 45"/>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ENGINE  ·  04</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Accessibility: scoring places, not just paths</a:t>
            </a:r>
            <a:endParaRPr lang="en-US" sz="3000" dirty="0"/>
          </a:p>
        </p:txBody>
      </p:sp>
      <p:sp>
        <p:nvSpPr>
          <p:cNvPr id="4" name="Text 2"/>
          <p:cNvSpPr txBox="1"/>
          <p:nvPr/>
        </p:nvSpPr>
        <p:spPr>
          <a:xfrm>
            <a:off x="548640" y="1133856"/>
            <a:ext cx="9875520" cy="292608"/>
          </a:xfrm>
          <a:prstGeom prst="rect">
            <a:avLst/>
          </a:prstGeom>
          <a:noFill/>
          <a:ln/>
        </p:spPr>
        <p:txBody>
          <a:bodyPr wrap="square" lIns="0" tIns="0" rIns="0" bIns="0" rtlCol="0" anchor="ctr"/>
          <a:lstStyle/>
          <a:p>
            <a:pPr indent="0" marL="0">
              <a:buNone/>
            </a:pPr>
            <a:r>
              <a:rPr lang="en-US" sz="1200" i="1" dirty="0">
                <a:solidFill>
                  <a:srgbClr val="C3C2B7"/>
                </a:solidFill>
                <a:latin typeface="Calibri" pitchFamily="34" charset="0"/>
                <a:ea typeface="Calibri" pitchFamily="34" charset="-122"/>
                <a:cs typeface="Calibri" pitchFamily="34" charset="-120"/>
              </a:rPr>
              <a:t>Two related questions. Is this route physically usable for this consignment and these people? And how well-served is this settlement in the first place?</a:t>
            </a:r>
            <a:endParaRPr lang="en-US" sz="1200" dirty="0"/>
          </a:p>
        </p:txBody>
      </p:sp>
      <p:sp>
        <p:nvSpPr>
          <p:cNvPr id="5" name="Shape 3"/>
          <p:cNvSpPr/>
          <p:nvPr/>
        </p:nvSpPr>
        <p:spPr>
          <a:xfrm>
            <a:off x="548640" y="1572768"/>
            <a:ext cx="5486400" cy="2157984"/>
          </a:xfrm>
          <a:prstGeom prst="roundRect">
            <a:avLst>
              <a:gd name="adj" fmla="val 3814"/>
            </a:avLst>
          </a:prstGeom>
          <a:solidFill>
            <a:srgbClr val="1A1F28"/>
          </a:solidFill>
          <a:ln w="12700">
            <a:solidFill>
              <a:srgbClr val="2B323F"/>
            </a:solidFill>
            <a:prstDash val="solid"/>
          </a:ln>
        </p:spPr>
      </p:sp>
      <p:sp>
        <p:nvSpPr>
          <p:cNvPr id="6" name="Text 4"/>
          <p:cNvSpPr txBox="1"/>
          <p:nvPr/>
        </p:nvSpPr>
        <p:spPr>
          <a:xfrm>
            <a:off x="749808" y="1700784"/>
            <a:ext cx="512064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Route accessibility  ·  checked against the consignment</a:t>
            </a:r>
            <a:endParaRPr lang="en-US" sz="1250" dirty="0"/>
          </a:p>
        </p:txBody>
      </p:sp>
      <p:sp>
        <p:nvSpPr>
          <p:cNvPr id="7" name="Shape 5"/>
          <p:cNvSpPr/>
          <p:nvPr/>
        </p:nvSpPr>
        <p:spPr>
          <a:xfrm>
            <a:off x="768096" y="2144268"/>
            <a:ext cx="77724" cy="77724"/>
          </a:xfrm>
          <a:prstGeom prst="ellipse">
            <a:avLst/>
          </a:prstGeom>
          <a:solidFill>
            <a:srgbClr val="D03B3B"/>
          </a:solidFill>
          <a:ln/>
        </p:spPr>
      </p:sp>
      <p:sp>
        <p:nvSpPr>
          <p:cNvPr id="8" name="Text 6"/>
          <p:cNvSpPr txBox="1"/>
          <p:nvPr/>
        </p:nvSpPr>
        <p:spPr>
          <a:xfrm>
            <a:off x="950976" y="2066544"/>
            <a:ext cx="4846320" cy="384048"/>
          </a:xfrm>
          <a:prstGeom prst="rect">
            <a:avLst/>
          </a:prstGeom>
          <a:noFill/>
          <a:ln/>
        </p:spPr>
        <p:txBody>
          <a:bodyPr wrap="square" lIns="0" tIns="0" rIns="0" bIns="0" rtlCol="0" anchor="t"/>
          <a:lstStyle/>
          <a:p>
            <a:pPr indent="0" marL="0">
              <a:lnSpc>
                <a:spcPct val="112000"/>
              </a:lnSpc>
              <a:buNone/>
            </a:pPr>
            <a:r>
              <a:rPr lang="en-US" sz="1040" b="1" dirty="0">
                <a:solidFill>
                  <a:srgbClr val="FFFFFF"/>
                </a:solidFill>
                <a:latin typeface="Calibri" pitchFamily="34" charset="0"/>
                <a:ea typeface="Calibri" pitchFamily="34" charset="-122"/>
                <a:cs typeface="Calibri" pitchFamily="34" charset="-120"/>
              </a:rPr>
              <a:t>Bridge load class  </a:t>
            </a:r>
            <a:pPr indent="0" marL="0">
              <a:lnSpc>
                <a:spcPct val="112000"/>
              </a:lnSpc>
              <a:buNone/>
            </a:pPr>
            <a:r>
              <a:rPr lang="en-US" sz="1040" dirty="0">
                <a:solidFill>
                  <a:srgbClr val="C3C2B7"/>
                </a:solidFill>
                <a:latin typeface="Calibri" pitchFamily="34" charset="0"/>
                <a:ea typeface="Calibri" pitchFamily="34" charset="-122"/>
                <a:cs typeface="Calibri" pitchFamily="34" charset="-120"/>
              </a:rPr>
              <a:t>against the vehicle's gross weight - a blocking barrier, with the mitigation stated</a:t>
            </a:r>
            <a:endParaRPr lang="en-US" sz="1040" dirty="0"/>
          </a:p>
        </p:txBody>
      </p:sp>
      <p:sp>
        <p:nvSpPr>
          <p:cNvPr id="9" name="Shape 7"/>
          <p:cNvSpPr/>
          <p:nvPr/>
        </p:nvSpPr>
        <p:spPr>
          <a:xfrm>
            <a:off x="768096" y="2528316"/>
            <a:ext cx="77724" cy="77724"/>
          </a:xfrm>
          <a:prstGeom prst="ellipse">
            <a:avLst/>
          </a:prstGeom>
          <a:solidFill>
            <a:srgbClr val="FAB219"/>
          </a:solidFill>
          <a:ln/>
        </p:spPr>
      </p:sp>
      <p:sp>
        <p:nvSpPr>
          <p:cNvPr id="10" name="Text 8"/>
          <p:cNvSpPr txBox="1"/>
          <p:nvPr/>
        </p:nvSpPr>
        <p:spPr>
          <a:xfrm>
            <a:off x="950976" y="2450592"/>
            <a:ext cx="4846320" cy="384048"/>
          </a:xfrm>
          <a:prstGeom prst="rect">
            <a:avLst/>
          </a:prstGeom>
          <a:noFill/>
          <a:ln/>
        </p:spPr>
        <p:txBody>
          <a:bodyPr wrap="square" lIns="0" tIns="0" rIns="0" bIns="0" rtlCol="0" anchor="t"/>
          <a:lstStyle/>
          <a:p>
            <a:pPr indent="0" marL="0">
              <a:lnSpc>
                <a:spcPct val="112000"/>
              </a:lnSpc>
              <a:buNone/>
            </a:pPr>
            <a:r>
              <a:rPr lang="en-US" sz="1040" b="1" dirty="0">
                <a:solidFill>
                  <a:srgbClr val="FFFFFF"/>
                </a:solidFill>
                <a:latin typeface="Calibri" pitchFamily="34" charset="0"/>
                <a:ea typeface="Calibri" pitchFamily="34" charset="-122"/>
                <a:cs typeface="Calibri" pitchFamily="34" charset="-120"/>
              </a:rPr>
              <a:t>Gradient and lanes  </a:t>
            </a:r>
            <a:pPr indent="0" marL="0">
              <a:lnSpc>
                <a:spcPct val="112000"/>
              </a:lnSpc>
              <a:buNone/>
            </a:pPr>
            <a:r>
              <a:rPr lang="en-US" sz="1040" dirty="0">
                <a:solidFill>
                  <a:srgbClr val="C3C2B7"/>
                </a:solidFill>
                <a:latin typeface="Calibri" pitchFamily="34" charset="0"/>
                <a:ea typeface="Calibri" pitchFamily="34" charset="-122"/>
                <a:cs typeface="Calibri" pitchFamily="34" charset="-120"/>
              </a:rPr>
              <a:t>sustained climbs above 10% restrict heavy and low-power vehicles</a:t>
            </a:r>
            <a:endParaRPr lang="en-US" sz="1040" dirty="0"/>
          </a:p>
        </p:txBody>
      </p:sp>
      <p:sp>
        <p:nvSpPr>
          <p:cNvPr id="11" name="Shape 9"/>
          <p:cNvSpPr/>
          <p:nvPr/>
        </p:nvSpPr>
        <p:spPr>
          <a:xfrm>
            <a:off x="768096" y="2912364"/>
            <a:ext cx="77724" cy="77724"/>
          </a:xfrm>
          <a:prstGeom prst="ellipse">
            <a:avLst/>
          </a:prstGeom>
          <a:solidFill>
            <a:srgbClr val="FAB219"/>
          </a:solidFill>
          <a:ln/>
        </p:spPr>
      </p:sp>
      <p:sp>
        <p:nvSpPr>
          <p:cNvPr id="12" name="Text 10"/>
          <p:cNvSpPr txBox="1"/>
          <p:nvPr/>
        </p:nvSpPr>
        <p:spPr>
          <a:xfrm>
            <a:off x="950976" y="2834640"/>
            <a:ext cx="4846320" cy="384048"/>
          </a:xfrm>
          <a:prstGeom prst="rect">
            <a:avLst/>
          </a:prstGeom>
          <a:noFill/>
          <a:ln/>
        </p:spPr>
        <p:txBody>
          <a:bodyPr wrap="square" lIns="0" tIns="0" rIns="0" bIns="0" rtlCol="0" anchor="t"/>
          <a:lstStyle/>
          <a:p>
            <a:pPr indent="0" marL="0">
              <a:lnSpc>
                <a:spcPct val="112000"/>
              </a:lnSpc>
              <a:buNone/>
            </a:pPr>
            <a:r>
              <a:rPr lang="en-US" sz="1040" b="1" dirty="0">
                <a:solidFill>
                  <a:srgbClr val="FFFFFF"/>
                </a:solidFill>
                <a:latin typeface="Calibri" pitchFamily="34" charset="0"/>
                <a:ea typeface="Calibri" pitchFamily="34" charset="-122"/>
                <a:cs typeface="Calibri" pitchFamily="34" charset="-120"/>
              </a:rPr>
              <a:t>All-weather status  </a:t>
            </a:r>
            <a:pPr indent="0" marL="0">
              <a:lnSpc>
                <a:spcPct val="112000"/>
              </a:lnSpc>
              <a:buNone/>
            </a:pPr>
            <a:r>
              <a:rPr lang="en-US" sz="1040" dirty="0">
                <a:solidFill>
                  <a:srgbClr val="C3C2B7"/>
                </a:solidFill>
                <a:latin typeface="Calibri" pitchFamily="34" charset="0"/>
                <a:ea typeface="Calibri" pitchFamily="34" charset="-122"/>
                <a:cs typeface="Calibri" pitchFamily="34" charset="-120"/>
              </a:rPr>
              <a:t>corridors liable to close under sustained rain are flagged before dispatch</a:t>
            </a:r>
            <a:endParaRPr lang="en-US" sz="1040" dirty="0"/>
          </a:p>
        </p:txBody>
      </p:sp>
      <p:sp>
        <p:nvSpPr>
          <p:cNvPr id="13" name="Shape 11"/>
          <p:cNvSpPr/>
          <p:nvPr/>
        </p:nvSpPr>
        <p:spPr>
          <a:xfrm>
            <a:off x="768096" y="3296412"/>
            <a:ext cx="77724" cy="77724"/>
          </a:xfrm>
          <a:prstGeom prst="ellipse">
            <a:avLst/>
          </a:prstGeom>
          <a:solidFill>
            <a:srgbClr val="9085E9"/>
          </a:solidFill>
          <a:ln/>
        </p:spPr>
      </p:sp>
      <p:sp>
        <p:nvSpPr>
          <p:cNvPr id="14" name="Text 12"/>
          <p:cNvSpPr txBox="1"/>
          <p:nvPr/>
        </p:nvSpPr>
        <p:spPr>
          <a:xfrm>
            <a:off x="950976" y="3218688"/>
            <a:ext cx="4846320" cy="384048"/>
          </a:xfrm>
          <a:prstGeom prst="rect">
            <a:avLst/>
          </a:prstGeom>
          <a:noFill/>
          <a:ln/>
        </p:spPr>
        <p:txBody>
          <a:bodyPr wrap="square" lIns="0" tIns="0" rIns="0" bIns="0" rtlCol="0" anchor="t"/>
          <a:lstStyle/>
          <a:p>
            <a:pPr indent="0" marL="0">
              <a:lnSpc>
                <a:spcPct val="112000"/>
              </a:lnSpc>
              <a:buNone/>
            </a:pPr>
            <a:r>
              <a:rPr lang="en-US" sz="1040" b="1" dirty="0">
                <a:solidFill>
                  <a:srgbClr val="FFFFFF"/>
                </a:solidFill>
                <a:latin typeface="Calibri" pitchFamily="34" charset="0"/>
                <a:ea typeface="Calibri" pitchFamily="34" charset="-122"/>
                <a:cs typeface="Calibri" pitchFamily="34" charset="-120"/>
              </a:rPr>
              <a:t>Step-free handling  </a:t>
            </a:r>
            <a:pPr indent="0" marL="0">
              <a:lnSpc>
                <a:spcPct val="112000"/>
              </a:lnSpc>
              <a:buNone/>
            </a:pPr>
            <a:r>
              <a:rPr lang="en-US" sz="1040" dirty="0">
                <a:solidFill>
                  <a:srgbClr val="C3C2B7"/>
                </a:solidFill>
                <a:latin typeface="Calibri" pitchFamily="34" charset="0"/>
                <a:ea typeface="Calibri" pitchFamily="34" charset="-122"/>
                <a:cs typeface="Calibri" pitchFamily="34" charset="-120"/>
              </a:rPr>
              <a:t>checked at every terminal the load passes through, when required</a:t>
            </a:r>
            <a:endParaRPr lang="en-US" sz="1040" dirty="0"/>
          </a:p>
        </p:txBody>
      </p:sp>
      <p:sp>
        <p:nvSpPr>
          <p:cNvPr id="15" name="Shape 13"/>
          <p:cNvSpPr/>
          <p:nvPr/>
        </p:nvSpPr>
        <p:spPr>
          <a:xfrm>
            <a:off x="6217920" y="1572768"/>
            <a:ext cx="5425135" cy="2157984"/>
          </a:xfrm>
          <a:prstGeom prst="roundRect">
            <a:avLst>
              <a:gd name="adj" fmla="val 3814"/>
            </a:avLst>
          </a:prstGeom>
          <a:solidFill>
            <a:srgbClr val="1A1F28"/>
          </a:solidFill>
          <a:ln w="12700">
            <a:solidFill>
              <a:srgbClr val="2B323F"/>
            </a:solidFill>
            <a:prstDash val="solid"/>
          </a:ln>
        </p:spPr>
      </p:sp>
      <p:sp>
        <p:nvSpPr>
          <p:cNvPr id="16" name="Text 14"/>
          <p:cNvSpPr txBox="1"/>
          <p:nvPr/>
        </p:nvSpPr>
        <p:spPr>
          <a:xfrm>
            <a:off x="6419088" y="1700784"/>
            <a:ext cx="493776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Settlement index  ·  six sub-scores, 0-100</a:t>
            </a:r>
            <a:endParaRPr lang="en-US" sz="1250" dirty="0"/>
          </a:p>
        </p:txBody>
      </p:sp>
      <p:sp>
        <p:nvSpPr>
          <p:cNvPr id="17" name="Text 15"/>
          <p:cNvSpPr txBox="1"/>
          <p:nvPr/>
        </p:nvSpPr>
        <p:spPr>
          <a:xfrm>
            <a:off x="6419088" y="2103120"/>
            <a:ext cx="1828800" cy="219456"/>
          </a:xfrm>
          <a:prstGeom prst="rect">
            <a:avLst/>
          </a:prstGeom>
          <a:noFill/>
          <a:ln/>
        </p:spPr>
        <p:txBody>
          <a:bodyPr wrap="square" lIns="0" tIns="0" rIns="0" bIns="0" rtlCol="0" anchor="ctr"/>
          <a:lstStyle/>
          <a:p>
            <a:pPr indent="0" marL="0">
              <a:buNone/>
            </a:pPr>
            <a:r>
              <a:rPr lang="en-US" sz="1040" dirty="0">
                <a:solidFill>
                  <a:srgbClr val="C3C2B7"/>
                </a:solidFill>
                <a:latin typeface="Calibri" pitchFamily="34" charset="0"/>
                <a:ea typeface="Calibri" pitchFamily="34" charset="-122"/>
                <a:cs typeface="Calibri" pitchFamily="34" charset="-120"/>
              </a:rPr>
              <a:t>Last-mile gap</a:t>
            </a:r>
            <a:endParaRPr lang="en-US" sz="1040" dirty="0"/>
          </a:p>
        </p:txBody>
      </p:sp>
      <p:sp>
        <p:nvSpPr>
          <p:cNvPr id="18" name="Text 16"/>
          <p:cNvSpPr txBox="1"/>
          <p:nvPr/>
        </p:nvSpPr>
        <p:spPr>
          <a:xfrm>
            <a:off x="8247888" y="2103120"/>
            <a:ext cx="457200" cy="219456"/>
          </a:xfrm>
          <a:prstGeom prst="rect">
            <a:avLst/>
          </a:prstGeom>
          <a:noFill/>
          <a:ln/>
        </p:spPr>
        <p:txBody>
          <a:bodyPr wrap="square" lIns="0" tIns="0" rIns="0" bIns="0" rtlCol="0" anchor="ctr"/>
          <a:lstStyle/>
          <a:p>
            <a:pPr algn="r" indent="0" marL="0">
              <a:buNone/>
            </a:pPr>
            <a:r>
              <a:rPr lang="en-US" sz="1040" b="1" dirty="0">
                <a:solidFill>
                  <a:srgbClr val="3987E5"/>
                </a:solidFill>
                <a:latin typeface="Courier New" pitchFamily="34" charset="0"/>
                <a:ea typeface="Courier New" pitchFamily="34" charset="-122"/>
                <a:cs typeface="Courier New" pitchFamily="34" charset="-120"/>
              </a:rPr>
              <a:t>22%</a:t>
            </a:r>
            <a:endParaRPr lang="en-US" sz="1040" dirty="0"/>
          </a:p>
        </p:txBody>
      </p:sp>
      <p:sp>
        <p:nvSpPr>
          <p:cNvPr id="19" name="Shape 17"/>
          <p:cNvSpPr/>
          <p:nvPr/>
        </p:nvSpPr>
        <p:spPr>
          <a:xfrm>
            <a:off x="6419088" y="2359152"/>
            <a:ext cx="2286000" cy="64008"/>
          </a:xfrm>
          <a:prstGeom prst="roundRect">
            <a:avLst>
              <a:gd name="adj" fmla="val 50000"/>
            </a:avLst>
          </a:prstGeom>
          <a:solidFill>
            <a:srgbClr val="222834"/>
          </a:solidFill>
          <a:ln/>
        </p:spPr>
      </p:sp>
      <p:sp>
        <p:nvSpPr>
          <p:cNvPr id="20" name="Shape 18"/>
          <p:cNvSpPr/>
          <p:nvPr/>
        </p:nvSpPr>
        <p:spPr>
          <a:xfrm>
            <a:off x="6419088" y="2359152"/>
            <a:ext cx="2286000" cy="64008"/>
          </a:xfrm>
          <a:prstGeom prst="roundRect">
            <a:avLst>
              <a:gd name="adj" fmla="val 50000"/>
            </a:avLst>
          </a:prstGeom>
          <a:solidFill>
            <a:srgbClr val="3987E5"/>
          </a:solidFill>
          <a:ln/>
        </p:spPr>
      </p:sp>
      <p:sp>
        <p:nvSpPr>
          <p:cNvPr id="21" name="Text 19"/>
          <p:cNvSpPr txBox="1"/>
          <p:nvPr/>
        </p:nvSpPr>
        <p:spPr>
          <a:xfrm>
            <a:off x="8906256" y="2103120"/>
            <a:ext cx="1828800" cy="219456"/>
          </a:xfrm>
          <a:prstGeom prst="rect">
            <a:avLst/>
          </a:prstGeom>
          <a:noFill/>
          <a:ln/>
        </p:spPr>
        <p:txBody>
          <a:bodyPr wrap="square" lIns="0" tIns="0" rIns="0" bIns="0" rtlCol="0" anchor="ctr"/>
          <a:lstStyle/>
          <a:p>
            <a:pPr indent="0" marL="0">
              <a:buNone/>
            </a:pPr>
            <a:r>
              <a:rPr lang="en-US" sz="1040" dirty="0">
                <a:solidFill>
                  <a:srgbClr val="C3C2B7"/>
                </a:solidFill>
                <a:latin typeface="Calibri" pitchFamily="34" charset="0"/>
                <a:ea typeface="Calibri" pitchFamily="34" charset="-122"/>
                <a:cs typeface="Calibri" pitchFamily="34" charset="-120"/>
              </a:rPr>
              <a:t>Health-facility distance</a:t>
            </a:r>
            <a:endParaRPr lang="en-US" sz="1040" dirty="0"/>
          </a:p>
        </p:txBody>
      </p:sp>
      <p:sp>
        <p:nvSpPr>
          <p:cNvPr id="22" name="Text 20"/>
          <p:cNvSpPr txBox="1"/>
          <p:nvPr/>
        </p:nvSpPr>
        <p:spPr>
          <a:xfrm>
            <a:off x="10735056" y="2103120"/>
            <a:ext cx="457200" cy="219456"/>
          </a:xfrm>
          <a:prstGeom prst="rect">
            <a:avLst/>
          </a:prstGeom>
          <a:noFill/>
          <a:ln/>
        </p:spPr>
        <p:txBody>
          <a:bodyPr wrap="square" lIns="0" tIns="0" rIns="0" bIns="0" rtlCol="0" anchor="ctr"/>
          <a:lstStyle/>
          <a:p>
            <a:pPr algn="r" indent="0" marL="0">
              <a:buNone/>
            </a:pPr>
            <a:r>
              <a:rPr lang="en-US" sz="1040" b="1" dirty="0">
                <a:solidFill>
                  <a:srgbClr val="3987E5"/>
                </a:solidFill>
                <a:latin typeface="Courier New" pitchFamily="34" charset="0"/>
                <a:ea typeface="Courier New" pitchFamily="34" charset="-122"/>
                <a:cs typeface="Courier New" pitchFamily="34" charset="-120"/>
              </a:rPr>
              <a:t>20%</a:t>
            </a:r>
            <a:endParaRPr lang="en-US" sz="1040" dirty="0"/>
          </a:p>
        </p:txBody>
      </p:sp>
      <p:sp>
        <p:nvSpPr>
          <p:cNvPr id="23" name="Shape 21"/>
          <p:cNvSpPr/>
          <p:nvPr/>
        </p:nvSpPr>
        <p:spPr>
          <a:xfrm>
            <a:off x="8906256" y="2359152"/>
            <a:ext cx="2286000" cy="64008"/>
          </a:xfrm>
          <a:prstGeom prst="roundRect">
            <a:avLst>
              <a:gd name="adj" fmla="val 50000"/>
            </a:avLst>
          </a:prstGeom>
          <a:solidFill>
            <a:srgbClr val="222834"/>
          </a:solidFill>
          <a:ln/>
        </p:spPr>
      </p:sp>
      <p:sp>
        <p:nvSpPr>
          <p:cNvPr id="24" name="Shape 22"/>
          <p:cNvSpPr/>
          <p:nvPr/>
        </p:nvSpPr>
        <p:spPr>
          <a:xfrm>
            <a:off x="8906256" y="2359152"/>
            <a:ext cx="2078182" cy="64008"/>
          </a:xfrm>
          <a:prstGeom prst="roundRect">
            <a:avLst>
              <a:gd name="adj" fmla="val 50000"/>
            </a:avLst>
          </a:prstGeom>
          <a:solidFill>
            <a:srgbClr val="3987E5"/>
          </a:solidFill>
          <a:ln/>
        </p:spPr>
      </p:sp>
      <p:sp>
        <p:nvSpPr>
          <p:cNvPr id="25" name="Text 23"/>
          <p:cNvSpPr txBox="1"/>
          <p:nvPr/>
        </p:nvSpPr>
        <p:spPr>
          <a:xfrm>
            <a:off x="6419088" y="2615184"/>
            <a:ext cx="1828800" cy="219456"/>
          </a:xfrm>
          <a:prstGeom prst="rect">
            <a:avLst/>
          </a:prstGeom>
          <a:noFill/>
          <a:ln/>
        </p:spPr>
        <p:txBody>
          <a:bodyPr wrap="square" lIns="0" tIns="0" rIns="0" bIns="0" rtlCol="0" anchor="ctr"/>
          <a:lstStyle/>
          <a:p>
            <a:pPr indent="0" marL="0">
              <a:buNone/>
            </a:pPr>
            <a:r>
              <a:rPr lang="en-US" sz="1040" dirty="0">
                <a:solidFill>
                  <a:srgbClr val="C3C2B7"/>
                </a:solidFill>
                <a:latin typeface="Calibri" pitchFamily="34" charset="0"/>
                <a:ea typeface="Calibri" pitchFamily="34" charset="-122"/>
                <a:cs typeface="Calibri" pitchFamily="34" charset="-120"/>
              </a:rPr>
              <a:t>All-weather approach</a:t>
            </a:r>
            <a:endParaRPr lang="en-US" sz="1040" dirty="0"/>
          </a:p>
        </p:txBody>
      </p:sp>
      <p:sp>
        <p:nvSpPr>
          <p:cNvPr id="26" name="Text 24"/>
          <p:cNvSpPr txBox="1"/>
          <p:nvPr/>
        </p:nvSpPr>
        <p:spPr>
          <a:xfrm>
            <a:off x="8247888" y="2615184"/>
            <a:ext cx="457200" cy="219456"/>
          </a:xfrm>
          <a:prstGeom prst="rect">
            <a:avLst/>
          </a:prstGeom>
          <a:noFill/>
          <a:ln/>
        </p:spPr>
        <p:txBody>
          <a:bodyPr wrap="square" lIns="0" tIns="0" rIns="0" bIns="0" rtlCol="0" anchor="ctr"/>
          <a:lstStyle/>
          <a:p>
            <a:pPr algn="r" indent="0" marL="0">
              <a:buNone/>
            </a:pPr>
            <a:r>
              <a:rPr lang="en-US" sz="1040" b="1" dirty="0">
                <a:solidFill>
                  <a:srgbClr val="3987E5"/>
                </a:solidFill>
                <a:latin typeface="Courier New" pitchFamily="34" charset="0"/>
                <a:ea typeface="Courier New" pitchFamily="34" charset="-122"/>
                <a:cs typeface="Courier New" pitchFamily="34" charset="-120"/>
              </a:rPr>
              <a:t>16%</a:t>
            </a:r>
            <a:endParaRPr lang="en-US" sz="1040" dirty="0"/>
          </a:p>
        </p:txBody>
      </p:sp>
      <p:sp>
        <p:nvSpPr>
          <p:cNvPr id="27" name="Shape 25"/>
          <p:cNvSpPr/>
          <p:nvPr/>
        </p:nvSpPr>
        <p:spPr>
          <a:xfrm>
            <a:off x="6419088" y="2871216"/>
            <a:ext cx="2286000" cy="64008"/>
          </a:xfrm>
          <a:prstGeom prst="roundRect">
            <a:avLst>
              <a:gd name="adj" fmla="val 50000"/>
            </a:avLst>
          </a:prstGeom>
          <a:solidFill>
            <a:srgbClr val="222834"/>
          </a:solidFill>
          <a:ln/>
        </p:spPr>
      </p:sp>
      <p:sp>
        <p:nvSpPr>
          <p:cNvPr id="28" name="Shape 26"/>
          <p:cNvSpPr/>
          <p:nvPr/>
        </p:nvSpPr>
        <p:spPr>
          <a:xfrm>
            <a:off x="6419088" y="2871216"/>
            <a:ext cx="1662545" cy="64008"/>
          </a:xfrm>
          <a:prstGeom prst="roundRect">
            <a:avLst>
              <a:gd name="adj" fmla="val 50000"/>
            </a:avLst>
          </a:prstGeom>
          <a:solidFill>
            <a:srgbClr val="3987E5"/>
          </a:solidFill>
          <a:ln/>
        </p:spPr>
      </p:sp>
      <p:sp>
        <p:nvSpPr>
          <p:cNvPr id="29" name="Text 27"/>
          <p:cNvSpPr txBox="1"/>
          <p:nvPr/>
        </p:nvSpPr>
        <p:spPr>
          <a:xfrm>
            <a:off x="8906256" y="2615184"/>
            <a:ext cx="1828800" cy="219456"/>
          </a:xfrm>
          <a:prstGeom prst="rect">
            <a:avLst/>
          </a:prstGeom>
          <a:noFill/>
          <a:ln/>
        </p:spPr>
        <p:txBody>
          <a:bodyPr wrap="square" lIns="0" tIns="0" rIns="0" bIns="0" rtlCol="0" anchor="ctr"/>
          <a:lstStyle/>
          <a:p>
            <a:pPr indent="0" marL="0">
              <a:buNone/>
            </a:pPr>
            <a:r>
              <a:rPr lang="en-US" sz="1040" dirty="0">
                <a:solidFill>
                  <a:srgbClr val="C3C2B7"/>
                </a:solidFill>
                <a:latin typeface="Calibri" pitchFamily="34" charset="0"/>
                <a:ea typeface="Calibri" pitchFamily="34" charset="-122"/>
                <a:cs typeface="Calibri" pitchFamily="34" charset="-120"/>
              </a:rPr>
              <a:t>Terminal accessibility</a:t>
            </a:r>
            <a:endParaRPr lang="en-US" sz="1040" dirty="0"/>
          </a:p>
        </p:txBody>
      </p:sp>
      <p:sp>
        <p:nvSpPr>
          <p:cNvPr id="30" name="Text 28"/>
          <p:cNvSpPr txBox="1"/>
          <p:nvPr/>
        </p:nvSpPr>
        <p:spPr>
          <a:xfrm>
            <a:off x="10735056" y="2615184"/>
            <a:ext cx="457200" cy="219456"/>
          </a:xfrm>
          <a:prstGeom prst="rect">
            <a:avLst/>
          </a:prstGeom>
          <a:noFill/>
          <a:ln/>
        </p:spPr>
        <p:txBody>
          <a:bodyPr wrap="square" lIns="0" tIns="0" rIns="0" bIns="0" rtlCol="0" anchor="ctr"/>
          <a:lstStyle/>
          <a:p>
            <a:pPr algn="r" indent="0" marL="0">
              <a:buNone/>
            </a:pPr>
            <a:r>
              <a:rPr lang="en-US" sz="1040" b="1" dirty="0">
                <a:solidFill>
                  <a:srgbClr val="3987E5"/>
                </a:solidFill>
                <a:latin typeface="Courier New" pitchFamily="34" charset="0"/>
                <a:ea typeface="Courier New" pitchFamily="34" charset="-122"/>
                <a:cs typeface="Courier New" pitchFamily="34" charset="-120"/>
              </a:rPr>
              <a:t>16%</a:t>
            </a:r>
            <a:endParaRPr lang="en-US" sz="1040" dirty="0"/>
          </a:p>
        </p:txBody>
      </p:sp>
      <p:sp>
        <p:nvSpPr>
          <p:cNvPr id="31" name="Shape 29"/>
          <p:cNvSpPr/>
          <p:nvPr/>
        </p:nvSpPr>
        <p:spPr>
          <a:xfrm>
            <a:off x="8906256" y="2871216"/>
            <a:ext cx="2286000" cy="64008"/>
          </a:xfrm>
          <a:prstGeom prst="roundRect">
            <a:avLst>
              <a:gd name="adj" fmla="val 50000"/>
            </a:avLst>
          </a:prstGeom>
          <a:solidFill>
            <a:srgbClr val="222834"/>
          </a:solidFill>
          <a:ln/>
        </p:spPr>
      </p:sp>
      <p:sp>
        <p:nvSpPr>
          <p:cNvPr id="32" name="Shape 30"/>
          <p:cNvSpPr/>
          <p:nvPr/>
        </p:nvSpPr>
        <p:spPr>
          <a:xfrm>
            <a:off x="8906256" y="2871216"/>
            <a:ext cx="1662545" cy="64008"/>
          </a:xfrm>
          <a:prstGeom prst="roundRect">
            <a:avLst>
              <a:gd name="adj" fmla="val 50000"/>
            </a:avLst>
          </a:prstGeom>
          <a:solidFill>
            <a:srgbClr val="3987E5"/>
          </a:solidFill>
          <a:ln/>
        </p:spPr>
      </p:sp>
      <p:sp>
        <p:nvSpPr>
          <p:cNvPr id="33" name="Text 31"/>
          <p:cNvSpPr txBox="1"/>
          <p:nvPr/>
        </p:nvSpPr>
        <p:spPr>
          <a:xfrm>
            <a:off x="6419088" y="3127248"/>
            <a:ext cx="1828800" cy="219456"/>
          </a:xfrm>
          <a:prstGeom prst="rect">
            <a:avLst/>
          </a:prstGeom>
          <a:noFill/>
          <a:ln/>
        </p:spPr>
        <p:txBody>
          <a:bodyPr wrap="square" lIns="0" tIns="0" rIns="0" bIns="0" rtlCol="0" anchor="ctr"/>
          <a:lstStyle/>
          <a:p>
            <a:pPr indent="0" marL="0">
              <a:buNone/>
            </a:pPr>
            <a:r>
              <a:rPr lang="en-US" sz="1040" dirty="0">
                <a:solidFill>
                  <a:srgbClr val="C3C2B7"/>
                </a:solidFill>
                <a:latin typeface="Calibri" pitchFamily="34" charset="0"/>
                <a:ea typeface="Calibri" pitchFamily="34" charset="-122"/>
                <a:cs typeface="Calibri" pitchFamily="34" charset="-120"/>
              </a:rPr>
              <a:t>Network connectivity</a:t>
            </a:r>
            <a:endParaRPr lang="en-US" sz="1040" dirty="0"/>
          </a:p>
        </p:txBody>
      </p:sp>
      <p:sp>
        <p:nvSpPr>
          <p:cNvPr id="34" name="Text 32"/>
          <p:cNvSpPr txBox="1"/>
          <p:nvPr/>
        </p:nvSpPr>
        <p:spPr>
          <a:xfrm>
            <a:off x="8247888" y="3127248"/>
            <a:ext cx="457200" cy="219456"/>
          </a:xfrm>
          <a:prstGeom prst="rect">
            <a:avLst/>
          </a:prstGeom>
          <a:noFill/>
          <a:ln/>
        </p:spPr>
        <p:txBody>
          <a:bodyPr wrap="square" lIns="0" tIns="0" rIns="0" bIns="0" rtlCol="0" anchor="ctr"/>
          <a:lstStyle/>
          <a:p>
            <a:pPr algn="r" indent="0" marL="0">
              <a:buNone/>
            </a:pPr>
            <a:r>
              <a:rPr lang="en-US" sz="1040" b="1" dirty="0">
                <a:solidFill>
                  <a:srgbClr val="3987E5"/>
                </a:solidFill>
                <a:latin typeface="Courier New" pitchFamily="34" charset="0"/>
                <a:ea typeface="Courier New" pitchFamily="34" charset="-122"/>
                <a:cs typeface="Courier New" pitchFamily="34" charset="-120"/>
              </a:rPr>
              <a:t>16%</a:t>
            </a:r>
            <a:endParaRPr lang="en-US" sz="1040" dirty="0"/>
          </a:p>
        </p:txBody>
      </p:sp>
      <p:sp>
        <p:nvSpPr>
          <p:cNvPr id="35" name="Shape 33"/>
          <p:cNvSpPr/>
          <p:nvPr/>
        </p:nvSpPr>
        <p:spPr>
          <a:xfrm>
            <a:off x="6419088" y="3383280"/>
            <a:ext cx="2286000" cy="64008"/>
          </a:xfrm>
          <a:prstGeom prst="roundRect">
            <a:avLst>
              <a:gd name="adj" fmla="val 50000"/>
            </a:avLst>
          </a:prstGeom>
          <a:solidFill>
            <a:srgbClr val="222834"/>
          </a:solidFill>
          <a:ln/>
        </p:spPr>
      </p:sp>
      <p:sp>
        <p:nvSpPr>
          <p:cNvPr id="36" name="Shape 34"/>
          <p:cNvSpPr/>
          <p:nvPr/>
        </p:nvSpPr>
        <p:spPr>
          <a:xfrm>
            <a:off x="6419088" y="3383280"/>
            <a:ext cx="1662545" cy="64008"/>
          </a:xfrm>
          <a:prstGeom prst="roundRect">
            <a:avLst>
              <a:gd name="adj" fmla="val 50000"/>
            </a:avLst>
          </a:prstGeom>
          <a:solidFill>
            <a:srgbClr val="3987E5"/>
          </a:solidFill>
          <a:ln/>
        </p:spPr>
      </p:sp>
      <p:sp>
        <p:nvSpPr>
          <p:cNvPr id="37" name="Text 35"/>
          <p:cNvSpPr txBox="1"/>
          <p:nvPr/>
        </p:nvSpPr>
        <p:spPr>
          <a:xfrm>
            <a:off x="8906256" y="3127248"/>
            <a:ext cx="1828800" cy="219456"/>
          </a:xfrm>
          <a:prstGeom prst="rect">
            <a:avLst/>
          </a:prstGeom>
          <a:noFill/>
          <a:ln/>
        </p:spPr>
        <p:txBody>
          <a:bodyPr wrap="square" lIns="0" tIns="0" rIns="0" bIns="0" rtlCol="0" anchor="ctr"/>
          <a:lstStyle/>
          <a:p>
            <a:pPr indent="0" marL="0">
              <a:buNone/>
            </a:pPr>
            <a:r>
              <a:rPr lang="en-US" sz="1040" dirty="0">
                <a:solidFill>
                  <a:srgbClr val="C3C2B7"/>
                </a:solidFill>
                <a:latin typeface="Calibri" pitchFamily="34" charset="0"/>
                <a:ea typeface="Calibri" pitchFamily="34" charset="-122"/>
                <a:cs typeface="Calibri" pitchFamily="34" charset="-120"/>
              </a:rPr>
              <a:t>Mobile coverage</a:t>
            </a:r>
            <a:endParaRPr lang="en-US" sz="1040" dirty="0"/>
          </a:p>
        </p:txBody>
      </p:sp>
      <p:sp>
        <p:nvSpPr>
          <p:cNvPr id="38" name="Text 36"/>
          <p:cNvSpPr txBox="1"/>
          <p:nvPr/>
        </p:nvSpPr>
        <p:spPr>
          <a:xfrm>
            <a:off x="10735056" y="3127248"/>
            <a:ext cx="457200" cy="219456"/>
          </a:xfrm>
          <a:prstGeom prst="rect">
            <a:avLst/>
          </a:prstGeom>
          <a:noFill/>
          <a:ln/>
        </p:spPr>
        <p:txBody>
          <a:bodyPr wrap="square" lIns="0" tIns="0" rIns="0" bIns="0" rtlCol="0" anchor="ctr"/>
          <a:lstStyle/>
          <a:p>
            <a:pPr algn="r" indent="0" marL="0">
              <a:buNone/>
            </a:pPr>
            <a:r>
              <a:rPr lang="en-US" sz="1040" b="1" dirty="0">
                <a:solidFill>
                  <a:srgbClr val="3987E5"/>
                </a:solidFill>
                <a:latin typeface="Courier New" pitchFamily="34" charset="0"/>
                <a:ea typeface="Courier New" pitchFamily="34" charset="-122"/>
                <a:cs typeface="Courier New" pitchFamily="34" charset="-120"/>
              </a:rPr>
              <a:t>10%</a:t>
            </a:r>
            <a:endParaRPr lang="en-US" sz="1040" dirty="0"/>
          </a:p>
        </p:txBody>
      </p:sp>
      <p:sp>
        <p:nvSpPr>
          <p:cNvPr id="39" name="Shape 37"/>
          <p:cNvSpPr/>
          <p:nvPr/>
        </p:nvSpPr>
        <p:spPr>
          <a:xfrm>
            <a:off x="8906256" y="3383280"/>
            <a:ext cx="2286000" cy="64008"/>
          </a:xfrm>
          <a:prstGeom prst="roundRect">
            <a:avLst>
              <a:gd name="adj" fmla="val 50000"/>
            </a:avLst>
          </a:prstGeom>
          <a:solidFill>
            <a:srgbClr val="222834"/>
          </a:solidFill>
          <a:ln/>
        </p:spPr>
      </p:sp>
      <p:sp>
        <p:nvSpPr>
          <p:cNvPr id="40" name="Shape 38"/>
          <p:cNvSpPr/>
          <p:nvPr/>
        </p:nvSpPr>
        <p:spPr>
          <a:xfrm>
            <a:off x="8906256" y="3383280"/>
            <a:ext cx="1039091" cy="64008"/>
          </a:xfrm>
          <a:prstGeom prst="roundRect">
            <a:avLst>
              <a:gd name="adj" fmla="val 50000"/>
            </a:avLst>
          </a:prstGeom>
          <a:solidFill>
            <a:srgbClr val="3987E5"/>
          </a:solidFill>
          <a:ln/>
        </p:spPr>
      </p:sp>
      <p:sp>
        <p:nvSpPr>
          <p:cNvPr id="41" name="Shape 39"/>
          <p:cNvSpPr/>
          <p:nvPr/>
        </p:nvSpPr>
        <p:spPr>
          <a:xfrm>
            <a:off x="548640" y="3858768"/>
            <a:ext cx="6986016" cy="1865376"/>
          </a:xfrm>
          <a:prstGeom prst="roundRect">
            <a:avLst>
              <a:gd name="adj" fmla="val 4412"/>
            </a:avLst>
          </a:prstGeom>
          <a:solidFill>
            <a:srgbClr val="1A1F28"/>
          </a:solidFill>
          <a:ln w="12700">
            <a:solidFill>
              <a:srgbClr val="2B323F"/>
            </a:solidFill>
            <a:prstDash val="solid"/>
          </a:ln>
        </p:spPr>
      </p:sp>
      <p:sp>
        <p:nvSpPr>
          <p:cNvPr id="42" name="Text 40"/>
          <p:cNvSpPr txBox="1"/>
          <p:nvPr/>
        </p:nvSpPr>
        <p:spPr>
          <a:xfrm>
            <a:off x="749808" y="3968496"/>
            <a:ext cx="658368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Population-weighted accessibility index by state</a:t>
            </a:r>
            <a:endParaRPr lang="en-US" sz="1150" dirty="0"/>
          </a:p>
        </p:txBody>
      </p:sp>
      <p:graphicFrame>
        <p:nvGraphicFramePr>
          <p:cNvPr id="43" name="Chart 0" descr=""/>
          <p:cNvGraphicFramePr/>
          <p:nvPr/>
        </p:nvGraphicFramePr>
        <p:xfrm>
          <a:off x="694944" y="4206240"/>
          <a:ext cx="6711696" cy="1426464"/>
        </p:xfrm>
        <a:graphic xmlns:a="http://schemas.openxmlformats.org/drawingml/2006/main">
          <a:graphicData uri="http://schemas.openxmlformats.org/drawingml/2006/chart">
            <c:chart xmlns:c="http://schemas.openxmlformats.org/drawingml/2006/chart" r:id="rId1"/>
          </a:graphicData>
        </a:graphic>
      </p:graphicFrame>
      <p:sp>
        <p:nvSpPr>
          <p:cNvPr id="44" name="Shape 41"/>
          <p:cNvSpPr/>
          <p:nvPr/>
        </p:nvSpPr>
        <p:spPr>
          <a:xfrm>
            <a:off x="7717536" y="3858768"/>
            <a:ext cx="3925519" cy="420624"/>
          </a:xfrm>
          <a:prstGeom prst="roundRect">
            <a:avLst>
              <a:gd name="adj" fmla="val 19565"/>
            </a:avLst>
          </a:prstGeom>
          <a:solidFill>
            <a:srgbClr val="1A1F28"/>
          </a:solidFill>
          <a:ln w="12700">
            <a:solidFill>
              <a:srgbClr val="2B323F"/>
            </a:solidFill>
            <a:prstDash val="solid"/>
          </a:ln>
        </p:spPr>
      </p:sp>
      <p:sp>
        <p:nvSpPr>
          <p:cNvPr id="45" name="Text 42"/>
          <p:cNvSpPr txBox="1"/>
          <p:nvPr/>
        </p:nvSpPr>
        <p:spPr>
          <a:xfrm>
            <a:off x="7863840" y="3858768"/>
            <a:ext cx="2590843" cy="420624"/>
          </a:xfrm>
          <a:prstGeom prst="rect">
            <a:avLst/>
          </a:prstGeom>
          <a:noFill/>
          <a:ln/>
        </p:spPr>
        <p:txBody>
          <a:bodyPr wrap="square" lIns="0" tIns="0" rIns="0" bIns="0" rtlCol="0" anchor="ctr"/>
          <a:lstStyle/>
          <a:p>
            <a:pPr indent="0" marL="0">
              <a:buNone/>
            </a:pPr>
            <a:r>
              <a:rPr lang="en-US" sz="1000" dirty="0">
                <a:solidFill>
                  <a:srgbClr val="8A93A3"/>
                </a:solidFill>
                <a:latin typeface="Calibri" pitchFamily="34" charset="0"/>
                <a:ea typeface="Calibri" pitchFamily="34" charset="-122"/>
                <a:cs typeface="Calibri" pitchFamily="34" charset="-120"/>
              </a:rPr>
              <a:t>Settlements scored</a:t>
            </a:r>
            <a:endParaRPr lang="en-US" sz="1000" dirty="0"/>
          </a:p>
        </p:txBody>
      </p:sp>
      <p:sp>
        <p:nvSpPr>
          <p:cNvPr id="46" name="Text 43"/>
          <p:cNvSpPr txBox="1"/>
          <p:nvPr/>
        </p:nvSpPr>
        <p:spPr>
          <a:xfrm>
            <a:off x="10151358" y="3858768"/>
            <a:ext cx="1345393" cy="420624"/>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59</a:t>
            </a:r>
            <a:endParaRPr lang="en-US" sz="1500" dirty="0"/>
          </a:p>
        </p:txBody>
      </p:sp>
      <p:sp>
        <p:nvSpPr>
          <p:cNvPr id="47" name="Shape 44"/>
          <p:cNvSpPr/>
          <p:nvPr/>
        </p:nvSpPr>
        <p:spPr>
          <a:xfrm>
            <a:off x="7717536" y="4343400"/>
            <a:ext cx="3925519" cy="420624"/>
          </a:xfrm>
          <a:prstGeom prst="roundRect">
            <a:avLst>
              <a:gd name="adj" fmla="val 19565"/>
            </a:avLst>
          </a:prstGeom>
          <a:solidFill>
            <a:srgbClr val="1A1F28"/>
          </a:solidFill>
          <a:ln w="12700">
            <a:solidFill>
              <a:srgbClr val="2B323F"/>
            </a:solidFill>
            <a:prstDash val="solid"/>
          </a:ln>
        </p:spPr>
      </p:sp>
      <p:sp>
        <p:nvSpPr>
          <p:cNvPr id="48" name="Text 45"/>
          <p:cNvSpPr txBox="1"/>
          <p:nvPr/>
        </p:nvSpPr>
        <p:spPr>
          <a:xfrm>
            <a:off x="7863840" y="4343400"/>
            <a:ext cx="2590843" cy="420624"/>
          </a:xfrm>
          <a:prstGeom prst="rect">
            <a:avLst/>
          </a:prstGeom>
          <a:noFill/>
          <a:ln/>
        </p:spPr>
        <p:txBody>
          <a:bodyPr wrap="square" lIns="0" tIns="0" rIns="0" bIns="0" rtlCol="0" anchor="ctr"/>
          <a:lstStyle/>
          <a:p>
            <a:pPr indent="0" marL="0">
              <a:buNone/>
            </a:pPr>
            <a:r>
              <a:rPr lang="en-US" sz="1000" dirty="0">
                <a:solidFill>
                  <a:srgbClr val="8A93A3"/>
                </a:solidFill>
                <a:latin typeface="Calibri" pitchFamily="34" charset="0"/>
                <a:ea typeface="Calibri" pitchFamily="34" charset="-122"/>
                <a:cs typeface="Calibri" pitchFamily="34" charset="-120"/>
              </a:rPr>
              <a:t>Under-served (index &lt; 50)</a:t>
            </a:r>
            <a:endParaRPr lang="en-US" sz="1000" dirty="0"/>
          </a:p>
        </p:txBody>
      </p:sp>
      <p:sp>
        <p:nvSpPr>
          <p:cNvPr id="49" name="Text 46"/>
          <p:cNvSpPr txBox="1"/>
          <p:nvPr/>
        </p:nvSpPr>
        <p:spPr>
          <a:xfrm>
            <a:off x="10151358" y="4343400"/>
            <a:ext cx="1345393" cy="420624"/>
          </a:xfrm>
          <a:prstGeom prst="rect">
            <a:avLst/>
          </a:prstGeom>
          <a:noFill/>
          <a:ln/>
        </p:spPr>
        <p:txBody>
          <a:bodyPr wrap="square" lIns="0" tIns="0" rIns="0" bIns="0" rtlCol="0" anchor="ctr"/>
          <a:lstStyle/>
          <a:p>
            <a:pPr algn="r" indent="0" marL="0">
              <a:buNone/>
            </a:pPr>
            <a:r>
              <a:rPr lang="en-US" sz="1500" b="1" dirty="0">
                <a:solidFill>
                  <a:srgbClr val="EC835A"/>
                </a:solidFill>
                <a:latin typeface="Arial" pitchFamily="34" charset="0"/>
                <a:ea typeface="Arial" pitchFamily="34" charset="-122"/>
                <a:cs typeface="Arial" pitchFamily="34" charset="-120"/>
              </a:rPr>
              <a:t>17</a:t>
            </a:r>
            <a:endParaRPr lang="en-US" sz="1500" dirty="0"/>
          </a:p>
        </p:txBody>
      </p:sp>
      <p:sp>
        <p:nvSpPr>
          <p:cNvPr id="50" name="Shape 47"/>
          <p:cNvSpPr/>
          <p:nvPr/>
        </p:nvSpPr>
        <p:spPr>
          <a:xfrm>
            <a:off x="7717536" y="4828032"/>
            <a:ext cx="3925519" cy="420624"/>
          </a:xfrm>
          <a:prstGeom prst="roundRect">
            <a:avLst>
              <a:gd name="adj" fmla="val 19565"/>
            </a:avLst>
          </a:prstGeom>
          <a:solidFill>
            <a:srgbClr val="1A1F28"/>
          </a:solidFill>
          <a:ln w="12700">
            <a:solidFill>
              <a:srgbClr val="2B323F"/>
            </a:solidFill>
            <a:prstDash val="solid"/>
          </a:ln>
        </p:spPr>
      </p:sp>
      <p:sp>
        <p:nvSpPr>
          <p:cNvPr id="51" name="Text 48"/>
          <p:cNvSpPr txBox="1"/>
          <p:nvPr/>
        </p:nvSpPr>
        <p:spPr>
          <a:xfrm>
            <a:off x="7863840" y="4828032"/>
            <a:ext cx="2590843" cy="420624"/>
          </a:xfrm>
          <a:prstGeom prst="rect">
            <a:avLst/>
          </a:prstGeom>
          <a:noFill/>
          <a:ln/>
        </p:spPr>
        <p:txBody>
          <a:bodyPr wrap="square" lIns="0" tIns="0" rIns="0" bIns="0" rtlCol="0" anchor="ctr"/>
          <a:lstStyle/>
          <a:p>
            <a:pPr indent="0" marL="0">
              <a:buNone/>
            </a:pPr>
            <a:r>
              <a:rPr lang="en-US" sz="1000" dirty="0">
                <a:solidFill>
                  <a:srgbClr val="8A93A3"/>
                </a:solidFill>
                <a:latin typeface="Calibri" pitchFamily="34" charset="0"/>
                <a:ea typeface="Calibri" pitchFamily="34" charset="-122"/>
                <a:cs typeface="Calibri" pitchFamily="34" charset="-120"/>
              </a:rPr>
              <a:t>People affected</a:t>
            </a:r>
            <a:endParaRPr lang="en-US" sz="1000" dirty="0"/>
          </a:p>
        </p:txBody>
      </p:sp>
      <p:sp>
        <p:nvSpPr>
          <p:cNvPr id="52" name="Text 49"/>
          <p:cNvSpPr txBox="1"/>
          <p:nvPr/>
        </p:nvSpPr>
        <p:spPr>
          <a:xfrm>
            <a:off x="10151358" y="4828032"/>
            <a:ext cx="1345393" cy="420624"/>
          </a:xfrm>
          <a:prstGeom prst="rect">
            <a:avLst/>
          </a:prstGeom>
          <a:noFill/>
          <a:ln/>
        </p:spPr>
        <p:txBody>
          <a:bodyPr wrap="square" lIns="0" tIns="0" rIns="0" bIns="0" rtlCol="0" anchor="ctr"/>
          <a:lstStyle/>
          <a:p>
            <a:pPr algn="r" indent="0" marL="0">
              <a:buNone/>
            </a:pPr>
            <a:r>
              <a:rPr lang="en-US" sz="1500" b="1" dirty="0">
                <a:solidFill>
                  <a:srgbClr val="EC835A"/>
                </a:solidFill>
                <a:latin typeface="Arial" pitchFamily="34" charset="0"/>
                <a:ea typeface="Arial" pitchFamily="34" charset="-122"/>
                <a:cs typeface="Arial" pitchFamily="34" charset="-120"/>
              </a:rPr>
              <a:t>3.5 L</a:t>
            </a:r>
            <a:endParaRPr lang="en-US" sz="1500" dirty="0"/>
          </a:p>
        </p:txBody>
      </p:sp>
      <p:sp>
        <p:nvSpPr>
          <p:cNvPr id="53" name="Shape 50"/>
          <p:cNvSpPr/>
          <p:nvPr/>
        </p:nvSpPr>
        <p:spPr>
          <a:xfrm>
            <a:off x="7717536" y="5312664"/>
            <a:ext cx="3925519" cy="420624"/>
          </a:xfrm>
          <a:prstGeom prst="roundRect">
            <a:avLst>
              <a:gd name="adj" fmla="val 19565"/>
            </a:avLst>
          </a:prstGeom>
          <a:solidFill>
            <a:srgbClr val="1A1F28"/>
          </a:solidFill>
          <a:ln w="12700">
            <a:solidFill>
              <a:srgbClr val="2B323F"/>
            </a:solidFill>
            <a:prstDash val="solid"/>
          </a:ln>
        </p:spPr>
      </p:sp>
      <p:sp>
        <p:nvSpPr>
          <p:cNvPr id="54" name="Text 51"/>
          <p:cNvSpPr txBox="1"/>
          <p:nvPr/>
        </p:nvSpPr>
        <p:spPr>
          <a:xfrm>
            <a:off x="7863840" y="5312664"/>
            <a:ext cx="2590843" cy="420624"/>
          </a:xfrm>
          <a:prstGeom prst="rect">
            <a:avLst/>
          </a:prstGeom>
          <a:noFill/>
          <a:ln/>
        </p:spPr>
        <p:txBody>
          <a:bodyPr wrap="square" lIns="0" tIns="0" rIns="0" bIns="0" rtlCol="0" anchor="ctr"/>
          <a:lstStyle/>
          <a:p>
            <a:pPr indent="0" marL="0">
              <a:buNone/>
            </a:pPr>
            <a:r>
              <a:rPr lang="en-US" sz="1000" dirty="0">
                <a:solidFill>
                  <a:srgbClr val="8A93A3"/>
                </a:solidFill>
                <a:latin typeface="Calibri" pitchFamily="34" charset="0"/>
                <a:ea typeface="Calibri" pitchFamily="34" charset="-122"/>
                <a:cs typeface="Calibri" pitchFamily="34" charset="-120"/>
              </a:rPr>
              <a:t>Worst served</a:t>
            </a:r>
            <a:endParaRPr lang="en-US" sz="1000" dirty="0"/>
          </a:p>
        </p:txBody>
      </p:sp>
      <p:sp>
        <p:nvSpPr>
          <p:cNvPr id="55" name="Text 52"/>
          <p:cNvSpPr txBox="1"/>
          <p:nvPr/>
        </p:nvSpPr>
        <p:spPr>
          <a:xfrm>
            <a:off x="10151358" y="5312664"/>
            <a:ext cx="1345393" cy="420624"/>
          </a:xfrm>
          <a:prstGeom prst="rect">
            <a:avLst/>
          </a:prstGeom>
          <a:noFill/>
          <a:ln/>
        </p:spPr>
        <p:txBody>
          <a:bodyPr wrap="square" lIns="0" tIns="0" rIns="0" bIns="0" rtlCol="0" anchor="ctr"/>
          <a:lstStyle/>
          <a:p>
            <a:pPr algn="r" indent="0" marL="0">
              <a:buNone/>
            </a:pPr>
            <a:r>
              <a:rPr lang="en-US" sz="1500" b="1" dirty="0">
                <a:solidFill>
                  <a:srgbClr val="D03B3B"/>
                </a:solidFill>
                <a:latin typeface="Arial" pitchFamily="34" charset="0"/>
                <a:ea typeface="Arial" pitchFamily="34" charset="-122"/>
                <a:cs typeface="Arial" pitchFamily="34" charset="-120"/>
              </a:rPr>
              <a:t>Mon, 19</a:t>
            </a:r>
            <a:endParaRPr lang="en-US" sz="1500" dirty="0"/>
          </a:p>
        </p:txBody>
      </p:sp>
      <p:sp>
        <p:nvSpPr>
          <p:cNvPr id="56" name="Text 53"/>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57" name="Text 54"/>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D03B3B"/>
                </a:solidFill>
                <a:latin typeface="Calibri" pitchFamily="34" charset="0"/>
                <a:ea typeface="Calibri" pitchFamily="34" charset="-122"/>
                <a:cs typeface="Calibri" pitchFamily="34" charset="-120"/>
              </a:rPr>
              <a:t>STRESS TEST</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Barak valley flood: the same models, different rainfall</a:t>
            </a:r>
            <a:endParaRPr lang="en-US" sz="3000" dirty="0"/>
          </a:p>
        </p:txBody>
      </p:sp>
      <p:sp>
        <p:nvSpPr>
          <p:cNvPr id="4" name="Text 2"/>
          <p:cNvSpPr txBox="1"/>
          <p:nvPr/>
        </p:nvSpPr>
        <p:spPr>
          <a:xfrm>
            <a:off x="548640" y="1133856"/>
            <a:ext cx="10058400" cy="292608"/>
          </a:xfrm>
          <a:prstGeom prst="rect">
            <a:avLst/>
          </a:prstGeom>
          <a:noFill/>
          <a:ln/>
        </p:spPr>
        <p:txBody>
          <a:bodyPr wrap="square" lIns="0" tIns="0" rIns="0" bIns="0" rtlCol="0" anchor="ctr"/>
          <a:lstStyle/>
          <a:p>
            <a:pPr indent="0" marL="0">
              <a:buNone/>
            </a:pPr>
            <a:r>
              <a:rPr lang="en-US" sz="1200" i="1" dirty="0">
                <a:solidFill>
                  <a:srgbClr val="C3C2B7"/>
                </a:solidFill>
                <a:latin typeface="Calibri" pitchFamily="34" charset="0"/>
                <a:ea typeface="Calibri" pitchFamily="34" charset="-122"/>
                <a:cs typeface="Calibri" pitchFamily="34" charset="-120"/>
              </a:rPr>
              <a:t>Scenarios substitute rainfall inputs and re-run every model - a genuine what-if, not a scripted demo. This one reproduces the June 2022 floods that cut Silchar off by road and rail.</a:t>
            </a:r>
            <a:endParaRPr lang="en-US" sz="1200" dirty="0"/>
          </a:p>
        </p:txBody>
      </p:sp>
      <p:sp>
        <p:nvSpPr>
          <p:cNvPr id="5" name="Shape 3"/>
          <p:cNvSpPr/>
          <p:nvPr/>
        </p:nvSpPr>
        <p:spPr>
          <a:xfrm>
            <a:off x="548640" y="1572768"/>
            <a:ext cx="6035040" cy="2999232"/>
          </a:xfrm>
          <a:prstGeom prst="roundRect">
            <a:avLst>
              <a:gd name="adj" fmla="val 2744"/>
            </a:avLst>
          </a:prstGeom>
          <a:solidFill>
            <a:srgbClr val="1A1F28"/>
          </a:solidFill>
          <a:ln w="12700">
            <a:solidFill>
              <a:srgbClr val="2B323F"/>
            </a:solidFill>
            <a:prstDash val="solid"/>
          </a:ln>
        </p:spPr>
      </p:sp>
      <p:sp>
        <p:nvSpPr>
          <p:cNvPr id="6" name="Text 4"/>
          <p:cNvSpPr txBox="1"/>
          <p:nvPr/>
        </p:nvSpPr>
        <p:spPr>
          <a:xfrm>
            <a:off x="804672" y="1719072"/>
            <a:ext cx="2377440" cy="237744"/>
          </a:xfrm>
          <a:prstGeom prst="rect">
            <a:avLst/>
          </a:prstGeom>
          <a:noFill/>
          <a:ln/>
        </p:spPr>
        <p:txBody>
          <a:bodyPr wrap="square" lIns="0" tIns="0" rIns="0" bIns="0" rtlCol="0" anchor="ctr"/>
          <a:lstStyle/>
          <a:p>
            <a:pPr indent="0" marL="0">
              <a:buNone/>
            </a:pPr>
            <a:r>
              <a:rPr lang="en-US" sz="1050" b="1" dirty="0">
                <a:solidFill>
                  <a:srgbClr val="0CA30C"/>
                </a:solidFill>
                <a:latin typeface="Arial" pitchFamily="34" charset="0"/>
                <a:ea typeface="Arial" pitchFamily="34" charset="-122"/>
                <a:cs typeface="Arial" pitchFamily="34" charset="-120"/>
              </a:rPr>
              <a:t>Live conditions</a:t>
            </a:r>
            <a:endParaRPr lang="en-US" sz="1050" dirty="0"/>
          </a:p>
        </p:txBody>
      </p:sp>
      <p:sp>
        <p:nvSpPr>
          <p:cNvPr id="7" name="Text 5"/>
          <p:cNvSpPr txBox="1"/>
          <p:nvPr/>
        </p:nvSpPr>
        <p:spPr>
          <a:xfrm>
            <a:off x="4480560" y="1719072"/>
            <a:ext cx="1920240" cy="237744"/>
          </a:xfrm>
          <a:prstGeom prst="rect">
            <a:avLst/>
          </a:prstGeom>
          <a:noFill/>
          <a:ln/>
        </p:spPr>
        <p:txBody>
          <a:bodyPr wrap="square" lIns="0" tIns="0" rIns="0" bIns="0" rtlCol="0" anchor="ctr"/>
          <a:lstStyle/>
          <a:p>
            <a:pPr algn="r" indent="0" marL="0">
              <a:buNone/>
            </a:pPr>
            <a:r>
              <a:rPr lang="en-US" sz="1050" b="1" dirty="0">
                <a:solidFill>
                  <a:srgbClr val="D03B3B"/>
                </a:solidFill>
                <a:latin typeface="Arial" pitchFamily="34" charset="0"/>
                <a:ea typeface="Arial" pitchFamily="34" charset="-122"/>
                <a:cs typeface="Arial" pitchFamily="34" charset="-120"/>
              </a:rPr>
              <a:t>Barak valley flood</a:t>
            </a:r>
            <a:endParaRPr lang="en-US" sz="1050" dirty="0"/>
          </a:p>
        </p:txBody>
      </p:sp>
      <p:sp>
        <p:nvSpPr>
          <p:cNvPr id="8" name="Text 6"/>
          <p:cNvSpPr txBox="1"/>
          <p:nvPr/>
        </p:nvSpPr>
        <p:spPr>
          <a:xfrm>
            <a:off x="804672" y="2103120"/>
            <a:ext cx="2743200" cy="365760"/>
          </a:xfrm>
          <a:prstGeom prst="rect">
            <a:avLst/>
          </a:prstGeom>
          <a:noFill/>
          <a:ln/>
        </p:spPr>
        <p:txBody>
          <a:bodyPr wrap="square" lIns="0" tIns="0" rIns="0" bIns="0" rtlCol="0" anchor="ctr"/>
          <a:lstStyle/>
          <a:p>
            <a:pPr indent="0" marL="0">
              <a:buNone/>
            </a:pPr>
            <a:r>
              <a:rPr lang="en-US" sz="1060" dirty="0">
                <a:solidFill>
                  <a:srgbClr val="C3C2B7"/>
                </a:solidFill>
                <a:latin typeface="Calibri" pitchFamily="34" charset="0"/>
                <a:ea typeface="Calibri" pitchFamily="34" charset="-122"/>
                <a:cs typeface="Calibri" pitchFamily="34" charset="-120"/>
              </a:rPr>
              <a:t>Mean network risk</a:t>
            </a:r>
            <a:endParaRPr lang="en-US" sz="1060" dirty="0"/>
          </a:p>
        </p:txBody>
      </p:sp>
      <p:sp>
        <p:nvSpPr>
          <p:cNvPr id="9" name="Text 7"/>
          <p:cNvSpPr txBox="1"/>
          <p:nvPr/>
        </p:nvSpPr>
        <p:spPr>
          <a:xfrm>
            <a:off x="3566160" y="2103120"/>
            <a:ext cx="822960" cy="365760"/>
          </a:xfrm>
          <a:prstGeom prst="rect">
            <a:avLst/>
          </a:prstGeom>
          <a:noFill/>
          <a:ln/>
        </p:spPr>
        <p:txBody>
          <a:bodyPr wrap="square" lIns="0" tIns="0" rIns="0" bIns="0" rtlCol="0" anchor="ctr"/>
          <a:lstStyle/>
          <a:p>
            <a:pPr algn="r" indent="0" marL="0">
              <a:buNone/>
            </a:pPr>
            <a:r>
              <a:rPr lang="en-US" sz="1500" b="1" dirty="0">
                <a:solidFill>
                  <a:srgbClr val="C3C2B7"/>
                </a:solidFill>
                <a:latin typeface="Arial" pitchFamily="34" charset="0"/>
                <a:ea typeface="Arial" pitchFamily="34" charset="-122"/>
                <a:cs typeface="Arial" pitchFamily="34" charset="-120"/>
              </a:rPr>
              <a:t>21%</a:t>
            </a:r>
            <a:endParaRPr lang="en-US" sz="1500" dirty="0"/>
          </a:p>
        </p:txBody>
      </p:sp>
      <p:sp>
        <p:nvSpPr>
          <p:cNvPr id="10" name="Shape 8"/>
          <p:cNvSpPr/>
          <p:nvPr/>
        </p:nvSpPr>
        <p:spPr>
          <a:xfrm>
            <a:off x="4498848" y="2286000"/>
            <a:ext cx="274320" cy="0"/>
          </a:xfrm>
          <a:prstGeom prst="line">
            <a:avLst/>
          </a:prstGeom>
          <a:noFill/>
          <a:ln w="15875">
            <a:solidFill>
              <a:srgbClr val="2B323F"/>
            </a:solidFill>
            <a:prstDash val="solid"/>
            <a:tailEnd type="triangle"/>
          </a:ln>
        </p:spPr>
      </p:sp>
      <p:sp>
        <p:nvSpPr>
          <p:cNvPr id="11" name="Text 9"/>
          <p:cNvSpPr txBox="1"/>
          <p:nvPr/>
        </p:nvSpPr>
        <p:spPr>
          <a:xfrm>
            <a:off x="4846320" y="2103120"/>
            <a:ext cx="1481328" cy="365760"/>
          </a:xfrm>
          <a:prstGeom prst="rect">
            <a:avLst/>
          </a:prstGeom>
          <a:noFill/>
          <a:ln/>
        </p:spPr>
        <p:txBody>
          <a:bodyPr wrap="square" lIns="0" tIns="0" rIns="0" bIns="0" rtlCol="0" anchor="ctr"/>
          <a:lstStyle/>
          <a:p>
            <a:pPr algn="r" indent="0" marL="0">
              <a:buNone/>
            </a:pPr>
            <a:r>
              <a:rPr lang="en-US" sz="1700" b="1" dirty="0">
                <a:solidFill>
                  <a:srgbClr val="D03B3B"/>
                </a:solidFill>
                <a:latin typeface="Arial" pitchFamily="34" charset="0"/>
                <a:ea typeface="Arial" pitchFamily="34" charset="-122"/>
                <a:cs typeface="Arial" pitchFamily="34" charset="-120"/>
              </a:rPr>
              <a:t>34%</a:t>
            </a:r>
            <a:endParaRPr lang="en-US" sz="1700" dirty="0"/>
          </a:p>
        </p:txBody>
      </p:sp>
      <p:sp>
        <p:nvSpPr>
          <p:cNvPr id="12" name="Shape 10"/>
          <p:cNvSpPr/>
          <p:nvPr/>
        </p:nvSpPr>
        <p:spPr>
          <a:xfrm>
            <a:off x="804672" y="2523744"/>
            <a:ext cx="5522976" cy="0"/>
          </a:xfrm>
          <a:prstGeom prst="line">
            <a:avLst/>
          </a:prstGeom>
          <a:noFill/>
          <a:ln w="12700">
            <a:solidFill>
              <a:srgbClr val="20262F"/>
            </a:solidFill>
            <a:prstDash val="solid"/>
          </a:ln>
        </p:spPr>
      </p:sp>
      <p:sp>
        <p:nvSpPr>
          <p:cNvPr id="13" name="Text 11"/>
          <p:cNvSpPr txBox="1"/>
          <p:nvPr/>
        </p:nvSpPr>
        <p:spPr>
          <a:xfrm>
            <a:off x="804672" y="2587752"/>
            <a:ext cx="2743200" cy="365760"/>
          </a:xfrm>
          <a:prstGeom prst="rect">
            <a:avLst/>
          </a:prstGeom>
          <a:noFill/>
          <a:ln/>
        </p:spPr>
        <p:txBody>
          <a:bodyPr wrap="square" lIns="0" tIns="0" rIns="0" bIns="0" rtlCol="0" anchor="ctr"/>
          <a:lstStyle/>
          <a:p>
            <a:pPr indent="0" marL="0">
              <a:buNone/>
            </a:pPr>
            <a:r>
              <a:rPr lang="en-US" sz="1060" dirty="0">
                <a:solidFill>
                  <a:srgbClr val="C3C2B7"/>
                </a:solidFill>
                <a:latin typeface="Calibri" pitchFamily="34" charset="0"/>
                <a:ea typeface="Calibri" pitchFamily="34" charset="-122"/>
                <a:cs typeface="Calibri" pitchFamily="34" charset="-120"/>
              </a:rPr>
              <a:t>Corridors at severe risk</a:t>
            </a:r>
            <a:endParaRPr lang="en-US" sz="1060" dirty="0"/>
          </a:p>
        </p:txBody>
      </p:sp>
      <p:sp>
        <p:nvSpPr>
          <p:cNvPr id="14" name="Text 12"/>
          <p:cNvSpPr txBox="1"/>
          <p:nvPr/>
        </p:nvSpPr>
        <p:spPr>
          <a:xfrm>
            <a:off x="3566160" y="2587752"/>
            <a:ext cx="822960" cy="365760"/>
          </a:xfrm>
          <a:prstGeom prst="rect">
            <a:avLst/>
          </a:prstGeom>
          <a:noFill/>
          <a:ln/>
        </p:spPr>
        <p:txBody>
          <a:bodyPr wrap="square" lIns="0" tIns="0" rIns="0" bIns="0" rtlCol="0" anchor="ctr"/>
          <a:lstStyle/>
          <a:p>
            <a:pPr algn="r" indent="0" marL="0">
              <a:buNone/>
            </a:pPr>
            <a:r>
              <a:rPr lang="en-US" sz="1500" b="1" dirty="0">
                <a:solidFill>
                  <a:srgbClr val="C3C2B7"/>
                </a:solidFill>
                <a:latin typeface="Arial" pitchFamily="34" charset="0"/>
                <a:ea typeface="Arial" pitchFamily="34" charset="-122"/>
                <a:cs typeface="Arial" pitchFamily="34" charset="-120"/>
              </a:rPr>
              <a:t>2</a:t>
            </a:r>
            <a:endParaRPr lang="en-US" sz="1500" dirty="0"/>
          </a:p>
        </p:txBody>
      </p:sp>
      <p:sp>
        <p:nvSpPr>
          <p:cNvPr id="15" name="Shape 13"/>
          <p:cNvSpPr/>
          <p:nvPr/>
        </p:nvSpPr>
        <p:spPr>
          <a:xfrm>
            <a:off x="4498848" y="2770632"/>
            <a:ext cx="274320" cy="0"/>
          </a:xfrm>
          <a:prstGeom prst="line">
            <a:avLst/>
          </a:prstGeom>
          <a:noFill/>
          <a:ln w="15875">
            <a:solidFill>
              <a:srgbClr val="2B323F"/>
            </a:solidFill>
            <a:prstDash val="solid"/>
            <a:tailEnd type="triangle"/>
          </a:ln>
        </p:spPr>
      </p:sp>
      <p:sp>
        <p:nvSpPr>
          <p:cNvPr id="16" name="Text 14"/>
          <p:cNvSpPr txBox="1"/>
          <p:nvPr/>
        </p:nvSpPr>
        <p:spPr>
          <a:xfrm>
            <a:off x="4846320" y="2587752"/>
            <a:ext cx="1481328" cy="365760"/>
          </a:xfrm>
          <a:prstGeom prst="rect">
            <a:avLst/>
          </a:prstGeom>
          <a:noFill/>
          <a:ln/>
        </p:spPr>
        <p:txBody>
          <a:bodyPr wrap="square" lIns="0" tIns="0" rIns="0" bIns="0" rtlCol="0" anchor="ctr"/>
          <a:lstStyle/>
          <a:p>
            <a:pPr algn="r" indent="0" marL="0">
              <a:buNone/>
            </a:pPr>
            <a:r>
              <a:rPr lang="en-US" sz="1700" b="1" dirty="0">
                <a:solidFill>
                  <a:srgbClr val="D03B3B"/>
                </a:solidFill>
                <a:latin typeface="Arial" pitchFamily="34" charset="0"/>
                <a:ea typeface="Arial" pitchFamily="34" charset="-122"/>
                <a:cs typeface="Arial" pitchFamily="34" charset="-120"/>
              </a:rPr>
              <a:t>18</a:t>
            </a:r>
            <a:endParaRPr lang="en-US" sz="1700" dirty="0"/>
          </a:p>
        </p:txBody>
      </p:sp>
      <p:sp>
        <p:nvSpPr>
          <p:cNvPr id="17" name="Shape 15"/>
          <p:cNvSpPr/>
          <p:nvPr/>
        </p:nvSpPr>
        <p:spPr>
          <a:xfrm>
            <a:off x="804672" y="3008376"/>
            <a:ext cx="5522976" cy="0"/>
          </a:xfrm>
          <a:prstGeom prst="line">
            <a:avLst/>
          </a:prstGeom>
          <a:noFill/>
          <a:ln w="12700">
            <a:solidFill>
              <a:srgbClr val="20262F"/>
            </a:solidFill>
            <a:prstDash val="solid"/>
          </a:ln>
        </p:spPr>
      </p:sp>
      <p:sp>
        <p:nvSpPr>
          <p:cNvPr id="18" name="Text 16"/>
          <p:cNvSpPr txBox="1"/>
          <p:nvPr/>
        </p:nvSpPr>
        <p:spPr>
          <a:xfrm>
            <a:off x="804672" y="3072384"/>
            <a:ext cx="2743200" cy="365760"/>
          </a:xfrm>
          <a:prstGeom prst="rect">
            <a:avLst/>
          </a:prstGeom>
          <a:noFill/>
          <a:ln/>
        </p:spPr>
        <p:txBody>
          <a:bodyPr wrap="square" lIns="0" tIns="0" rIns="0" bIns="0" rtlCol="0" anchor="ctr"/>
          <a:lstStyle/>
          <a:p>
            <a:pPr indent="0" marL="0">
              <a:buNone/>
            </a:pPr>
            <a:r>
              <a:rPr lang="en-US" sz="1060" dirty="0">
                <a:solidFill>
                  <a:srgbClr val="C3C2B7"/>
                </a:solidFill>
                <a:latin typeface="Calibri" pitchFamily="34" charset="0"/>
                <a:ea typeface="Calibri" pitchFamily="34" charset="-122"/>
                <a:cs typeface="Calibri" pitchFamily="34" charset="-120"/>
              </a:rPr>
              <a:t>Active alerts</a:t>
            </a:r>
            <a:endParaRPr lang="en-US" sz="1060" dirty="0"/>
          </a:p>
        </p:txBody>
      </p:sp>
      <p:sp>
        <p:nvSpPr>
          <p:cNvPr id="19" name="Text 17"/>
          <p:cNvSpPr txBox="1"/>
          <p:nvPr/>
        </p:nvSpPr>
        <p:spPr>
          <a:xfrm>
            <a:off x="3566160" y="3072384"/>
            <a:ext cx="822960" cy="365760"/>
          </a:xfrm>
          <a:prstGeom prst="rect">
            <a:avLst/>
          </a:prstGeom>
          <a:noFill/>
          <a:ln/>
        </p:spPr>
        <p:txBody>
          <a:bodyPr wrap="square" lIns="0" tIns="0" rIns="0" bIns="0" rtlCol="0" anchor="ctr"/>
          <a:lstStyle/>
          <a:p>
            <a:pPr algn="r" indent="0" marL="0">
              <a:buNone/>
            </a:pPr>
            <a:r>
              <a:rPr lang="en-US" sz="1500" b="1" dirty="0">
                <a:solidFill>
                  <a:srgbClr val="C3C2B7"/>
                </a:solidFill>
                <a:latin typeface="Arial" pitchFamily="34" charset="0"/>
                <a:ea typeface="Arial" pitchFamily="34" charset="-122"/>
                <a:cs typeface="Arial" pitchFamily="34" charset="-120"/>
              </a:rPr>
              <a:t>5</a:t>
            </a:r>
            <a:endParaRPr lang="en-US" sz="1500" dirty="0"/>
          </a:p>
        </p:txBody>
      </p:sp>
      <p:sp>
        <p:nvSpPr>
          <p:cNvPr id="20" name="Shape 18"/>
          <p:cNvSpPr/>
          <p:nvPr/>
        </p:nvSpPr>
        <p:spPr>
          <a:xfrm>
            <a:off x="4498848" y="3255264"/>
            <a:ext cx="274320" cy="0"/>
          </a:xfrm>
          <a:prstGeom prst="line">
            <a:avLst/>
          </a:prstGeom>
          <a:noFill/>
          <a:ln w="15875">
            <a:solidFill>
              <a:srgbClr val="2B323F"/>
            </a:solidFill>
            <a:prstDash val="solid"/>
            <a:tailEnd type="triangle"/>
          </a:ln>
        </p:spPr>
      </p:sp>
      <p:sp>
        <p:nvSpPr>
          <p:cNvPr id="21" name="Text 19"/>
          <p:cNvSpPr txBox="1"/>
          <p:nvPr/>
        </p:nvSpPr>
        <p:spPr>
          <a:xfrm>
            <a:off x="4846320" y="3072384"/>
            <a:ext cx="1481328" cy="365760"/>
          </a:xfrm>
          <a:prstGeom prst="rect">
            <a:avLst/>
          </a:prstGeom>
          <a:noFill/>
          <a:ln/>
        </p:spPr>
        <p:txBody>
          <a:bodyPr wrap="square" lIns="0" tIns="0" rIns="0" bIns="0" rtlCol="0" anchor="ctr"/>
          <a:lstStyle/>
          <a:p>
            <a:pPr algn="r" indent="0" marL="0">
              <a:buNone/>
            </a:pPr>
            <a:r>
              <a:rPr lang="en-US" sz="1700" b="1" dirty="0">
                <a:solidFill>
                  <a:srgbClr val="D03B3B"/>
                </a:solidFill>
                <a:latin typeface="Arial" pitchFamily="34" charset="0"/>
                <a:ea typeface="Arial" pitchFamily="34" charset="-122"/>
                <a:cs typeface="Arial" pitchFamily="34" charset="-120"/>
              </a:rPr>
              <a:t>34</a:t>
            </a:r>
            <a:endParaRPr lang="en-US" sz="1700" dirty="0"/>
          </a:p>
        </p:txBody>
      </p:sp>
      <p:sp>
        <p:nvSpPr>
          <p:cNvPr id="22" name="Shape 20"/>
          <p:cNvSpPr/>
          <p:nvPr/>
        </p:nvSpPr>
        <p:spPr>
          <a:xfrm>
            <a:off x="804672" y="3493008"/>
            <a:ext cx="5522976" cy="0"/>
          </a:xfrm>
          <a:prstGeom prst="line">
            <a:avLst/>
          </a:prstGeom>
          <a:noFill/>
          <a:ln w="12700">
            <a:solidFill>
              <a:srgbClr val="20262F"/>
            </a:solidFill>
            <a:prstDash val="solid"/>
          </a:ln>
        </p:spPr>
      </p:sp>
      <p:sp>
        <p:nvSpPr>
          <p:cNvPr id="23" name="Text 21"/>
          <p:cNvSpPr txBox="1"/>
          <p:nvPr/>
        </p:nvSpPr>
        <p:spPr>
          <a:xfrm>
            <a:off x="804672" y="3557016"/>
            <a:ext cx="2743200" cy="365760"/>
          </a:xfrm>
          <a:prstGeom prst="rect">
            <a:avLst/>
          </a:prstGeom>
          <a:noFill/>
          <a:ln/>
        </p:spPr>
        <p:txBody>
          <a:bodyPr wrap="square" lIns="0" tIns="0" rIns="0" bIns="0" rtlCol="0" anchor="ctr"/>
          <a:lstStyle/>
          <a:p>
            <a:pPr indent="0" marL="0">
              <a:buNone/>
            </a:pPr>
            <a:r>
              <a:rPr lang="en-US" sz="1060" dirty="0">
                <a:solidFill>
                  <a:srgbClr val="C3C2B7"/>
                </a:solidFill>
                <a:latin typeface="Calibri" pitchFamily="34" charset="0"/>
                <a:ea typeface="Calibri" pitchFamily="34" charset="-122"/>
                <a:cs typeface="Calibri" pitchFamily="34" charset="-120"/>
              </a:rPr>
              <a:t>Settlements surface-cut off</a:t>
            </a:r>
            <a:endParaRPr lang="en-US" sz="1060" dirty="0"/>
          </a:p>
        </p:txBody>
      </p:sp>
      <p:sp>
        <p:nvSpPr>
          <p:cNvPr id="24" name="Text 22"/>
          <p:cNvSpPr txBox="1"/>
          <p:nvPr/>
        </p:nvSpPr>
        <p:spPr>
          <a:xfrm>
            <a:off x="3566160" y="3557016"/>
            <a:ext cx="822960" cy="365760"/>
          </a:xfrm>
          <a:prstGeom prst="rect">
            <a:avLst/>
          </a:prstGeom>
          <a:noFill/>
          <a:ln/>
        </p:spPr>
        <p:txBody>
          <a:bodyPr wrap="square" lIns="0" tIns="0" rIns="0" bIns="0" rtlCol="0" anchor="ctr"/>
          <a:lstStyle/>
          <a:p>
            <a:pPr algn="r" indent="0" marL="0">
              <a:buNone/>
            </a:pPr>
            <a:r>
              <a:rPr lang="en-US" sz="1500" b="1" dirty="0">
                <a:solidFill>
                  <a:srgbClr val="C3C2B7"/>
                </a:solidFill>
                <a:latin typeface="Arial" pitchFamily="34" charset="0"/>
                <a:ea typeface="Arial" pitchFamily="34" charset="-122"/>
                <a:cs typeface="Arial" pitchFamily="34" charset="-120"/>
              </a:rPr>
              <a:t>0</a:t>
            </a:r>
            <a:endParaRPr lang="en-US" sz="1500" dirty="0"/>
          </a:p>
        </p:txBody>
      </p:sp>
      <p:sp>
        <p:nvSpPr>
          <p:cNvPr id="25" name="Shape 23"/>
          <p:cNvSpPr/>
          <p:nvPr/>
        </p:nvSpPr>
        <p:spPr>
          <a:xfrm>
            <a:off x="4498848" y="3739896"/>
            <a:ext cx="274320" cy="0"/>
          </a:xfrm>
          <a:prstGeom prst="line">
            <a:avLst/>
          </a:prstGeom>
          <a:noFill/>
          <a:ln w="15875">
            <a:solidFill>
              <a:srgbClr val="2B323F"/>
            </a:solidFill>
            <a:prstDash val="solid"/>
            <a:tailEnd type="triangle"/>
          </a:ln>
        </p:spPr>
      </p:sp>
      <p:sp>
        <p:nvSpPr>
          <p:cNvPr id="26" name="Text 24"/>
          <p:cNvSpPr txBox="1"/>
          <p:nvPr/>
        </p:nvSpPr>
        <p:spPr>
          <a:xfrm>
            <a:off x="4846320" y="3557016"/>
            <a:ext cx="1481328" cy="365760"/>
          </a:xfrm>
          <a:prstGeom prst="rect">
            <a:avLst/>
          </a:prstGeom>
          <a:noFill/>
          <a:ln/>
        </p:spPr>
        <p:txBody>
          <a:bodyPr wrap="square" lIns="0" tIns="0" rIns="0" bIns="0" rtlCol="0" anchor="ctr"/>
          <a:lstStyle/>
          <a:p>
            <a:pPr algn="r" indent="0" marL="0">
              <a:buNone/>
            </a:pPr>
            <a:r>
              <a:rPr lang="en-US" sz="1700" b="1" dirty="0">
                <a:solidFill>
                  <a:srgbClr val="D03B3B"/>
                </a:solidFill>
                <a:latin typeface="Arial" pitchFamily="34" charset="0"/>
                <a:ea typeface="Arial" pitchFamily="34" charset="-122"/>
                <a:cs typeface="Arial" pitchFamily="34" charset="-120"/>
              </a:rPr>
              <a:t>24</a:t>
            </a:r>
            <a:endParaRPr lang="en-US" sz="1700" dirty="0"/>
          </a:p>
        </p:txBody>
      </p:sp>
      <p:sp>
        <p:nvSpPr>
          <p:cNvPr id="27" name="Shape 25"/>
          <p:cNvSpPr/>
          <p:nvPr/>
        </p:nvSpPr>
        <p:spPr>
          <a:xfrm>
            <a:off x="804672" y="3977640"/>
            <a:ext cx="5522976" cy="0"/>
          </a:xfrm>
          <a:prstGeom prst="line">
            <a:avLst/>
          </a:prstGeom>
          <a:noFill/>
          <a:ln w="12700">
            <a:solidFill>
              <a:srgbClr val="20262F"/>
            </a:solidFill>
            <a:prstDash val="solid"/>
          </a:ln>
        </p:spPr>
      </p:sp>
      <p:sp>
        <p:nvSpPr>
          <p:cNvPr id="28" name="Text 26"/>
          <p:cNvSpPr txBox="1"/>
          <p:nvPr/>
        </p:nvSpPr>
        <p:spPr>
          <a:xfrm>
            <a:off x="804672" y="4041648"/>
            <a:ext cx="2743200" cy="365760"/>
          </a:xfrm>
          <a:prstGeom prst="rect">
            <a:avLst/>
          </a:prstGeom>
          <a:noFill/>
          <a:ln/>
        </p:spPr>
        <p:txBody>
          <a:bodyPr wrap="square" lIns="0" tIns="0" rIns="0" bIns="0" rtlCol="0" anchor="ctr"/>
          <a:lstStyle/>
          <a:p>
            <a:pPr indent="0" marL="0">
              <a:buNone/>
            </a:pPr>
            <a:r>
              <a:rPr lang="en-US" sz="1060" dirty="0">
                <a:solidFill>
                  <a:srgbClr val="C3C2B7"/>
                </a:solidFill>
                <a:latin typeface="Calibri" pitchFamily="34" charset="0"/>
                <a:ea typeface="Calibri" pitchFamily="34" charset="-122"/>
                <a:cs typeface="Calibri" pitchFamily="34" charset="-120"/>
              </a:rPr>
              <a:t>Population affected</a:t>
            </a:r>
            <a:endParaRPr lang="en-US" sz="1060" dirty="0"/>
          </a:p>
        </p:txBody>
      </p:sp>
      <p:sp>
        <p:nvSpPr>
          <p:cNvPr id="29" name="Text 27"/>
          <p:cNvSpPr txBox="1"/>
          <p:nvPr/>
        </p:nvSpPr>
        <p:spPr>
          <a:xfrm>
            <a:off x="3566160" y="4041648"/>
            <a:ext cx="822960" cy="365760"/>
          </a:xfrm>
          <a:prstGeom prst="rect">
            <a:avLst/>
          </a:prstGeom>
          <a:noFill/>
          <a:ln/>
        </p:spPr>
        <p:txBody>
          <a:bodyPr wrap="square" lIns="0" tIns="0" rIns="0" bIns="0" rtlCol="0" anchor="ctr"/>
          <a:lstStyle/>
          <a:p>
            <a:pPr algn="r" indent="0" marL="0">
              <a:buNone/>
            </a:pPr>
            <a:r>
              <a:rPr lang="en-US" sz="1500" b="1" dirty="0">
                <a:solidFill>
                  <a:srgbClr val="C3C2B7"/>
                </a:solidFill>
                <a:latin typeface="Arial" pitchFamily="34" charset="0"/>
                <a:ea typeface="Arial" pitchFamily="34" charset="-122"/>
                <a:cs typeface="Arial" pitchFamily="34" charset="-120"/>
              </a:rPr>
              <a:t>0</a:t>
            </a:r>
            <a:endParaRPr lang="en-US" sz="1500" dirty="0"/>
          </a:p>
        </p:txBody>
      </p:sp>
      <p:sp>
        <p:nvSpPr>
          <p:cNvPr id="30" name="Shape 28"/>
          <p:cNvSpPr/>
          <p:nvPr/>
        </p:nvSpPr>
        <p:spPr>
          <a:xfrm>
            <a:off x="4498848" y="4224528"/>
            <a:ext cx="274320" cy="0"/>
          </a:xfrm>
          <a:prstGeom prst="line">
            <a:avLst/>
          </a:prstGeom>
          <a:noFill/>
          <a:ln w="15875">
            <a:solidFill>
              <a:srgbClr val="2B323F"/>
            </a:solidFill>
            <a:prstDash val="solid"/>
            <a:tailEnd type="triangle"/>
          </a:ln>
        </p:spPr>
      </p:sp>
      <p:sp>
        <p:nvSpPr>
          <p:cNvPr id="31" name="Text 29"/>
          <p:cNvSpPr txBox="1"/>
          <p:nvPr/>
        </p:nvSpPr>
        <p:spPr>
          <a:xfrm>
            <a:off x="4846320" y="4041648"/>
            <a:ext cx="1481328" cy="365760"/>
          </a:xfrm>
          <a:prstGeom prst="rect">
            <a:avLst/>
          </a:prstGeom>
          <a:noFill/>
          <a:ln/>
        </p:spPr>
        <p:txBody>
          <a:bodyPr wrap="square" lIns="0" tIns="0" rIns="0" bIns="0" rtlCol="0" anchor="ctr"/>
          <a:lstStyle/>
          <a:p>
            <a:pPr algn="r" indent="0" marL="0">
              <a:buNone/>
            </a:pPr>
            <a:r>
              <a:rPr lang="en-US" sz="1700" b="1" dirty="0">
                <a:solidFill>
                  <a:srgbClr val="D03B3B"/>
                </a:solidFill>
                <a:latin typeface="Arial" pitchFamily="34" charset="0"/>
                <a:ea typeface="Arial" pitchFamily="34" charset="-122"/>
                <a:cs typeface="Arial" pitchFamily="34" charset="-120"/>
              </a:rPr>
              <a:t>17.5 L</a:t>
            </a:r>
            <a:endParaRPr lang="en-US" sz="1700" dirty="0"/>
          </a:p>
        </p:txBody>
      </p:sp>
      <p:sp>
        <p:nvSpPr>
          <p:cNvPr id="32" name="Shape 30"/>
          <p:cNvSpPr/>
          <p:nvPr/>
        </p:nvSpPr>
        <p:spPr>
          <a:xfrm>
            <a:off x="6766560" y="1572768"/>
            <a:ext cx="4876495" cy="2999232"/>
          </a:xfrm>
          <a:prstGeom prst="roundRect">
            <a:avLst>
              <a:gd name="adj" fmla="val 2744"/>
            </a:avLst>
          </a:prstGeom>
          <a:solidFill>
            <a:srgbClr val="1A1F28"/>
          </a:solidFill>
          <a:ln w="12700">
            <a:solidFill>
              <a:srgbClr val="2B323F"/>
            </a:solidFill>
            <a:prstDash val="solid"/>
          </a:ln>
        </p:spPr>
      </p:sp>
      <p:sp>
        <p:nvSpPr>
          <p:cNvPr id="33" name="Shape 31"/>
          <p:cNvSpPr/>
          <p:nvPr/>
        </p:nvSpPr>
        <p:spPr>
          <a:xfrm>
            <a:off x="6967728" y="1755648"/>
            <a:ext cx="402336" cy="402336"/>
          </a:xfrm>
          <a:prstGeom prst="ellipse">
            <a:avLst/>
          </a:prstGeom>
          <a:solidFill>
            <a:srgbClr val="2A1E1E"/>
          </a:solidFill>
          <a:ln w="12700">
            <a:solidFill>
              <a:srgbClr val="D03B3B"/>
            </a:solidFill>
            <a:prstDash val="solid"/>
          </a:ln>
        </p:spPr>
      </p:sp>
      <p:pic>
        <p:nvPicPr>
          <p:cNvPr id="34" name="Image 0" descr="preencoded.png">    </p:cNvPr>
          <p:cNvPicPr>
            <a:picLocks noChangeAspect="1"/>
          </p:cNvPicPr>
          <p:nvPr/>
        </p:nvPicPr>
        <p:blipFill>
          <a:blip r:embed="rId1"/>
          <a:stretch>
            <a:fillRect/>
          </a:stretch>
        </p:blipFill>
        <p:spPr>
          <a:xfrm>
            <a:off x="7080382" y="1868302"/>
            <a:ext cx="177028" cy="177028"/>
          </a:xfrm>
          <a:prstGeom prst="rect">
            <a:avLst/>
          </a:prstGeom>
        </p:spPr>
      </p:pic>
      <p:sp>
        <p:nvSpPr>
          <p:cNvPr id="35" name="Text 32"/>
          <p:cNvSpPr txBox="1"/>
          <p:nvPr/>
        </p:nvSpPr>
        <p:spPr>
          <a:xfrm>
            <a:off x="7479792" y="1828800"/>
            <a:ext cx="402336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Reachable by air only</a:t>
            </a:r>
            <a:endParaRPr lang="en-US" sz="1300" dirty="0"/>
          </a:p>
        </p:txBody>
      </p:sp>
      <p:sp>
        <p:nvSpPr>
          <p:cNvPr id="36" name="Text 33"/>
          <p:cNvSpPr txBox="1"/>
          <p:nvPr/>
        </p:nvSpPr>
        <p:spPr>
          <a:xfrm>
            <a:off x="6967728" y="2286000"/>
            <a:ext cx="4846320" cy="274320"/>
          </a:xfrm>
          <a:prstGeom prst="rect">
            <a:avLst/>
          </a:prstGeom>
          <a:noFill/>
          <a:ln/>
        </p:spPr>
        <p:txBody>
          <a:bodyPr wrap="square" lIns="0" tIns="0" rIns="0" bIns="0" rtlCol="0" anchor="ctr"/>
          <a:lstStyle/>
          <a:p>
            <a:pPr indent="0" marL="0">
              <a:buNone/>
            </a:pPr>
            <a:r>
              <a:rPr lang="en-US" sz="1060" dirty="0">
                <a:solidFill>
                  <a:srgbClr val="C3C2B7"/>
                </a:solidFill>
                <a:latin typeface="Calibri" pitchFamily="34" charset="0"/>
                <a:ea typeface="Calibri" pitchFamily="34" charset="-122"/>
                <a:cs typeface="Calibri" pitchFamily="34" charset="-120"/>
              </a:rPr>
              <a:t>Four state capitals and regional hubs lose every surface connection to the Guwahati hub:</a:t>
            </a:r>
            <a:endParaRPr lang="en-US" sz="1060" dirty="0"/>
          </a:p>
        </p:txBody>
      </p:sp>
      <p:sp>
        <p:nvSpPr>
          <p:cNvPr id="37" name="Shape 34"/>
          <p:cNvSpPr/>
          <p:nvPr/>
        </p:nvSpPr>
        <p:spPr>
          <a:xfrm>
            <a:off x="6967728" y="2670048"/>
            <a:ext cx="2286000" cy="329184"/>
          </a:xfrm>
          <a:prstGeom prst="roundRect">
            <a:avLst>
              <a:gd name="adj" fmla="val 50000"/>
            </a:avLst>
          </a:prstGeom>
          <a:solidFill>
            <a:srgbClr val="222834"/>
          </a:solidFill>
          <a:ln w="12700">
            <a:solidFill>
              <a:srgbClr val="2B323F"/>
            </a:solidFill>
            <a:prstDash val="solid"/>
          </a:ln>
        </p:spPr>
      </p:sp>
      <p:sp>
        <p:nvSpPr>
          <p:cNvPr id="38" name="Shape 35"/>
          <p:cNvSpPr/>
          <p:nvPr/>
        </p:nvSpPr>
        <p:spPr>
          <a:xfrm>
            <a:off x="7068312" y="2793492"/>
            <a:ext cx="82296" cy="82296"/>
          </a:xfrm>
          <a:prstGeom prst="ellipse">
            <a:avLst/>
          </a:prstGeom>
          <a:solidFill>
            <a:srgbClr val="D03B3B"/>
          </a:solidFill>
          <a:ln/>
        </p:spPr>
      </p:sp>
      <p:sp>
        <p:nvSpPr>
          <p:cNvPr id="39" name="Text 36"/>
          <p:cNvSpPr txBox="1"/>
          <p:nvPr/>
        </p:nvSpPr>
        <p:spPr>
          <a:xfrm>
            <a:off x="7205472" y="2670048"/>
            <a:ext cx="1956816"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Silchar  ·  air bridge only</a:t>
            </a:r>
            <a:endParaRPr lang="en-US" sz="950" dirty="0"/>
          </a:p>
        </p:txBody>
      </p:sp>
      <p:sp>
        <p:nvSpPr>
          <p:cNvPr id="40" name="Shape 37"/>
          <p:cNvSpPr/>
          <p:nvPr/>
        </p:nvSpPr>
        <p:spPr>
          <a:xfrm>
            <a:off x="9436608" y="2670048"/>
            <a:ext cx="2286000" cy="329184"/>
          </a:xfrm>
          <a:prstGeom prst="roundRect">
            <a:avLst>
              <a:gd name="adj" fmla="val 50000"/>
            </a:avLst>
          </a:prstGeom>
          <a:solidFill>
            <a:srgbClr val="222834"/>
          </a:solidFill>
          <a:ln w="12700">
            <a:solidFill>
              <a:srgbClr val="2B323F"/>
            </a:solidFill>
            <a:prstDash val="solid"/>
          </a:ln>
        </p:spPr>
      </p:sp>
      <p:sp>
        <p:nvSpPr>
          <p:cNvPr id="41" name="Shape 38"/>
          <p:cNvSpPr/>
          <p:nvPr/>
        </p:nvSpPr>
        <p:spPr>
          <a:xfrm>
            <a:off x="9537192" y="2793492"/>
            <a:ext cx="82296" cy="82296"/>
          </a:xfrm>
          <a:prstGeom prst="ellipse">
            <a:avLst/>
          </a:prstGeom>
          <a:solidFill>
            <a:srgbClr val="D03B3B"/>
          </a:solidFill>
          <a:ln/>
        </p:spPr>
      </p:sp>
      <p:sp>
        <p:nvSpPr>
          <p:cNvPr id="42" name="Text 39"/>
          <p:cNvSpPr txBox="1"/>
          <p:nvPr/>
        </p:nvSpPr>
        <p:spPr>
          <a:xfrm>
            <a:off x="9674352" y="2670048"/>
            <a:ext cx="1956816"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Agartala  ·  air bridge only</a:t>
            </a:r>
            <a:endParaRPr lang="en-US" sz="950" dirty="0"/>
          </a:p>
        </p:txBody>
      </p:sp>
      <p:sp>
        <p:nvSpPr>
          <p:cNvPr id="43" name="Shape 40"/>
          <p:cNvSpPr/>
          <p:nvPr/>
        </p:nvSpPr>
        <p:spPr>
          <a:xfrm>
            <a:off x="6967728" y="3127248"/>
            <a:ext cx="2286000" cy="329184"/>
          </a:xfrm>
          <a:prstGeom prst="roundRect">
            <a:avLst>
              <a:gd name="adj" fmla="val 50000"/>
            </a:avLst>
          </a:prstGeom>
          <a:solidFill>
            <a:srgbClr val="222834"/>
          </a:solidFill>
          <a:ln w="12700">
            <a:solidFill>
              <a:srgbClr val="2B323F"/>
            </a:solidFill>
            <a:prstDash val="solid"/>
          </a:ln>
        </p:spPr>
      </p:sp>
      <p:sp>
        <p:nvSpPr>
          <p:cNvPr id="44" name="Shape 41"/>
          <p:cNvSpPr/>
          <p:nvPr/>
        </p:nvSpPr>
        <p:spPr>
          <a:xfrm>
            <a:off x="7068312" y="3250692"/>
            <a:ext cx="82296" cy="82296"/>
          </a:xfrm>
          <a:prstGeom prst="ellipse">
            <a:avLst/>
          </a:prstGeom>
          <a:solidFill>
            <a:srgbClr val="D03B3B"/>
          </a:solidFill>
          <a:ln/>
        </p:spPr>
      </p:sp>
      <p:sp>
        <p:nvSpPr>
          <p:cNvPr id="45" name="Text 42"/>
          <p:cNvSpPr txBox="1"/>
          <p:nvPr/>
        </p:nvSpPr>
        <p:spPr>
          <a:xfrm>
            <a:off x="7205472" y="3127248"/>
            <a:ext cx="1956816"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Aizawl  ·  air bridge only</a:t>
            </a:r>
            <a:endParaRPr lang="en-US" sz="950" dirty="0"/>
          </a:p>
        </p:txBody>
      </p:sp>
      <p:sp>
        <p:nvSpPr>
          <p:cNvPr id="46" name="Shape 43"/>
          <p:cNvSpPr/>
          <p:nvPr/>
        </p:nvSpPr>
        <p:spPr>
          <a:xfrm>
            <a:off x="9436608" y="3127248"/>
            <a:ext cx="2286000" cy="329184"/>
          </a:xfrm>
          <a:prstGeom prst="roundRect">
            <a:avLst>
              <a:gd name="adj" fmla="val 50000"/>
            </a:avLst>
          </a:prstGeom>
          <a:solidFill>
            <a:srgbClr val="222834"/>
          </a:solidFill>
          <a:ln w="12700">
            <a:solidFill>
              <a:srgbClr val="2B323F"/>
            </a:solidFill>
            <a:prstDash val="solid"/>
          </a:ln>
        </p:spPr>
      </p:sp>
      <p:sp>
        <p:nvSpPr>
          <p:cNvPr id="47" name="Shape 44"/>
          <p:cNvSpPr/>
          <p:nvPr/>
        </p:nvSpPr>
        <p:spPr>
          <a:xfrm>
            <a:off x="9537192" y="3250692"/>
            <a:ext cx="82296" cy="82296"/>
          </a:xfrm>
          <a:prstGeom prst="ellipse">
            <a:avLst/>
          </a:prstGeom>
          <a:solidFill>
            <a:srgbClr val="D03B3B"/>
          </a:solidFill>
          <a:ln/>
        </p:spPr>
      </p:sp>
      <p:sp>
        <p:nvSpPr>
          <p:cNvPr id="48" name="Text 45"/>
          <p:cNvSpPr txBox="1"/>
          <p:nvPr/>
        </p:nvSpPr>
        <p:spPr>
          <a:xfrm>
            <a:off x="9674352" y="3127248"/>
            <a:ext cx="1956816"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Imphal  ·  air bridge only</a:t>
            </a:r>
            <a:endParaRPr lang="en-US" sz="950" dirty="0"/>
          </a:p>
        </p:txBody>
      </p:sp>
      <p:sp>
        <p:nvSpPr>
          <p:cNvPr id="49" name="Text 46"/>
          <p:cNvSpPr txBox="1"/>
          <p:nvPr/>
        </p:nvSpPr>
        <p:spPr>
          <a:xfrm>
            <a:off x="6967728" y="3639312"/>
            <a:ext cx="4846320" cy="822960"/>
          </a:xfrm>
          <a:prstGeom prst="rect">
            <a:avLst/>
          </a:prstGeom>
          <a:noFill/>
          <a:ln/>
        </p:spPr>
        <p:txBody>
          <a:bodyPr wrap="square" lIns="0" tIns="0" rIns="0" bIns="0" rtlCol="0" anchor="t"/>
          <a:lstStyle/>
          <a:p>
            <a:pPr indent="0" marL="0">
              <a:lnSpc>
                <a:spcPct val="116000"/>
              </a:lnSpc>
              <a:buNone/>
            </a:pPr>
            <a:r>
              <a:rPr lang="en-US" sz="1040" dirty="0">
                <a:solidFill>
                  <a:srgbClr val="C3C2B7"/>
                </a:solidFill>
                <a:latin typeface="Calibri" pitchFamily="34" charset="0"/>
                <a:ea typeface="Calibri" pitchFamily="34" charset="-122"/>
                <a:cs typeface="Calibri" pitchFamily="34" charset="-120"/>
              </a:rPr>
              <a:t>This is what actually happened in June 2022. The platform reaches the same conclusion from rainfall alone, and re-routes accordingly: the recommendation for Guwahati to Silchar switches from rail to air cargo, 3.5 hours at 61% arrival probability.</a:t>
            </a:r>
            <a:endParaRPr lang="en-US" sz="1040" dirty="0"/>
          </a:p>
        </p:txBody>
      </p:sp>
      <p:sp>
        <p:nvSpPr>
          <p:cNvPr id="50" name="Shape 47"/>
          <p:cNvSpPr/>
          <p:nvPr/>
        </p:nvSpPr>
        <p:spPr>
          <a:xfrm>
            <a:off x="548640" y="4718304"/>
            <a:ext cx="11094415" cy="1005840"/>
          </a:xfrm>
          <a:prstGeom prst="roundRect">
            <a:avLst>
              <a:gd name="adj" fmla="val 8182"/>
            </a:avLst>
          </a:prstGeom>
          <a:solidFill>
            <a:srgbClr val="1C1518"/>
          </a:solidFill>
          <a:ln w="12700">
            <a:solidFill>
              <a:srgbClr val="3A2226"/>
            </a:solidFill>
            <a:prstDash val="solid"/>
          </a:ln>
        </p:spPr>
      </p:sp>
      <p:sp>
        <p:nvSpPr>
          <p:cNvPr id="51" name="Shape 48"/>
          <p:cNvSpPr/>
          <p:nvPr/>
        </p:nvSpPr>
        <p:spPr>
          <a:xfrm>
            <a:off x="786384" y="4919472"/>
            <a:ext cx="402336" cy="402336"/>
          </a:xfrm>
          <a:prstGeom prst="ellipse">
            <a:avLst/>
          </a:prstGeom>
          <a:solidFill>
            <a:srgbClr val="2A1E1E"/>
          </a:solidFill>
          <a:ln w="12700">
            <a:solidFill>
              <a:srgbClr val="D03B3B"/>
            </a:solidFill>
            <a:prstDash val="solid"/>
          </a:ln>
        </p:spPr>
      </p:sp>
      <p:pic>
        <p:nvPicPr>
          <p:cNvPr id="52" name="Image 1" descr="preencoded.png">    </p:cNvPr>
          <p:cNvPicPr>
            <a:picLocks noChangeAspect="1"/>
          </p:cNvPicPr>
          <p:nvPr/>
        </p:nvPicPr>
        <p:blipFill>
          <a:blip r:embed="rId2"/>
          <a:stretch>
            <a:fillRect/>
          </a:stretch>
        </p:blipFill>
        <p:spPr>
          <a:xfrm>
            <a:off x="899038" y="5032126"/>
            <a:ext cx="177028" cy="177028"/>
          </a:xfrm>
          <a:prstGeom prst="rect">
            <a:avLst/>
          </a:prstGeom>
        </p:spPr>
      </p:pic>
      <p:sp>
        <p:nvSpPr>
          <p:cNvPr id="53" name="Text 49"/>
          <p:cNvSpPr txBox="1"/>
          <p:nvPr/>
        </p:nvSpPr>
        <p:spPr>
          <a:xfrm>
            <a:off x="1335024" y="4882896"/>
            <a:ext cx="402336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And when nothing works, it says so</a:t>
            </a:r>
            <a:endParaRPr lang="en-US" sz="1250" dirty="0"/>
          </a:p>
        </p:txBody>
      </p:sp>
      <p:sp>
        <p:nvSpPr>
          <p:cNvPr id="54" name="Text 50"/>
          <p:cNvSpPr txBox="1"/>
          <p:nvPr/>
        </p:nvSpPr>
        <p:spPr>
          <a:xfrm>
            <a:off x="1335024" y="5175504"/>
            <a:ext cx="10088575" cy="457200"/>
          </a:xfrm>
          <a:prstGeom prst="rect">
            <a:avLst/>
          </a:prstGeom>
          <a:noFill/>
          <a:ln/>
        </p:spPr>
        <p:txBody>
          <a:bodyPr wrap="square" lIns="0" tIns="0" rIns="0" bIns="0" rtlCol="0" anchor="t"/>
          <a:lstStyle/>
          <a:p>
            <a:pPr indent="0" marL="0">
              <a:lnSpc>
                <a:spcPct val="116000"/>
              </a:lnSpc>
              <a:buNone/>
            </a:pPr>
            <a:r>
              <a:rPr lang="en-US" sz="1060" dirty="0">
                <a:solidFill>
                  <a:srgbClr val="C3C2B7"/>
                </a:solidFill>
                <a:latin typeface="Calibri" pitchFamily="34" charset="0"/>
                <a:ea typeface="Calibri" pitchFamily="34" charset="-122"/>
                <a:cs typeface="Calibri" pitchFamily="34" charset="-120"/>
              </a:rPr>
              <a:t>Disable air cargo during the flood and the planner does not dress up a bad answer. It reports that every routing crosses a corridor it expects to be closed, shows the least-bad options with their honest 1% and 0% arrival probabilities, and tells the operator to treat dispatch as conditional on ground confirmation.</a:t>
            </a:r>
            <a:endParaRPr lang="en-US" sz="1060" dirty="0"/>
          </a:p>
        </p:txBody>
      </p:sp>
      <p:sp>
        <p:nvSpPr>
          <p:cNvPr id="55" name="Text 51"/>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56" name="Text 52"/>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DATA</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Where every number comes from</a:t>
            </a:r>
            <a:endParaRPr lang="en-US" sz="3000" dirty="0"/>
          </a:p>
        </p:txBody>
      </p:sp>
      <p:sp>
        <p:nvSpPr>
          <p:cNvPr id="4" name="Shape 2"/>
          <p:cNvSpPr/>
          <p:nvPr/>
        </p:nvSpPr>
        <p:spPr>
          <a:xfrm>
            <a:off x="548640" y="1316736"/>
            <a:ext cx="5437480" cy="3310128"/>
          </a:xfrm>
          <a:prstGeom prst="roundRect">
            <a:avLst>
              <a:gd name="adj" fmla="val 2486"/>
            </a:avLst>
          </a:prstGeom>
          <a:solidFill>
            <a:srgbClr val="1A1F28"/>
          </a:solidFill>
          <a:ln w="12700">
            <a:solidFill>
              <a:srgbClr val="2B323F"/>
            </a:solidFill>
            <a:prstDash val="solid"/>
          </a:ln>
        </p:spPr>
      </p:sp>
      <p:sp>
        <p:nvSpPr>
          <p:cNvPr id="5" name="Shape 3"/>
          <p:cNvSpPr/>
          <p:nvPr/>
        </p:nvSpPr>
        <p:spPr>
          <a:xfrm>
            <a:off x="749808" y="1499616"/>
            <a:ext cx="384048" cy="384048"/>
          </a:xfrm>
          <a:prstGeom prst="ellipse">
            <a:avLst/>
          </a:prstGeom>
          <a:solidFill>
            <a:srgbClr val="1E2937"/>
          </a:solidFill>
          <a:ln w="12700">
            <a:solidFill>
              <a:srgbClr val="0CA30C"/>
            </a:solidFill>
            <a:prstDash val="solid"/>
          </a:ln>
        </p:spPr>
      </p:sp>
      <p:pic>
        <p:nvPicPr>
          <p:cNvPr id="6" name="Image 0" descr="preencoded.png">    </p:cNvPr>
          <p:cNvPicPr>
            <a:picLocks noChangeAspect="1"/>
          </p:cNvPicPr>
          <p:nvPr/>
        </p:nvPicPr>
        <p:blipFill>
          <a:blip r:embed="rId1"/>
          <a:stretch>
            <a:fillRect/>
          </a:stretch>
        </p:blipFill>
        <p:spPr>
          <a:xfrm>
            <a:off x="857341" y="1607149"/>
            <a:ext cx="168981" cy="168981"/>
          </a:xfrm>
          <a:prstGeom prst="rect">
            <a:avLst/>
          </a:prstGeom>
        </p:spPr>
      </p:pic>
      <p:sp>
        <p:nvSpPr>
          <p:cNvPr id="7" name="Text 4"/>
          <p:cNvSpPr txBox="1"/>
          <p:nvPr/>
        </p:nvSpPr>
        <p:spPr>
          <a:xfrm>
            <a:off x="1243584" y="1517904"/>
            <a:ext cx="4523080" cy="237744"/>
          </a:xfrm>
          <a:prstGeom prst="rect">
            <a:avLst/>
          </a:prstGeom>
          <a:noFill/>
          <a:ln/>
        </p:spPr>
        <p:txBody>
          <a:bodyPr wrap="square" lIns="0" tIns="0" rIns="0" bIns="0" rtlCol="0" anchor="ctr"/>
          <a:lstStyle/>
          <a:p>
            <a:pPr indent="0" marL="0">
              <a:buNone/>
            </a:pPr>
            <a:r>
              <a:rPr lang="en-US" sz="1350" b="1" dirty="0">
                <a:solidFill>
                  <a:srgbClr val="0CA30C"/>
                </a:solidFill>
                <a:latin typeface="Arial" pitchFamily="34" charset="0"/>
                <a:ea typeface="Arial" pitchFamily="34" charset="-122"/>
                <a:cs typeface="Arial" pitchFamily="34" charset="-120"/>
              </a:rPr>
              <a:t>Real</a:t>
            </a:r>
            <a:endParaRPr lang="en-US" sz="1350" dirty="0"/>
          </a:p>
        </p:txBody>
      </p:sp>
      <p:sp>
        <p:nvSpPr>
          <p:cNvPr id="8" name="Text 5"/>
          <p:cNvSpPr txBox="1"/>
          <p:nvPr/>
        </p:nvSpPr>
        <p:spPr>
          <a:xfrm>
            <a:off x="1243584" y="1755648"/>
            <a:ext cx="4523080" cy="201168"/>
          </a:xfrm>
          <a:prstGeom prst="rect">
            <a:avLst/>
          </a:prstGeom>
          <a:noFill/>
          <a:ln/>
        </p:spPr>
        <p:txBody>
          <a:bodyPr wrap="square" lIns="0" tIns="0" rIns="0" bIns="0" rtlCol="0" anchor="ctr"/>
          <a:lstStyle/>
          <a:p>
            <a:pPr indent="0" marL="0">
              <a:buNone/>
            </a:pPr>
            <a:r>
              <a:rPr lang="en-US" sz="960" dirty="0">
                <a:solidFill>
                  <a:srgbClr val="8A93A3"/>
                </a:solidFill>
                <a:latin typeface="Calibri" pitchFamily="34" charset="0"/>
                <a:ea typeface="Calibri" pitchFamily="34" charset="-122"/>
                <a:cs typeface="Calibri" pitchFamily="34" charset="-120"/>
              </a:rPr>
              <a:t>Verifiable against public sources</a:t>
            </a:r>
            <a:endParaRPr lang="en-US" sz="960" dirty="0"/>
          </a:p>
        </p:txBody>
      </p:sp>
      <p:sp>
        <p:nvSpPr>
          <p:cNvPr id="9" name="Text 6"/>
          <p:cNvSpPr txBox="1"/>
          <p:nvPr/>
        </p:nvSpPr>
        <p:spPr>
          <a:xfrm>
            <a:off x="768096" y="2121408"/>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Settlements</a:t>
            </a:r>
            <a:endParaRPr lang="en-US" sz="1020" dirty="0"/>
          </a:p>
        </p:txBody>
      </p:sp>
      <p:sp>
        <p:nvSpPr>
          <p:cNvPr id="10" name="Text 7"/>
          <p:cNvSpPr txBox="1"/>
          <p:nvPr/>
        </p:nvSpPr>
        <p:spPr>
          <a:xfrm>
            <a:off x="2304288" y="2121408"/>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59 places - coordinates, elevation, state, terminal facilities</a:t>
            </a:r>
            <a:endParaRPr lang="en-US" sz="1000" dirty="0"/>
          </a:p>
        </p:txBody>
      </p:sp>
      <p:sp>
        <p:nvSpPr>
          <p:cNvPr id="11" name="Text 8"/>
          <p:cNvSpPr txBox="1"/>
          <p:nvPr/>
        </p:nvSpPr>
        <p:spPr>
          <a:xfrm>
            <a:off x="768096" y="2468880"/>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Road corridors</a:t>
            </a:r>
            <a:endParaRPr lang="en-US" sz="1020" dirty="0"/>
          </a:p>
        </p:txBody>
      </p:sp>
      <p:sp>
        <p:nvSpPr>
          <p:cNvPr id="12" name="Text 9"/>
          <p:cNvSpPr txBox="1"/>
          <p:nvPr/>
        </p:nvSpPr>
        <p:spPr>
          <a:xfrm>
            <a:off x="2304288" y="2468880"/>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NH-27, NH-2, NH-6, NH-10, NH-13, NH-306, NH-54 and others, by number and routing</a:t>
            </a:r>
            <a:endParaRPr lang="en-US" sz="1000" dirty="0"/>
          </a:p>
        </p:txBody>
      </p:sp>
      <p:sp>
        <p:nvSpPr>
          <p:cNvPr id="13" name="Text 10"/>
          <p:cNvSpPr txBox="1"/>
          <p:nvPr/>
        </p:nvSpPr>
        <p:spPr>
          <a:xfrm>
            <a:off x="768096" y="2816352"/>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Rail</a:t>
            </a:r>
            <a:endParaRPr lang="en-US" sz="1020" dirty="0"/>
          </a:p>
        </p:txBody>
      </p:sp>
      <p:sp>
        <p:nvSpPr>
          <p:cNvPr id="14" name="Text 11"/>
          <p:cNvSpPr txBox="1"/>
          <p:nvPr/>
        </p:nvSpPr>
        <p:spPr>
          <a:xfrm>
            <a:off x="2304288" y="2816352"/>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NF Railway network, including the Lumding-Badarpur hill section</a:t>
            </a:r>
            <a:endParaRPr lang="en-US" sz="1000" dirty="0"/>
          </a:p>
        </p:txBody>
      </p:sp>
      <p:sp>
        <p:nvSpPr>
          <p:cNvPr id="15" name="Text 12"/>
          <p:cNvSpPr txBox="1"/>
          <p:nvPr/>
        </p:nvSpPr>
        <p:spPr>
          <a:xfrm>
            <a:off x="768096" y="3163824"/>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Waterways</a:t>
            </a:r>
            <a:endParaRPr lang="en-US" sz="1020" dirty="0"/>
          </a:p>
        </p:txBody>
      </p:sp>
      <p:sp>
        <p:nvSpPr>
          <p:cNvPr id="16" name="Text 13"/>
          <p:cNvSpPr txBox="1"/>
          <p:nvPr/>
        </p:nvSpPr>
        <p:spPr>
          <a:xfrm>
            <a:off x="2304288" y="3163824"/>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NW-2 Brahmaputra and NW-16 Barak</a:t>
            </a:r>
            <a:endParaRPr lang="en-US" sz="1000" dirty="0"/>
          </a:p>
        </p:txBody>
      </p:sp>
      <p:sp>
        <p:nvSpPr>
          <p:cNvPr id="17" name="Text 14"/>
          <p:cNvSpPr txBox="1"/>
          <p:nvPr/>
        </p:nvSpPr>
        <p:spPr>
          <a:xfrm>
            <a:off x="768096" y="3511296"/>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Air</a:t>
            </a:r>
            <a:endParaRPr lang="en-US" sz="1020" dirty="0"/>
          </a:p>
        </p:txBody>
      </p:sp>
      <p:sp>
        <p:nvSpPr>
          <p:cNvPr id="18" name="Text 15"/>
          <p:cNvSpPr txBox="1"/>
          <p:nvPr/>
        </p:nvSpPr>
        <p:spPr>
          <a:xfrm>
            <a:off x="2304288" y="3511296"/>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Scheduled sectors plus UDAN-RCS routes</a:t>
            </a:r>
            <a:endParaRPr lang="en-US" sz="1000" dirty="0"/>
          </a:p>
        </p:txBody>
      </p:sp>
      <p:sp>
        <p:nvSpPr>
          <p:cNvPr id="19" name="Text 16"/>
          <p:cNvSpPr txBox="1"/>
          <p:nvPr/>
        </p:nvSpPr>
        <p:spPr>
          <a:xfrm>
            <a:off x="768096" y="3858768"/>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Weather</a:t>
            </a:r>
            <a:endParaRPr lang="en-US" sz="1020" dirty="0"/>
          </a:p>
        </p:txBody>
      </p:sp>
      <p:sp>
        <p:nvSpPr>
          <p:cNvPr id="20" name="Text 17"/>
          <p:cNvSpPr txBox="1"/>
          <p:nvPr/>
        </p:nvSpPr>
        <p:spPr>
          <a:xfrm>
            <a:off x="2304288" y="3858768"/>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Open-Meteo current + forecast precipitation, 15-minute refresh</a:t>
            </a:r>
            <a:endParaRPr lang="en-US" sz="1000" dirty="0"/>
          </a:p>
        </p:txBody>
      </p:sp>
      <p:sp>
        <p:nvSpPr>
          <p:cNvPr id="21" name="Text 18"/>
          <p:cNvSpPr txBox="1"/>
          <p:nvPr/>
        </p:nvSpPr>
        <p:spPr>
          <a:xfrm>
            <a:off x="768096" y="4206240"/>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Mode economics</a:t>
            </a:r>
            <a:endParaRPr lang="en-US" sz="1020" dirty="0"/>
          </a:p>
        </p:txBody>
      </p:sp>
      <p:sp>
        <p:nvSpPr>
          <p:cNvPr id="22" name="Text 19"/>
          <p:cNvSpPr txBox="1"/>
          <p:nvPr/>
        </p:nvSpPr>
        <p:spPr>
          <a:xfrm>
            <a:off x="2304288" y="4206240"/>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Indicative freight rates, speeds, CO₂ per tonne-km</a:t>
            </a:r>
            <a:endParaRPr lang="en-US" sz="1000" dirty="0"/>
          </a:p>
        </p:txBody>
      </p:sp>
      <p:sp>
        <p:nvSpPr>
          <p:cNvPr id="23" name="Shape 20"/>
          <p:cNvSpPr/>
          <p:nvPr/>
        </p:nvSpPr>
        <p:spPr>
          <a:xfrm>
            <a:off x="6205576" y="1316736"/>
            <a:ext cx="5437480" cy="3310128"/>
          </a:xfrm>
          <a:prstGeom prst="roundRect">
            <a:avLst>
              <a:gd name="adj" fmla="val 2486"/>
            </a:avLst>
          </a:prstGeom>
          <a:solidFill>
            <a:srgbClr val="1A1F28"/>
          </a:solidFill>
          <a:ln w="12700">
            <a:solidFill>
              <a:srgbClr val="2B323F"/>
            </a:solidFill>
            <a:prstDash val="solid"/>
          </a:ln>
        </p:spPr>
      </p:sp>
      <p:sp>
        <p:nvSpPr>
          <p:cNvPr id="24" name="Shape 21"/>
          <p:cNvSpPr/>
          <p:nvPr/>
        </p:nvSpPr>
        <p:spPr>
          <a:xfrm>
            <a:off x="6406744" y="1499616"/>
            <a:ext cx="384048" cy="384048"/>
          </a:xfrm>
          <a:prstGeom prst="ellipse">
            <a:avLst/>
          </a:prstGeom>
          <a:solidFill>
            <a:srgbClr val="1E2937"/>
          </a:solidFill>
          <a:ln w="12700">
            <a:solidFill>
              <a:srgbClr val="FAB219"/>
            </a:solidFill>
            <a:prstDash val="solid"/>
          </a:ln>
        </p:spPr>
      </p:sp>
      <p:pic>
        <p:nvPicPr>
          <p:cNvPr id="25" name="Image 1" descr="preencoded.png">    </p:cNvPr>
          <p:cNvPicPr>
            <a:picLocks noChangeAspect="1"/>
          </p:cNvPicPr>
          <p:nvPr/>
        </p:nvPicPr>
        <p:blipFill>
          <a:blip r:embed="rId2"/>
          <a:stretch>
            <a:fillRect/>
          </a:stretch>
        </p:blipFill>
        <p:spPr>
          <a:xfrm>
            <a:off x="6514277" y="1607149"/>
            <a:ext cx="168981" cy="168981"/>
          </a:xfrm>
          <a:prstGeom prst="rect">
            <a:avLst/>
          </a:prstGeom>
        </p:spPr>
      </p:pic>
      <p:sp>
        <p:nvSpPr>
          <p:cNvPr id="26" name="Text 22"/>
          <p:cNvSpPr txBox="1"/>
          <p:nvPr/>
        </p:nvSpPr>
        <p:spPr>
          <a:xfrm>
            <a:off x="6900520" y="1517904"/>
            <a:ext cx="4523080" cy="237744"/>
          </a:xfrm>
          <a:prstGeom prst="rect">
            <a:avLst/>
          </a:prstGeom>
          <a:noFill/>
          <a:ln/>
        </p:spPr>
        <p:txBody>
          <a:bodyPr wrap="square" lIns="0" tIns="0" rIns="0" bIns="0" rtlCol="0" anchor="ctr"/>
          <a:lstStyle/>
          <a:p>
            <a:pPr indent="0" marL="0">
              <a:buNone/>
            </a:pPr>
            <a:r>
              <a:rPr lang="en-US" sz="1350" b="1" dirty="0">
                <a:solidFill>
                  <a:srgbClr val="FAB219"/>
                </a:solidFill>
                <a:latin typeface="Arial" pitchFamily="34" charset="0"/>
                <a:ea typeface="Arial" pitchFamily="34" charset="-122"/>
                <a:cs typeface="Arial" pitchFamily="34" charset="-120"/>
              </a:rPr>
              <a:t>Demo layer</a:t>
            </a:r>
            <a:endParaRPr lang="en-US" sz="1350" dirty="0"/>
          </a:p>
        </p:txBody>
      </p:sp>
      <p:sp>
        <p:nvSpPr>
          <p:cNvPr id="27" name="Text 23"/>
          <p:cNvSpPr txBox="1"/>
          <p:nvPr/>
        </p:nvSpPr>
        <p:spPr>
          <a:xfrm>
            <a:off x="6900520" y="1755648"/>
            <a:ext cx="4523080" cy="201168"/>
          </a:xfrm>
          <a:prstGeom prst="rect">
            <a:avLst/>
          </a:prstGeom>
          <a:noFill/>
          <a:ln/>
        </p:spPr>
        <p:txBody>
          <a:bodyPr wrap="square" lIns="0" tIns="0" rIns="0" bIns="0" rtlCol="0" anchor="ctr"/>
          <a:lstStyle/>
          <a:p>
            <a:pPr indent="0" marL="0">
              <a:buNone/>
            </a:pPr>
            <a:r>
              <a:rPr lang="en-US" sz="960" dirty="0">
                <a:solidFill>
                  <a:srgbClr val="8A93A3"/>
                </a:solidFill>
                <a:latin typeface="Calibri" pitchFamily="34" charset="0"/>
                <a:ea typeface="Calibri" pitchFamily="34" charset="-122"/>
                <a:cs typeface="Calibri" pitchFamily="34" charset="-120"/>
              </a:rPr>
              <a:t>Plausible and internally consistent, not surveyed</a:t>
            </a:r>
            <a:endParaRPr lang="en-US" sz="960" dirty="0"/>
          </a:p>
        </p:txBody>
      </p:sp>
      <p:sp>
        <p:nvSpPr>
          <p:cNvPr id="28" name="Text 24"/>
          <p:cNvSpPr txBox="1"/>
          <p:nvPr/>
        </p:nvSpPr>
        <p:spPr>
          <a:xfrm>
            <a:off x="6425032" y="2121408"/>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Corridor priors</a:t>
            </a:r>
            <a:endParaRPr lang="en-US" sz="1020" dirty="0"/>
          </a:p>
        </p:txBody>
      </p:sp>
      <p:sp>
        <p:nvSpPr>
          <p:cNvPr id="29" name="Text 25"/>
          <p:cNvSpPr txBox="1"/>
          <p:nvPr/>
        </p:nvSpPr>
        <p:spPr>
          <a:xfrm>
            <a:off x="7961224" y="2121408"/>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Landslide and flood susceptibility per corridor</a:t>
            </a:r>
            <a:endParaRPr lang="en-US" sz="1000" dirty="0"/>
          </a:p>
        </p:txBody>
      </p:sp>
      <p:sp>
        <p:nvSpPr>
          <p:cNvPr id="30" name="Text 26"/>
          <p:cNvSpPr txBox="1"/>
          <p:nvPr/>
        </p:nvSpPr>
        <p:spPr>
          <a:xfrm>
            <a:off x="6425032" y="2468880"/>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Road condition</a:t>
            </a:r>
            <a:endParaRPr lang="en-US" sz="1020" dirty="0"/>
          </a:p>
        </p:txBody>
      </p:sp>
      <p:sp>
        <p:nvSpPr>
          <p:cNvPr id="31" name="Text 27"/>
          <p:cNvSpPr txBox="1"/>
          <p:nvPr/>
        </p:nvSpPr>
        <p:spPr>
          <a:xfrm>
            <a:off x="7961224" y="2468880"/>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Pavement index, bridge load class, gradient, lane class</a:t>
            </a:r>
            <a:endParaRPr lang="en-US" sz="1000" dirty="0"/>
          </a:p>
        </p:txBody>
      </p:sp>
      <p:sp>
        <p:nvSpPr>
          <p:cNvPr id="32" name="Text 28"/>
          <p:cNvSpPr txBox="1"/>
          <p:nvPr/>
        </p:nvSpPr>
        <p:spPr>
          <a:xfrm>
            <a:off x="6425032" y="2816352"/>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Night safety</a:t>
            </a:r>
            <a:endParaRPr lang="en-US" sz="1020" dirty="0"/>
          </a:p>
        </p:txBody>
      </p:sp>
      <p:sp>
        <p:nvSpPr>
          <p:cNvPr id="33" name="Text 29"/>
          <p:cNvSpPr txBox="1"/>
          <p:nvPr/>
        </p:nvSpPr>
        <p:spPr>
          <a:xfrm>
            <a:off x="7961224" y="2816352"/>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Whether night travel is advised on a corridor</a:t>
            </a:r>
            <a:endParaRPr lang="en-US" sz="1000" dirty="0"/>
          </a:p>
        </p:txBody>
      </p:sp>
      <p:sp>
        <p:nvSpPr>
          <p:cNvPr id="34" name="Text 30"/>
          <p:cNvSpPr txBox="1"/>
          <p:nvPr/>
        </p:nvSpPr>
        <p:spPr>
          <a:xfrm>
            <a:off x="6425032" y="3163824"/>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Settlement access</a:t>
            </a:r>
            <a:endParaRPr lang="en-US" sz="1020" dirty="0"/>
          </a:p>
        </p:txBody>
      </p:sp>
      <p:sp>
        <p:nvSpPr>
          <p:cNvPr id="35" name="Text 31"/>
          <p:cNvSpPr txBox="1"/>
          <p:nvPr/>
        </p:nvSpPr>
        <p:spPr>
          <a:xfrm>
            <a:off x="7961224" y="3163824"/>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Ramp, step-free, assisted boarding</a:t>
            </a:r>
            <a:endParaRPr lang="en-US" sz="1000" dirty="0"/>
          </a:p>
        </p:txBody>
      </p:sp>
      <p:sp>
        <p:nvSpPr>
          <p:cNvPr id="36" name="Text 32"/>
          <p:cNvSpPr txBox="1"/>
          <p:nvPr/>
        </p:nvSpPr>
        <p:spPr>
          <a:xfrm>
            <a:off x="6425032" y="3511296"/>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Service distance</a:t>
            </a:r>
            <a:endParaRPr lang="en-US" sz="1020" dirty="0"/>
          </a:p>
        </p:txBody>
      </p:sp>
      <p:sp>
        <p:nvSpPr>
          <p:cNvPr id="37" name="Text 33"/>
          <p:cNvSpPr txBox="1"/>
          <p:nvPr/>
        </p:nvSpPr>
        <p:spPr>
          <a:xfrm>
            <a:off x="7961224" y="3511296"/>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Last-mile gap and nearest health facility</a:t>
            </a:r>
            <a:endParaRPr lang="en-US" sz="1000" dirty="0"/>
          </a:p>
        </p:txBody>
      </p:sp>
      <p:sp>
        <p:nvSpPr>
          <p:cNvPr id="38" name="Text 34"/>
          <p:cNvSpPr txBox="1"/>
          <p:nvPr/>
        </p:nvSpPr>
        <p:spPr>
          <a:xfrm>
            <a:off x="6425032" y="3858768"/>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Coverage</a:t>
            </a:r>
            <a:endParaRPr lang="en-US" sz="1020" dirty="0"/>
          </a:p>
        </p:txBody>
      </p:sp>
      <p:sp>
        <p:nvSpPr>
          <p:cNvPr id="39" name="Text 35"/>
          <p:cNvSpPr txBox="1"/>
          <p:nvPr/>
        </p:nvSpPr>
        <p:spPr>
          <a:xfrm>
            <a:off x="7961224" y="3858768"/>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Mobile data availability per settlement</a:t>
            </a:r>
            <a:endParaRPr lang="en-US" sz="1000" dirty="0"/>
          </a:p>
        </p:txBody>
      </p:sp>
      <p:sp>
        <p:nvSpPr>
          <p:cNvPr id="40" name="Text 36"/>
          <p:cNvSpPr txBox="1"/>
          <p:nvPr/>
        </p:nvSpPr>
        <p:spPr>
          <a:xfrm>
            <a:off x="6425032" y="4206240"/>
            <a:ext cx="1481328" cy="274320"/>
          </a:xfrm>
          <a:prstGeom prst="rect">
            <a:avLst/>
          </a:prstGeom>
          <a:noFill/>
          <a:ln/>
        </p:spPr>
        <p:txBody>
          <a:bodyPr wrap="square" lIns="0" tIns="0" rIns="0" bIns="0" rtlCol="0" anchor="t"/>
          <a:lstStyle/>
          <a:p>
            <a:pPr indent="0" marL="0">
              <a:buNone/>
            </a:pPr>
            <a:r>
              <a:rPr lang="en-US" sz="1020" b="1" dirty="0">
                <a:solidFill>
                  <a:srgbClr val="FFFFFF"/>
                </a:solidFill>
                <a:latin typeface="Calibri" pitchFamily="34" charset="0"/>
                <a:ea typeface="Calibri" pitchFamily="34" charset="-122"/>
                <a:cs typeface="Calibri" pitchFamily="34" charset="-120"/>
              </a:rPr>
              <a:t>Training history</a:t>
            </a:r>
            <a:endParaRPr lang="en-US" sz="1020" dirty="0"/>
          </a:p>
        </p:txBody>
      </p:sp>
      <p:sp>
        <p:nvSpPr>
          <p:cNvPr id="41" name="Text 37"/>
          <p:cNvSpPr txBox="1"/>
          <p:nvPr/>
        </p:nvSpPr>
        <p:spPr>
          <a:xfrm>
            <a:off x="7961224" y="4206240"/>
            <a:ext cx="3462376" cy="310896"/>
          </a:xfrm>
          <a:prstGeom prst="rect">
            <a:avLst/>
          </a:prstGeom>
          <a:noFill/>
          <a:ln/>
        </p:spPr>
        <p:txBody>
          <a:bodyPr wrap="square" lIns="0" tIns="0" rIns="0" bIns="0" rtlCol="0" anchor="t"/>
          <a:lstStyle/>
          <a:p>
            <a:pPr indent="0" marL="0">
              <a:lnSpc>
                <a:spcPct val="108000"/>
              </a:lnSpc>
              <a:buNone/>
            </a:pPr>
            <a:r>
              <a:rPr lang="en-US" sz="1000" dirty="0">
                <a:solidFill>
                  <a:srgbClr val="C3C2B7"/>
                </a:solidFill>
                <a:latin typeface="Calibri" pitchFamily="34" charset="0"/>
                <a:ea typeface="Calibri" pitchFamily="34" charset="-122"/>
                <a:cs typeface="Calibri" pitchFamily="34" charset="-120"/>
              </a:rPr>
              <a:t>Synthesised disruption records - see the note below</a:t>
            </a:r>
            <a:endParaRPr lang="en-US" sz="1000" dirty="0"/>
          </a:p>
        </p:txBody>
      </p:sp>
      <p:sp>
        <p:nvSpPr>
          <p:cNvPr id="42" name="Shape 38"/>
          <p:cNvSpPr/>
          <p:nvPr/>
        </p:nvSpPr>
        <p:spPr>
          <a:xfrm>
            <a:off x="548640" y="4773168"/>
            <a:ext cx="11094415" cy="950976"/>
          </a:xfrm>
          <a:prstGeom prst="roundRect">
            <a:avLst>
              <a:gd name="adj" fmla="val 8654"/>
            </a:avLst>
          </a:prstGeom>
          <a:solidFill>
            <a:srgbClr val="181D26"/>
          </a:solidFill>
          <a:ln w="12700">
            <a:solidFill>
              <a:srgbClr val="2B323F"/>
            </a:solidFill>
            <a:prstDash val="solid"/>
          </a:ln>
        </p:spPr>
      </p:sp>
      <p:sp>
        <p:nvSpPr>
          <p:cNvPr id="43" name="Shape 39"/>
          <p:cNvSpPr/>
          <p:nvPr/>
        </p:nvSpPr>
        <p:spPr>
          <a:xfrm>
            <a:off x="786384" y="4974336"/>
            <a:ext cx="384048" cy="384048"/>
          </a:xfrm>
          <a:prstGeom prst="ellipse">
            <a:avLst/>
          </a:prstGeom>
          <a:solidFill>
            <a:srgbClr val="1E2937"/>
          </a:solidFill>
          <a:ln w="12700">
            <a:solidFill>
              <a:srgbClr val="3987E5"/>
            </a:solidFill>
            <a:prstDash val="solid"/>
          </a:ln>
        </p:spPr>
      </p:sp>
      <p:pic>
        <p:nvPicPr>
          <p:cNvPr id="44" name="Image 2" descr="preencoded.png">    </p:cNvPr>
          <p:cNvPicPr>
            <a:picLocks noChangeAspect="1"/>
          </p:cNvPicPr>
          <p:nvPr/>
        </p:nvPicPr>
        <p:blipFill>
          <a:blip r:embed="rId3"/>
          <a:stretch>
            <a:fillRect/>
          </a:stretch>
        </p:blipFill>
        <p:spPr>
          <a:xfrm>
            <a:off x="893917" y="5081869"/>
            <a:ext cx="168981" cy="168981"/>
          </a:xfrm>
          <a:prstGeom prst="rect">
            <a:avLst/>
          </a:prstGeom>
        </p:spPr>
      </p:pic>
      <p:sp>
        <p:nvSpPr>
          <p:cNvPr id="45" name="Text 40"/>
          <p:cNvSpPr txBox="1"/>
          <p:nvPr/>
        </p:nvSpPr>
        <p:spPr>
          <a:xfrm>
            <a:off x="1316736" y="4937760"/>
            <a:ext cx="5120640" cy="23774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One file stands between the demo and real data</a:t>
            </a:r>
            <a:endParaRPr lang="en-US" sz="1250" dirty="0"/>
          </a:p>
        </p:txBody>
      </p:sp>
      <p:sp>
        <p:nvSpPr>
          <p:cNvPr id="46" name="Text 41"/>
          <p:cNvSpPr txBox="1"/>
          <p:nvPr/>
        </p:nvSpPr>
        <p:spPr>
          <a:xfrm>
            <a:off x="1316736" y="5212080"/>
            <a:ext cx="10106863" cy="457200"/>
          </a:xfrm>
          <a:prstGeom prst="rect">
            <a:avLst/>
          </a:prstGeom>
          <a:noFill/>
          <a:ln/>
        </p:spPr>
        <p:txBody>
          <a:bodyPr wrap="square" lIns="0" tIns="0" rIns="0" bIns="0" rtlCol="0" anchor="t"/>
          <a:lstStyle/>
          <a:p>
            <a:pPr indent="0" marL="0">
              <a:lnSpc>
                <a:spcPct val="114000"/>
              </a:lnSpc>
              <a:buNone/>
            </a:pPr>
            <a:r>
              <a:rPr lang="en-US" sz="1040" dirty="0">
                <a:solidFill>
                  <a:srgbClr val="C3C2B7"/>
                </a:solidFill>
                <a:latin typeface="Calibri" pitchFamily="34" charset="0"/>
                <a:ea typeface="Calibri" pitchFamily="34" charset="-122"/>
                <a:cs typeface="Calibri" pitchFamily="34" charset="-120"/>
              </a:rPr>
              <a:t>Open per-corridor incident records for the NER are not publicly downloadable, so the classifier is fitted on a synthesised history generated from NE-India monsoon climatology and the corridor priors. Swapping in real NHAI / NDMA / state-PWD incident data means replacing server/src/data/history.js - nothing else changes.</a:t>
            </a:r>
            <a:endParaRPr lang="en-US" sz="1040" dirty="0"/>
          </a:p>
        </p:txBody>
      </p:sp>
      <p:sp>
        <p:nvSpPr>
          <p:cNvPr id="47" name="Text 42"/>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48" name="Text 43"/>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ENGINEERING</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Built to be checked, not just demonstrated</a:t>
            </a:r>
            <a:endParaRPr lang="en-US" sz="3000" dirty="0"/>
          </a:p>
        </p:txBody>
      </p:sp>
      <p:sp>
        <p:nvSpPr>
          <p:cNvPr id="4" name="Shape 2"/>
          <p:cNvSpPr/>
          <p:nvPr/>
        </p:nvSpPr>
        <p:spPr>
          <a:xfrm>
            <a:off x="548640" y="1316736"/>
            <a:ext cx="2663876" cy="1097280"/>
          </a:xfrm>
          <a:prstGeom prst="roundRect">
            <a:avLst>
              <a:gd name="adj" fmla="val 7500"/>
            </a:avLst>
          </a:prstGeom>
          <a:solidFill>
            <a:srgbClr val="1A1F28"/>
          </a:solidFill>
          <a:ln w="12700">
            <a:solidFill>
              <a:srgbClr val="2B323F"/>
            </a:solidFill>
            <a:prstDash val="solid"/>
          </a:ln>
        </p:spPr>
      </p:sp>
      <p:sp>
        <p:nvSpPr>
          <p:cNvPr id="5" name="Text 3"/>
          <p:cNvSpPr txBox="1"/>
          <p:nvPr/>
        </p:nvSpPr>
        <p:spPr>
          <a:xfrm>
            <a:off x="694944" y="1435608"/>
            <a:ext cx="2371268"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END-TO-END CHECKS</a:t>
            </a:r>
            <a:endParaRPr lang="en-US" sz="850" dirty="0"/>
          </a:p>
        </p:txBody>
      </p:sp>
      <p:sp>
        <p:nvSpPr>
          <p:cNvPr id="6" name="Text 4"/>
          <p:cNvSpPr txBox="1"/>
          <p:nvPr/>
        </p:nvSpPr>
        <p:spPr>
          <a:xfrm>
            <a:off x="694944" y="1627632"/>
            <a:ext cx="2371268" cy="384048"/>
          </a:xfrm>
          <a:prstGeom prst="rect">
            <a:avLst/>
          </a:prstGeom>
          <a:noFill/>
          <a:ln/>
        </p:spPr>
        <p:txBody>
          <a:bodyPr wrap="square" lIns="0" tIns="0" rIns="0" bIns="0" rtlCol="0" anchor="t"/>
          <a:lstStyle/>
          <a:p>
            <a:pPr indent="0" marL="0">
              <a:buNone/>
            </a:pPr>
            <a:r>
              <a:rPr lang="en-US" sz="2500" b="1" dirty="0">
                <a:solidFill>
                  <a:srgbClr val="0CA30C"/>
                </a:solidFill>
                <a:latin typeface="Arial" pitchFamily="34" charset="0"/>
                <a:ea typeface="Arial" pitchFamily="34" charset="-122"/>
                <a:cs typeface="Arial" pitchFamily="34" charset="-120"/>
              </a:rPr>
              <a:t>25</a:t>
            </a:r>
            <a:endParaRPr lang="en-US" sz="2500" dirty="0"/>
          </a:p>
        </p:txBody>
      </p:sp>
      <p:sp>
        <p:nvSpPr>
          <p:cNvPr id="7" name="Text 5"/>
          <p:cNvSpPr txBox="1"/>
          <p:nvPr/>
        </p:nvSpPr>
        <p:spPr>
          <a:xfrm>
            <a:off x="694944" y="1993392"/>
            <a:ext cx="2371268"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Run with npm run smoke - no mocks, real engines</a:t>
            </a:r>
            <a:endParaRPr lang="en-US" sz="900" dirty="0"/>
          </a:p>
        </p:txBody>
      </p:sp>
      <p:sp>
        <p:nvSpPr>
          <p:cNvPr id="8" name="Shape 6"/>
          <p:cNvSpPr/>
          <p:nvPr/>
        </p:nvSpPr>
        <p:spPr>
          <a:xfrm>
            <a:off x="3358820" y="1316736"/>
            <a:ext cx="2663876" cy="1097280"/>
          </a:xfrm>
          <a:prstGeom prst="roundRect">
            <a:avLst>
              <a:gd name="adj" fmla="val 7500"/>
            </a:avLst>
          </a:prstGeom>
          <a:solidFill>
            <a:srgbClr val="1A1F28"/>
          </a:solidFill>
          <a:ln w="12700">
            <a:solidFill>
              <a:srgbClr val="2B323F"/>
            </a:solidFill>
            <a:prstDash val="solid"/>
          </a:ln>
        </p:spPr>
      </p:sp>
      <p:sp>
        <p:nvSpPr>
          <p:cNvPr id="9" name="Text 7"/>
          <p:cNvSpPr txBox="1"/>
          <p:nvPr/>
        </p:nvSpPr>
        <p:spPr>
          <a:xfrm>
            <a:off x="3505124" y="1435608"/>
            <a:ext cx="2371268"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ENGINE DEPENDENCIES</a:t>
            </a:r>
            <a:endParaRPr lang="en-US" sz="850" dirty="0"/>
          </a:p>
        </p:txBody>
      </p:sp>
      <p:sp>
        <p:nvSpPr>
          <p:cNvPr id="10" name="Text 8"/>
          <p:cNvSpPr txBox="1"/>
          <p:nvPr/>
        </p:nvSpPr>
        <p:spPr>
          <a:xfrm>
            <a:off x="3505124" y="1627632"/>
            <a:ext cx="2371268"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0</a:t>
            </a:r>
            <a:endParaRPr lang="en-US" sz="2500" dirty="0"/>
          </a:p>
        </p:txBody>
      </p:sp>
      <p:sp>
        <p:nvSpPr>
          <p:cNvPr id="11" name="Text 9"/>
          <p:cNvSpPr txBox="1"/>
          <p:nvPr/>
        </p:nvSpPr>
        <p:spPr>
          <a:xfrm>
            <a:off x="3505124" y="1993392"/>
            <a:ext cx="2371268"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Graph, routing, risk and accessibility are plain code</a:t>
            </a:r>
            <a:endParaRPr lang="en-US" sz="900" dirty="0"/>
          </a:p>
        </p:txBody>
      </p:sp>
      <p:sp>
        <p:nvSpPr>
          <p:cNvPr id="12" name="Shape 10"/>
          <p:cNvSpPr/>
          <p:nvPr/>
        </p:nvSpPr>
        <p:spPr>
          <a:xfrm>
            <a:off x="6169000" y="1316736"/>
            <a:ext cx="2663876" cy="1097280"/>
          </a:xfrm>
          <a:prstGeom prst="roundRect">
            <a:avLst>
              <a:gd name="adj" fmla="val 7500"/>
            </a:avLst>
          </a:prstGeom>
          <a:solidFill>
            <a:srgbClr val="1A1F28"/>
          </a:solidFill>
          <a:ln w="12700">
            <a:solidFill>
              <a:srgbClr val="2B323F"/>
            </a:solidFill>
            <a:prstDash val="solid"/>
          </a:ln>
        </p:spPr>
      </p:sp>
      <p:sp>
        <p:nvSpPr>
          <p:cNvPr id="13" name="Text 11"/>
          <p:cNvSpPr txBox="1"/>
          <p:nvPr/>
        </p:nvSpPr>
        <p:spPr>
          <a:xfrm>
            <a:off x="6315304" y="1435608"/>
            <a:ext cx="2371268"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NETWORK VALIDATION</a:t>
            </a:r>
            <a:endParaRPr lang="en-US" sz="850" dirty="0"/>
          </a:p>
        </p:txBody>
      </p:sp>
      <p:sp>
        <p:nvSpPr>
          <p:cNvPr id="14" name="Text 12"/>
          <p:cNvSpPr txBox="1"/>
          <p:nvPr/>
        </p:nvSpPr>
        <p:spPr>
          <a:xfrm>
            <a:off x="6315304" y="1627632"/>
            <a:ext cx="2371268"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boot</a:t>
            </a:r>
            <a:endParaRPr lang="en-US" sz="2500" dirty="0"/>
          </a:p>
        </p:txBody>
      </p:sp>
      <p:sp>
        <p:nvSpPr>
          <p:cNvPr id="15" name="Text 13"/>
          <p:cNvSpPr txBox="1"/>
          <p:nvPr/>
        </p:nvSpPr>
        <p:spPr>
          <a:xfrm>
            <a:off x="6315304" y="1993392"/>
            <a:ext cx="2371268"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A malformed corridor fails loudly at start-up</a:t>
            </a:r>
            <a:endParaRPr lang="en-US" sz="900" dirty="0"/>
          </a:p>
        </p:txBody>
      </p:sp>
      <p:sp>
        <p:nvSpPr>
          <p:cNvPr id="16" name="Shape 14"/>
          <p:cNvSpPr/>
          <p:nvPr/>
        </p:nvSpPr>
        <p:spPr>
          <a:xfrm>
            <a:off x="8979179" y="1316736"/>
            <a:ext cx="2663876" cy="1097280"/>
          </a:xfrm>
          <a:prstGeom prst="roundRect">
            <a:avLst>
              <a:gd name="adj" fmla="val 7500"/>
            </a:avLst>
          </a:prstGeom>
          <a:solidFill>
            <a:srgbClr val="1A1F28"/>
          </a:solidFill>
          <a:ln w="12700">
            <a:solidFill>
              <a:srgbClr val="2B323F"/>
            </a:solidFill>
            <a:prstDash val="solid"/>
          </a:ln>
        </p:spPr>
      </p:sp>
      <p:sp>
        <p:nvSpPr>
          <p:cNvPr id="17" name="Text 15"/>
          <p:cNvSpPr txBox="1"/>
          <p:nvPr/>
        </p:nvSpPr>
        <p:spPr>
          <a:xfrm>
            <a:off x="9125483" y="1435608"/>
            <a:ext cx="2371268" cy="182880"/>
          </a:xfrm>
          <a:prstGeom prst="rect">
            <a:avLst/>
          </a:prstGeom>
          <a:noFill/>
          <a:ln/>
        </p:spPr>
        <p:txBody>
          <a:bodyPr wrap="square" lIns="0" tIns="0" rIns="0" bIns="0" rtlCol="0" anchor="ctr"/>
          <a:lstStyle/>
          <a:p>
            <a:pPr indent="0" marL="0">
              <a:buNone/>
            </a:pPr>
            <a:r>
              <a:rPr lang="en-US" sz="850" b="1" spc="110" kern="0" dirty="0">
                <a:solidFill>
                  <a:srgbClr val="8A93A3"/>
                </a:solidFill>
                <a:latin typeface="Calibri" pitchFamily="34" charset="0"/>
                <a:ea typeface="Calibri" pitchFamily="34" charset="-122"/>
                <a:cs typeface="Calibri" pitchFamily="34" charset="-120"/>
              </a:rPr>
              <a:t>MODEL RETRAIN</a:t>
            </a:r>
            <a:endParaRPr lang="en-US" sz="850" dirty="0"/>
          </a:p>
        </p:txBody>
      </p:sp>
      <p:sp>
        <p:nvSpPr>
          <p:cNvPr id="18" name="Text 16"/>
          <p:cNvSpPr txBox="1"/>
          <p:nvPr/>
        </p:nvSpPr>
        <p:spPr>
          <a:xfrm>
            <a:off x="9125483" y="1627632"/>
            <a:ext cx="2371268" cy="384048"/>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boot</a:t>
            </a:r>
            <a:endParaRPr lang="en-US" sz="2500" dirty="0"/>
          </a:p>
        </p:txBody>
      </p:sp>
      <p:sp>
        <p:nvSpPr>
          <p:cNvPr id="19" name="Text 17"/>
          <p:cNvSpPr txBox="1"/>
          <p:nvPr/>
        </p:nvSpPr>
        <p:spPr>
          <a:xfrm>
            <a:off x="9125483" y="1993392"/>
            <a:ext cx="2371268" cy="347472"/>
          </a:xfrm>
          <a:prstGeom prst="rect">
            <a:avLst/>
          </a:prstGeom>
          <a:noFill/>
          <a:ln/>
        </p:spPr>
        <p:txBody>
          <a:bodyPr wrap="square" lIns="0" tIns="0" rIns="0" bIns="0" rtlCol="0" anchor="t"/>
          <a:lstStyle/>
          <a:p>
            <a:pPr indent="0" marL="0">
              <a:lnSpc>
                <a:spcPct val="105000"/>
              </a:lnSpc>
              <a:buNone/>
            </a:pPr>
            <a:r>
              <a:rPr lang="en-US" sz="900" dirty="0">
                <a:solidFill>
                  <a:srgbClr val="8A93A3"/>
                </a:solidFill>
                <a:latin typeface="Calibri" pitchFamily="34" charset="0"/>
                <a:ea typeface="Calibri" pitchFamily="34" charset="-122"/>
                <a:cs typeface="Calibri" pitchFamily="34" charset="-120"/>
              </a:rPr>
              <a:t>Refitted every start; metrics published at /api/model</a:t>
            </a:r>
            <a:endParaRPr lang="en-US" sz="900" dirty="0"/>
          </a:p>
        </p:txBody>
      </p:sp>
      <p:sp>
        <p:nvSpPr>
          <p:cNvPr id="20" name="Text 18"/>
          <p:cNvSpPr txBox="1"/>
          <p:nvPr/>
        </p:nvSpPr>
        <p:spPr>
          <a:xfrm>
            <a:off x="548640" y="2651760"/>
            <a:ext cx="11094415"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Three defects the tests and review caught - and what each one was</a:t>
            </a:r>
            <a:endParaRPr lang="en-US" sz="1500" dirty="0"/>
          </a:p>
        </p:txBody>
      </p:sp>
      <p:sp>
        <p:nvSpPr>
          <p:cNvPr id="21" name="Shape 19"/>
          <p:cNvSpPr/>
          <p:nvPr/>
        </p:nvSpPr>
        <p:spPr>
          <a:xfrm>
            <a:off x="548640" y="3017520"/>
            <a:ext cx="3588410" cy="2706624"/>
          </a:xfrm>
          <a:prstGeom prst="roundRect">
            <a:avLst>
              <a:gd name="adj" fmla="val 3041"/>
            </a:avLst>
          </a:prstGeom>
          <a:solidFill>
            <a:srgbClr val="1A1F28"/>
          </a:solidFill>
          <a:ln w="12700">
            <a:solidFill>
              <a:srgbClr val="2B323F"/>
            </a:solidFill>
            <a:prstDash val="solid"/>
          </a:ln>
        </p:spPr>
      </p:sp>
      <p:sp>
        <p:nvSpPr>
          <p:cNvPr id="22" name="Shape 20"/>
          <p:cNvSpPr/>
          <p:nvPr/>
        </p:nvSpPr>
        <p:spPr>
          <a:xfrm>
            <a:off x="749808" y="3200400"/>
            <a:ext cx="365760" cy="365760"/>
          </a:xfrm>
          <a:prstGeom prst="ellipse">
            <a:avLst/>
          </a:prstGeom>
          <a:solidFill>
            <a:srgbClr val="2A1E1E"/>
          </a:solidFill>
          <a:ln w="12700">
            <a:solidFill>
              <a:srgbClr val="EC835A"/>
            </a:solidFill>
            <a:prstDash val="solid"/>
          </a:ln>
        </p:spPr>
      </p:sp>
      <p:pic>
        <p:nvPicPr>
          <p:cNvPr id="23" name="Image 0" descr="preencoded.png">    </p:cNvPr>
          <p:cNvPicPr>
            <a:picLocks noChangeAspect="1"/>
          </p:cNvPicPr>
          <p:nvPr/>
        </p:nvPicPr>
        <p:blipFill>
          <a:blip r:embed="rId1"/>
          <a:stretch>
            <a:fillRect/>
          </a:stretch>
        </p:blipFill>
        <p:spPr>
          <a:xfrm>
            <a:off x="852221" y="3302813"/>
            <a:ext cx="160934" cy="160934"/>
          </a:xfrm>
          <a:prstGeom prst="rect">
            <a:avLst/>
          </a:prstGeom>
        </p:spPr>
      </p:pic>
      <p:sp>
        <p:nvSpPr>
          <p:cNvPr id="24" name="Text 21"/>
          <p:cNvSpPr txBox="1"/>
          <p:nvPr/>
        </p:nvSpPr>
        <p:spPr>
          <a:xfrm>
            <a:off x="1207008" y="3236976"/>
            <a:ext cx="2728874"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Routes that teleported</a:t>
            </a:r>
            <a:endParaRPr lang="en-US" sz="1200" dirty="0"/>
          </a:p>
        </p:txBody>
      </p:sp>
      <p:sp>
        <p:nvSpPr>
          <p:cNvPr id="25" name="Text 22"/>
          <p:cNvSpPr txBox="1"/>
          <p:nvPr/>
        </p:nvSpPr>
        <p:spPr>
          <a:xfrm>
            <a:off x="749808" y="3675888"/>
            <a:ext cx="3186074" cy="1371600"/>
          </a:xfrm>
          <a:prstGeom prst="rect">
            <a:avLst/>
          </a:prstGeom>
          <a:noFill/>
          <a:ln/>
        </p:spPr>
        <p:txBody>
          <a:bodyPr wrap="square" lIns="0" tIns="0" rIns="0" bIns="0" rtlCol="0" anchor="t"/>
          <a:lstStyle/>
          <a:p>
            <a:pPr indent="0" marL="0">
              <a:lnSpc>
                <a:spcPct val="114000"/>
              </a:lnSpc>
              <a:buNone/>
            </a:pPr>
            <a:r>
              <a:rPr lang="en-US" sz="1000" dirty="0">
                <a:solidFill>
                  <a:srgbClr val="C3C2B7"/>
                </a:solidFill>
                <a:latin typeface="Calibri" pitchFamily="34" charset="0"/>
                <a:ea typeface="Calibri" pitchFamily="34" charset="-122"/>
                <a:cs typeface="Calibri" pitchFamily="34" charset="-120"/>
              </a:rPr>
              <a:t>Yen's algorithm is loopless over the expanded (settlement, mode) graph, where Guwahati-road and Guwahati-air are different vertices. It legally returned "drive Guwahati to Shillong, then fly Shillong-Guwahati-Imphal" - a path that revisits Guwahati and is nonsense on the ground.</a:t>
            </a:r>
            <a:endParaRPr lang="en-US" sz="1000" dirty="0"/>
          </a:p>
        </p:txBody>
      </p:sp>
      <p:sp>
        <p:nvSpPr>
          <p:cNvPr id="26" name="Shape 23"/>
          <p:cNvSpPr/>
          <p:nvPr/>
        </p:nvSpPr>
        <p:spPr>
          <a:xfrm>
            <a:off x="749808" y="5084064"/>
            <a:ext cx="3186074" cy="0"/>
          </a:xfrm>
          <a:prstGeom prst="line">
            <a:avLst/>
          </a:prstGeom>
          <a:noFill/>
          <a:ln w="12700">
            <a:solidFill>
              <a:srgbClr val="20262F"/>
            </a:solidFill>
            <a:prstDash val="solid"/>
          </a:ln>
        </p:spPr>
      </p:sp>
      <p:sp>
        <p:nvSpPr>
          <p:cNvPr id="27" name="Text 24"/>
          <p:cNvSpPr txBox="1"/>
          <p:nvPr/>
        </p:nvSpPr>
        <p:spPr>
          <a:xfrm>
            <a:off x="749808" y="5193792"/>
            <a:ext cx="3186074" cy="457200"/>
          </a:xfrm>
          <a:prstGeom prst="rect">
            <a:avLst/>
          </a:prstGeom>
          <a:noFill/>
          <a:ln/>
        </p:spPr>
        <p:txBody>
          <a:bodyPr wrap="square" lIns="0" tIns="0" rIns="0" bIns="0" rtlCol="0" anchor="t"/>
          <a:lstStyle/>
          <a:p>
            <a:pPr indent="0" marL="0">
              <a:lnSpc>
                <a:spcPct val="112000"/>
              </a:lnSpc>
              <a:buNone/>
            </a:pPr>
            <a:r>
              <a:rPr lang="en-US" sz="850" b="1" spc="100" kern="0" dirty="0">
                <a:solidFill>
                  <a:srgbClr val="0CA30C"/>
                </a:solidFill>
                <a:latin typeface="Calibri" pitchFamily="34" charset="0"/>
                <a:ea typeface="Calibri" pitchFamily="34" charset="-122"/>
                <a:cs typeface="Calibri" pitchFamily="34" charset="-120"/>
              </a:rPr>
              <a:t>FIX   </a:t>
            </a:r>
            <a:pPr indent="0" marL="0">
              <a:lnSpc>
                <a:spcPct val="112000"/>
              </a:lnSpc>
              <a:buNone/>
            </a:pPr>
            <a:r>
              <a:rPr lang="en-US" sz="980" dirty="0">
                <a:solidFill>
                  <a:srgbClr val="C3C2B7"/>
                </a:solidFill>
                <a:latin typeface="Calibri" pitchFamily="34" charset="0"/>
                <a:ea typeface="Calibri" pitchFamily="34" charset="-122"/>
                <a:cs typeface="Calibri" pitchFamily="34" charset="-120"/>
              </a:rPr>
              <a:t>Over-fetch candidates and reject any path that revisits a physical settlement.</a:t>
            </a:r>
            <a:endParaRPr lang="en-US" sz="850" dirty="0"/>
          </a:p>
        </p:txBody>
      </p:sp>
      <p:sp>
        <p:nvSpPr>
          <p:cNvPr id="28" name="Shape 25"/>
          <p:cNvSpPr/>
          <p:nvPr/>
        </p:nvSpPr>
        <p:spPr>
          <a:xfrm>
            <a:off x="4301642" y="3017520"/>
            <a:ext cx="3588410" cy="2706624"/>
          </a:xfrm>
          <a:prstGeom prst="roundRect">
            <a:avLst>
              <a:gd name="adj" fmla="val 3041"/>
            </a:avLst>
          </a:prstGeom>
          <a:solidFill>
            <a:srgbClr val="1A1F28"/>
          </a:solidFill>
          <a:ln w="12700">
            <a:solidFill>
              <a:srgbClr val="2B323F"/>
            </a:solidFill>
            <a:prstDash val="solid"/>
          </a:ln>
        </p:spPr>
      </p:sp>
      <p:sp>
        <p:nvSpPr>
          <p:cNvPr id="29" name="Shape 26"/>
          <p:cNvSpPr/>
          <p:nvPr/>
        </p:nvSpPr>
        <p:spPr>
          <a:xfrm>
            <a:off x="4502810" y="3200400"/>
            <a:ext cx="365760" cy="365760"/>
          </a:xfrm>
          <a:prstGeom prst="ellipse">
            <a:avLst/>
          </a:prstGeom>
          <a:solidFill>
            <a:srgbClr val="2A1E1E"/>
          </a:solidFill>
          <a:ln w="12700">
            <a:solidFill>
              <a:srgbClr val="EC835A"/>
            </a:solidFill>
            <a:prstDash val="solid"/>
          </a:ln>
        </p:spPr>
      </p:sp>
      <p:pic>
        <p:nvPicPr>
          <p:cNvPr id="30" name="Image 1" descr="preencoded.png">    </p:cNvPr>
          <p:cNvPicPr>
            <a:picLocks noChangeAspect="1"/>
          </p:cNvPicPr>
          <p:nvPr/>
        </p:nvPicPr>
        <p:blipFill>
          <a:blip r:embed="rId2"/>
          <a:stretch>
            <a:fillRect/>
          </a:stretch>
        </p:blipFill>
        <p:spPr>
          <a:xfrm>
            <a:off x="4605223" y="3302813"/>
            <a:ext cx="160934" cy="160934"/>
          </a:xfrm>
          <a:prstGeom prst="rect">
            <a:avLst/>
          </a:prstGeom>
        </p:spPr>
      </p:pic>
      <p:sp>
        <p:nvSpPr>
          <p:cNvPr id="31" name="Text 27"/>
          <p:cNvSpPr txBox="1"/>
          <p:nvPr/>
        </p:nvSpPr>
        <p:spPr>
          <a:xfrm>
            <a:off x="4960010" y="3236976"/>
            <a:ext cx="2728874"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 1% route recommended</a:t>
            </a:r>
            <a:endParaRPr lang="en-US" sz="1200" dirty="0"/>
          </a:p>
        </p:txBody>
      </p:sp>
      <p:sp>
        <p:nvSpPr>
          <p:cNvPr id="32" name="Text 28"/>
          <p:cNvSpPr txBox="1"/>
          <p:nvPr/>
        </p:nvSpPr>
        <p:spPr>
          <a:xfrm>
            <a:off x="4502810" y="3675888"/>
            <a:ext cx="3186074" cy="1371600"/>
          </a:xfrm>
          <a:prstGeom prst="rect">
            <a:avLst/>
          </a:prstGeom>
          <a:noFill/>
          <a:ln/>
        </p:spPr>
        <p:txBody>
          <a:bodyPr wrap="square" lIns="0" tIns="0" rIns="0" bIns="0" rtlCol="0" anchor="t"/>
          <a:lstStyle/>
          <a:p>
            <a:pPr indent="0" marL="0">
              <a:lnSpc>
                <a:spcPct val="114000"/>
              </a:lnSpc>
              <a:buNone/>
            </a:pPr>
            <a:r>
              <a:rPr lang="en-US" sz="1000" dirty="0">
                <a:solidFill>
                  <a:srgbClr val="C3C2B7"/>
                </a:solidFill>
                <a:latin typeface="Calibri" pitchFamily="34" charset="0"/>
                <a:ea typeface="Calibri" pitchFamily="34" charset="-122"/>
                <a:cs typeface="Calibri" pitchFamily="34" charset="-120"/>
              </a:rPr>
              <a:t>Under the flood scenario the planner recommended a rail line with a 1% chance of arriving, because the -ln(1-p) risk term saturates at the probability cap and a cheap corridor won on price.</a:t>
            </a:r>
            <a:endParaRPr lang="en-US" sz="1000" dirty="0"/>
          </a:p>
        </p:txBody>
      </p:sp>
      <p:sp>
        <p:nvSpPr>
          <p:cNvPr id="33" name="Shape 29"/>
          <p:cNvSpPr/>
          <p:nvPr/>
        </p:nvSpPr>
        <p:spPr>
          <a:xfrm>
            <a:off x="4502810" y="5084064"/>
            <a:ext cx="3186074" cy="0"/>
          </a:xfrm>
          <a:prstGeom prst="line">
            <a:avLst/>
          </a:prstGeom>
          <a:noFill/>
          <a:ln w="12700">
            <a:solidFill>
              <a:srgbClr val="20262F"/>
            </a:solidFill>
            <a:prstDash val="solid"/>
          </a:ln>
        </p:spPr>
      </p:sp>
      <p:sp>
        <p:nvSpPr>
          <p:cNvPr id="34" name="Text 30"/>
          <p:cNvSpPr txBox="1"/>
          <p:nvPr/>
        </p:nvSpPr>
        <p:spPr>
          <a:xfrm>
            <a:off x="4502810" y="5193792"/>
            <a:ext cx="3186074" cy="457200"/>
          </a:xfrm>
          <a:prstGeom prst="rect">
            <a:avLst/>
          </a:prstGeom>
          <a:noFill/>
          <a:ln/>
        </p:spPr>
        <p:txBody>
          <a:bodyPr wrap="square" lIns="0" tIns="0" rIns="0" bIns="0" rtlCol="0" anchor="t"/>
          <a:lstStyle/>
          <a:p>
            <a:pPr indent="0" marL="0">
              <a:lnSpc>
                <a:spcPct val="112000"/>
              </a:lnSpc>
              <a:buNone/>
            </a:pPr>
            <a:r>
              <a:rPr lang="en-US" sz="850" b="1" spc="100" kern="0" dirty="0">
                <a:solidFill>
                  <a:srgbClr val="0CA30C"/>
                </a:solidFill>
                <a:latin typeface="Calibri" pitchFamily="34" charset="0"/>
                <a:ea typeface="Calibri" pitchFamily="34" charset="-122"/>
                <a:cs typeface="Calibri" pitchFamily="34" charset="-120"/>
              </a:rPr>
              <a:t>FIX   </a:t>
            </a:r>
            <a:pPr indent="0" marL="0">
              <a:lnSpc>
                <a:spcPct val="112000"/>
              </a:lnSpc>
              <a:buNone/>
            </a:pPr>
            <a:r>
              <a:rPr lang="en-US" sz="980" dirty="0">
                <a:solidFill>
                  <a:srgbClr val="C3C2B7"/>
                </a:solidFill>
                <a:latin typeface="Calibri" pitchFamily="34" charset="0"/>
                <a:ea typeface="Calibri" pitchFamily="34" charset="-122"/>
                <a:cs typeface="Calibri" pitchFamily="34" charset="-120"/>
              </a:rPr>
              <a:t>Corridors above 97% disruption are treated as closed. If that leaves no route, the planner re-runs ungated and flags the answer as least-bad.</a:t>
            </a:r>
            <a:endParaRPr lang="en-US" sz="850" dirty="0"/>
          </a:p>
        </p:txBody>
      </p:sp>
      <p:sp>
        <p:nvSpPr>
          <p:cNvPr id="35" name="Shape 31"/>
          <p:cNvSpPr/>
          <p:nvPr/>
        </p:nvSpPr>
        <p:spPr>
          <a:xfrm>
            <a:off x="8054645" y="3017520"/>
            <a:ext cx="3588410" cy="2706624"/>
          </a:xfrm>
          <a:prstGeom prst="roundRect">
            <a:avLst>
              <a:gd name="adj" fmla="val 3041"/>
            </a:avLst>
          </a:prstGeom>
          <a:solidFill>
            <a:srgbClr val="1A1F28"/>
          </a:solidFill>
          <a:ln w="12700">
            <a:solidFill>
              <a:srgbClr val="2B323F"/>
            </a:solidFill>
            <a:prstDash val="solid"/>
          </a:ln>
        </p:spPr>
      </p:sp>
      <p:sp>
        <p:nvSpPr>
          <p:cNvPr id="36" name="Shape 32"/>
          <p:cNvSpPr/>
          <p:nvPr/>
        </p:nvSpPr>
        <p:spPr>
          <a:xfrm>
            <a:off x="8255813" y="3200400"/>
            <a:ext cx="365760" cy="365760"/>
          </a:xfrm>
          <a:prstGeom prst="ellipse">
            <a:avLst/>
          </a:prstGeom>
          <a:solidFill>
            <a:srgbClr val="2A1E1E"/>
          </a:solidFill>
          <a:ln w="12700">
            <a:solidFill>
              <a:srgbClr val="EC835A"/>
            </a:solidFill>
            <a:prstDash val="solid"/>
          </a:ln>
        </p:spPr>
      </p:sp>
      <p:pic>
        <p:nvPicPr>
          <p:cNvPr id="37" name="Image 2" descr="preencoded.png">    </p:cNvPr>
          <p:cNvPicPr>
            <a:picLocks noChangeAspect="1"/>
          </p:cNvPicPr>
          <p:nvPr/>
        </p:nvPicPr>
        <p:blipFill>
          <a:blip r:embed="rId3"/>
          <a:stretch>
            <a:fillRect/>
          </a:stretch>
        </p:blipFill>
        <p:spPr>
          <a:xfrm>
            <a:off x="8358226" y="3302813"/>
            <a:ext cx="160934" cy="160934"/>
          </a:xfrm>
          <a:prstGeom prst="rect">
            <a:avLst/>
          </a:prstGeom>
        </p:spPr>
      </p:pic>
      <p:sp>
        <p:nvSpPr>
          <p:cNvPr id="38" name="Text 33"/>
          <p:cNvSpPr txBox="1"/>
          <p:nvPr/>
        </p:nvSpPr>
        <p:spPr>
          <a:xfrm>
            <a:off x="8713013" y="3236976"/>
            <a:ext cx="2728874"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Totals that did not add up</a:t>
            </a:r>
            <a:endParaRPr lang="en-US" sz="1200" dirty="0"/>
          </a:p>
        </p:txBody>
      </p:sp>
      <p:sp>
        <p:nvSpPr>
          <p:cNvPr id="39" name="Text 34"/>
          <p:cNvSpPr txBox="1"/>
          <p:nvPr/>
        </p:nvSpPr>
        <p:spPr>
          <a:xfrm>
            <a:off x="8255813" y="3675888"/>
            <a:ext cx="3186074" cy="1371600"/>
          </a:xfrm>
          <a:prstGeom prst="rect">
            <a:avLst/>
          </a:prstGeom>
          <a:noFill/>
          <a:ln/>
        </p:spPr>
        <p:txBody>
          <a:bodyPr wrap="square" lIns="0" tIns="0" rIns="0" bIns="0" rtlCol="0" anchor="t"/>
          <a:lstStyle/>
          <a:p>
            <a:pPr indent="0" marL="0">
              <a:lnSpc>
                <a:spcPct val="114000"/>
              </a:lnSpc>
              <a:buNone/>
            </a:pPr>
            <a:r>
              <a:rPr lang="en-US" sz="1000" dirty="0">
                <a:solidFill>
                  <a:srgbClr val="C3C2B7"/>
                </a:solidFill>
                <a:latin typeface="Calibri" pitchFamily="34" charset="0"/>
                <a:ea typeface="Calibri" pitchFamily="34" charset="-122"/>
                <a:cs typeface="Calibri" pitchFamily="34" charset="-120"/>
              </a:rPr>
              <a:t>Origin loading and destination hand-over were counted in the quoted total but never shown as legs, so an operator reading the itinerary could not reconcile the cost.</a:t>
            </a:r>
            <a:endParaRPr lang="en-US" sz="1000" dirty="0"/>
          </a:p>
        </p:txBody>
      </p:sp>
      <p:sp>
        <p:nvSpPr>
          <p:cNvPr id="40" name="Shape 35"/>
          <p:cNvSpPr/>
          <p:nvPr/>
        </p:nvSpPr>
        <p:spPr>
          <a:xfrm>
            <a:off x="8255813" y="5084064"/>
            <a:ext cx="3186074" cy="0"/>
          </a:xfrm>
          <a:prstGeom prst="line">
            <a:avLst/>
          </a:prstGeom>
          <a:noFill/>
          <a:ln w="12700">
            <a:solidFill>
              <a:srgbClr val="20262F"/>
            </a:solidFill>
            <a:prstDash val="solid"/>
          </a:ln>
        </p:spPr>
      </p:sp>
      <p:sp>
        <p:nvSpPr>
          <p:cNvPr id="41" name="Text 36"/>
          <p:cNvSpPr txBox="1"/>
          <p:nvPr/>
        </p:nvSpPr>
        <p:spPr>
          <a:xfrm>
            <a:off x="8255813" y="5193792"/>
            <a:ext cx="3186074" cy="457200"/>
          </a:xfrm>
          <a:prstGeom prst="rect">
            <a:avLst/>
          </a:prstGeom>
          <a:noFill/>
          <a:ln/>
        </p:spPr>
        <p:txBody>
          <a:bodyPr wrap="square" lIns="0" tIns="0" rIns="0" bIns="0" rtlCol="0" anchor="t"/>
          <a:lstStyle/>
          <a:p>
            <a:pPr indent="0" marL="0">
              <a:lnSpc>
                <a:spcPct val="112000"/>
              </a:lnSpc>
              <a:buNone/>
            </a:pPr>
            <a:r>
              <a:rPr lang="en-US" sz="850" b="1" spc="100" kern="0" dirty="0">
                <a:solidFill>
                  <a:srgbClr val="0CA30C"/>
                </a:solidFill>
                <a:latin typeface="Calibri" pitchFamily="34" charset="0"/>
                <a:ea typeface="Calibri" pitchFamily="34" charset="-122"/>
                <a:cs typeface="Calibri" pitchFamily="34" charset="-120"/>
              </a:rPr>
              <a:t>FIX   </a:t>
            </a:r>
            <a:pPr indent="0" marL="0">
              <a:lnSpc>
                <a:spcPct val="112000"/>
              </a:lnSpc>
              <a:buNone/>
            </a:pPr>
            <a:r>
              <a:rPr lang="en-US" sz="980" dirty="0">
                <a:solidFill>
                  <a:srgbClr val="C3C2B7"/>
                </a:solidFill>
                <a:latin typeface="Calibri" pitchFamily="34" charset="0"/>
                <a:ea typeface="Calibri" pitchFamily="34" charset="-122"/>
                <a:cs typeface="Calibri" pitchFamily="34" charset="-120"/>
              </a:rPr>
              <a:t>Handling is emitted as itinerary legs; a test now asserts the legs sum to the total.</a:t>
            </a:r>
            <a:endParaRPr lang="en-US" sz="850" dirty="0"/>
          </a:p>
        </p:txBody>
      </p:sp>
      <p:sp>
        <p:nvSpPr>
          <p:cNvPr id="42" name="Text 37"/>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43" name="Text 38"/>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31A"/>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01168"/>
          </a:xfrm>
          <a:prstGeom prst="rect">
            <a:avLst/>
          </a:prstGeom>
          <a:noFill/>
          <a:ln/>
        </p:spPr>
        <p:txBody>
          <a:bodyPr wrap="square" lIns="0" tIns="0" rIns="0" bIns="0" rtlCol="0" anchor="ctr"/>
          <a:lstStyle/>
          <a:p>
            <a:pPr indent="0" marL="0">
              <a:buNone/>
            </a:pPr>
            <a:r>
              <a:rPr lang="en-US" sz="1050" b="1" spc="160" kern="0" dirty="0">
                <a:solidFill>
                  <a:srgbClr val="3987E5"/>
                </a:solidFill>
                <a:latin typeface="Calibri" pitchFamily="34" charset="0"/>
                <a:ea typeface="Calibri" pitchFamily="34" charset="-122"/>
                <a:cs typeface="Calibri" pitchFamily="34" charset="-120"/>
              </a:rPr>
              <a:t>ROADMAP</a:t>
            </a:r>
            <a:endParaRPr lang="en-US" sz="1050" dirty="0"/>
          </a:p>
        </p:txBody>
      </p:sp>
      <p:sp>
        <p:nvSpPr>
          <p:cNvPr id="3" name="Text 1"/>
          <p:cNvSpPr txBox="1"/>
          <p:nvPr/>
        </p:nvSpPr>
        <p:spPr>
          <a:xfrm>
            <a:off x="548640" y="603504"/>
            <a:ext cx="11094415" cy="47548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production would need</a:t>
            </a:r>
            <a:endParaRPr lang="en-US" sz="3000" dirty="0"/>
          </a:p>
        </p:txBody>
      </p:sp>
      <p:sp>
        <p:nvSpPr>
          <p:cNvPr id="4" name="Shape 2"/>
          <p:cNvSpPr/>
          <p:nvPr/>
        </p:nvSpPr>
        <p:spPr>
          <a:xfrm>
            <a:off x="548640" y="1371600"/>
            <a:ext cx="3576218" cy="3712464"/>
          </a:xfrm>
          <a:prstGeom prst="roundRect">
            <a:avLst>
              <a:gd name="adj" fmla="val 2301"/>
            </a:avLst>
          </a:prstGeom>
          <a:solidFill>
            <a:srgbClr val="1A1F28"/>
          </a:solidFill>
          <a:ln w="12700">
            <a:solidFill>
              <a:srgbClr val="2B323F"/>
            </a:solidFill>
            <a:prstDash val="solid"/>
          </a:ln>
        </p:spPr>
      </p:sp>
      <p:sp>
        <p:nvSpPr>
          <p:cNvPr id="5" name="Shape 3"/>
          <p:cNvSpPr/>
          <p:nvPr/>
        </p:nvSpPr>
        <p:spPr>
          <a:xfrm>
            <a:off x="749808" y="1572768"/>
            <a:ext cx="1051560" cy="274320"/>
          </a:xfrm>
          <a:prstGeom prst="roundRect">
            <a:avLst>
              <a:gd name="adj" fmla="val 50000"/>
            </a:avLst>
          </a:prstGeom>
          <a:solidFill>
            <a:srgbClr val="222834"/>
          </a:solidFill>
          <a:ln w="12700">
            <a:solidFill>
              <a:srgbClr val="2B323F"/>
            </a:solidFill>
            <a:prstDash val="solid"/>
          </a:ln>
        </p:spPr>
      </p:sp>
      <p:sp>
        <p:nvSpPr>
          <p:cNvPr id="6" name="Shape 4"/>
          <p:cNvSpPr/>
          <p:nvPr/>
        </p:nvSpPr>
        <p:spPr>
          <a:xfrm>
            <a:off x="850392" y="1668780"/>
            <a:ext cx="82296" cy="82296"/>
          </a:xfrm>
          <a:prstGeom prst="ellipse">
            <a:avLst/>
          </a:prstGeom>
          <a:solidFill>
            <a:srgbClr val="3987E5"/>
          </a:solidFill>
          <a:ln/>
        </p:spPr>
      </p:sp>
      <p:sp>
        <p:nvSpPr>
          <p:cNvPr id="7" name="Text 5"/>
          <p:cNvSpPr txBox="1"/>
          <p:nvPr/>
        </p:nvSpPr>
        <p:spPr>
          <a:xfrm>
            <a:off x="987552" y="1572768"/>
            <a:ext cx="722376"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Phase 1</a:t>
            </a:r>
            <a:endParaRPr lang="en-US" sz="950" dirty="0"/>
          </a:p>
        </p:txBody>
      </p:sp>
      <p:sp>
        <p:nvSpPr>
          <p:cNvPr id="8" name="Text 6"/>
          <p:cNvSpPr txBox="1"/>
          <p:nvPr/>
        </p:nvSpPr>
        <p:spPr>
          <a:xfrm>
            <a:off x="2753258" y="1572768"/>
            <a:ext cx="1170432" cy="274320"/>
          </a:xfrm>
          <a:prstGeom prst="rect">
            <a:avLst/>
          </a:prstGeom>
          <a:noFill/>
          <a:ln/>
        </p:spPr>
        <p:txBody>
          <a:bodyPr wrap="square" lIns="0" tIns="0" rIns="0" bIns="0" rtlCol="0" anchor="ctr"/>
          <a:lstStyle/>
          <a:p>
            <a:pPr algn="r" indent="0" marL="0">
              <a:buNone/>
            </a:pPr>
            <a:r>
              <a:rPr lang="en-US" sz="950" dirty="0">
                <a:solidFill>
                  <a:srgbClr val="8A93A3"/>
                </a:solidFill>
                <a:latin typeface="Calibri" pitchFamily="34" charset="0"/>
                <a:ea typeface="Calibri" pitchFamily="34" charset="-122"/>
                <a:cs typeface="Calibri" pitchFamily="34" charset="-120"/>
              </a:rPr>
              <a:t>0-3 months</a:t>
            </a:r>
            <a:endParaRPr lang="en-US" sz="950" dirty="0"/>
          </a:p>
        </p:txBody>
      </p:sp>
      <p:sp>
        <p:nvSpPr>
          <p:cNvPr id="9" name="Text 7"/>
          <p:cNvSpPr txBox="1"/>
          <p:nvPr/>
        </p:nvSpPr>
        <p:spPr>
          <a:xfrm>
            <a:off x="749808" y="1975104"/>
            <a:ext cx="3173882"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Real data substitution</a:t>
            </a:r>
            <a:endParaRPr lang="en-US" sz="1400" dirty="0"/>
          </a:p>
        </p:txBody>
      </p:sp>
      <p:sp>
        <p:nvSpPr>
          <p:cNvPr id="10" name="Text 8"/>
          <p:cNvSpPr txBox="1"/>
          <p:nvPr/>
        </p:nvSpPr>
        <p:spPr>
          <a:xfrm>
            <a:off x="804672" y="2377440"/>
            <a:ext cx="3082442" cy="2560320"/>
          </a:xfrm>
          <a:prstGeom prst="rect">
            <a:avLst/>
          </a:prstGeom>
          <a:noFill/>
          <a:ln/>
        </p:spPr>
        <p:txBody>
          <a:bodyPr wrap="square" lIns="0" tIns="0" rIns="0" bIns="0" rtlCol="0" anchor="t"/>
          <a:lstStyle/>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NHAI / NDMA / state-PWD incident records replace the synthesised training history</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PM Gati Shakti and NESIDS layers for corridor and asset attributes</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State transport department feeds for bridge load class and pavement condition</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Retrain and re-validate the classifier on real outcomes</a:t>
            </a:r>
            <a:endParaRPr lang="en-US" sz="1040" dirty="0"/>
          </a:p>
        </p:txBody>
      </p:sp>
      <p:sp>
        <p:nvSpPr>
          <p:cNvPr id="11" name="Shape 9"/>
          <p:cNvSpPr/>
          <p:nvPr/>
        </p:nvSpPr>
        <p:spPr>
          <a:xfrm>
            <a:off x="4307738" y="1371600"/>
            <a:ext cx="3576218" cy="3712464"/>
          </a:xfrm>
          <a:prstGeom prst="roundRect">
            <a:avLst>
              <a:gd name="adj" fmla="val 2301"/>
            </a:avLst>
          </a:prstGeom>
          <a:solidFill>
            <a:srgbClr val="1A1F28"/>
          </a:solidFill>
          <a:ln w="12700">
            <a:solidFill>
              <a:srgbClr val="2B323F"/>
            </a:solidFill>
            <a:prstDash val="solid"/>
          </a:ln>
        </p:spPr>
      </p:sp>
      <p:sp>
        <p:nvSpPr>
          <p:cNvPr id="12" name="Shape 10"/>
          <p:cNvSpPr/>
          <p:nvPr/>
        </p:nvSpPr>
        <p:spPr>
          <a:xfrm>
            <a:off x="4508906" y="1572768"/>
            <a:ext cx="1051560" cy="274320"/>
          </a:xfrm>
          <a:prstGeom prst="roundRect">
            <a:avLst>
              <a:gd name="adj" fmla="val 50000"/>
            </a:avLst>
          </a:prstGeom>
          <a:solidFill>
            <a:srgbClr val="222834"/>
          </a:solidFill>
          <a:ln w="12700">
            <a:solidFill>
              <a:srgbClr val="2B323F"/>
            </a:solidFill>
            <a:prstDash val="solid"/>
          </a:ln>
        </p:spPr>
      </p:sp>
      <p:sp>
        <p:nvSpPr>
          <p:cNvPr id="13" name="Shape 11"/>
          <p:cNvSpPr/>
          <p:nvPr/>
        </p:nvSpPr>
        <p:spPr>
          <a:xfrm>
            <a:off x="4609490" y="1668780"/>
            <a:ext cx="82296" cy="82296"/>
          </a:xfrm>
          <a:prstGeom prst="ellipse">
            <a:avLst/>
          </a:prstGeom>
          <a:solidFill>
            <a:srgbClr val="9085E9"/>
          </a:solidFill>
          <a:ln/>
        </p:spPr>
      </p:sp>
      <p:sp>
        <p:nvSpPr>
          <p:cNvPr id="14" name="Text 12"/>
          <p:cNvSpPr txBox="1"/>
          <p:nvPr/>
        </p:nvSpPr>
        <p:spPr>
          <a:xfrm>
            <a:off x="4746650" y="1572768"/>
            <a:ext cx="722376"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Phase 2</a:t>
            </a:r>
            <a:endParaRPr lang="en-US" sz="950" dirty="0"/>
          </a:p>
        </p:txBody>
      </p:sp>
      <p:sp>
        <p:nvSpPr>
          <p:cNvPr id="15" name="Text 13"/>
          <p:cNvSpPr txBox="1"/>
          <p:nvPr/>
        </p:nvSpPr>
        <p:spPr>
          <a:xfrm>
            <a:off x="6512357" y="1572768"/>
            <a:ext cx="1170432" cy="274320"/>
          </a:xfrm>
          <a:prstGeom prst="rect">
            <a:avLst/>
          </a:prstGeom>
          <a:noFill/>
          <a:ln/>
        </p:spPr>
        <p:txBody>
          <a:bodyPr wrap="square" lIns="0" tIns="0" rIns="0" bIns="0" rtlCol="0" anchor="ctr"/>
          <a:lstStyle/>
          <a:p>
            <a:pPr algn="r" indent="0" marL="0">
              <a:buNone/>
            </a:pPr>
            <a:r>
              <a:rPr lang="en-US" sz="950" dirty="0">
                <a:solidFill>
                  <a:srgbClr val="8A93A3"/>
                </a:solidFill>
                <a:latin typeface="Calibri" pitchFamily="34" charset="0"/>
                <a:ea typeface="Calibri" pitchFamily="34" charset="-122"/>
                <a:cs typeface="Calibri" pitchFamily="34" charset="-120"/>
              </a:rPr>
              <a:t>3-9 months</a:t>
            </a:r>
            <a:endParaRPr lang="en-US" sz="950" dirty="0"/>
          </a:p>
        </p:txBody>
      </p:sp>
      <p:sp>
        <p:nvSpPr>
          <p:cNvPr id="16" name="Text 14"/>
          <p:cNvSpPr txBox="1"/>
          <p:nvPr/>
        </p:nvSpPr>
        <p:spPr>
          <a:xfrm>
            <a:off x="4508906" y="1975104"/>
            <a:ext cx="3173882"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Pilot in one state</a:t>
            </a:r>
            <a:endParaRPr lang="en-US" sz="1400" dirty="0"/>
          </a:p>
        </p:txBody>
      </p:sp>
      <p:sp>
        <p:nvSpPr>
          <p:cNvPr id="17" name="Text 15"/>
          <p:cNvSpPr txBox="1"/>
          <p:nvPr/>
        </p:nvSpPr>
        <p:spPr>
          <a:xfrm>
            <a:off x="4563770" y="2377440"/>
            <a:ext cx="3082442" cy="2560320"/>
          </a:xfrm>
          <a:prstGeom prst="rect">
            <a:avLst/>
          </a:prstGeom>
          <a:noFill/>
          <a:ln/>
        </p:spPr>
        <p:txBody>
          <a:bodyPr wrap="square" lIns="0" tIns="0" rIns="0" bIns="0" rtlCol="0" anchor="t"/>
          <a:lstStyle/>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Modular, state-by-state rollout - start with one accessible state, not all eight</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Community operators collecting local-language accessibility data</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SMS / USSD gateway integration for the field channel</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Operator feedback loop on route outcomes, which is the data RL would need</a:t>
            </a:r>
            <a:endParaRPr lang="en-US" sz="1040" dirty="0"/>
          </a:p>
        </p:txBody>
      </p:sp>
      <p:sp>
        <p:nvSpPr>
          <p:cNvPr id="18" name="Shape 16"/>
          <p:cNvSpPr/>
          <p:nvPr/>
        </p:nvSpPr>
        <p:spPr>
          <a:xfrm>
            <a:off x="8066837" y="1371600"/>
            <a:ext cx="3576218" cy="3712464"/>
          </a:xfrm>
          <a:prstGeom prst="roundRect">
            <a:avLst>
              <a:gd name="adj" fmla="val 2301"/>
            </a:avLst>
          </a:prstGeom>
          <a:solidFill>
            <a:srgbClr val="1A1F28"/>
          </a:solidFill>
          <a:ln w="12700">
            <a:solidFill>
              <a:srgbClr val="2B323F"/>
            </a:solidFill>
            <a:prstDash val="solid"/>
          </a:ln>
        </p:spPr>
      </p:sp>
      <p:sp>
        <p:nvSpPr>
          <p:cNvPr id="19" name="Shape 17"/>
          <p:cNvSpPr/>
          <p:nvPr/>
        </p:nvSpPr>
        <p:spPr>
          <a:xfrm>
            <a:off x="8268005" y="1572768"/>
            <a:ext cx="1051560" cy="274320"/>
          </a:xfrm>
          <a:prstGeom prst="roundRect">
            <a:avLst>
              <a:gd name="adj" fmla="val 50000"/>
            </a:avLst>
          </a:prstGeom>
          <a:solidFill>
            <a:srgbClr val="222834"/>
          </a:solidFill>
          <a:ln w="12700">
            <a:solidFill>
              <a:srgbClr val="2B323F"/>
            </a:solidFill>
            <a:prstDash val="solid"/>
          </a:ln>
        </p:spPr>
      </p:sp>
      <p:sp>
        <p:nvSpPr>
          <p:cNvPr id="20" name="Shape 18"/>
          <p:cNvSpPr/>
          <p:nvPr/>
        </p:nvSpPr>
        <p:spPr>
          <a:xfrm>
            <a:off x="8368589" y="1668780"/>
            <a:ext cx="82296" cy="82296"/>
          </a:xfrm>
          <a:prstGeom prst="ellipse">
            <a:avLst/>
          </a:prstGeom>
          <a:solidFill>
            <a:srgbClr val="199E70"/>
          </a:solidFill>
          <a:ln/>
        </p:spPr>
      </p:sp>
      <p:sp>
        <p:nvSpPr>
          <p:cNvPr id="21" name="Text 19"/>
          <p:cNvSpPr txBox="1"/>
          <p:nvPr/>
        </p:nvSpPr>
        <p:spPr>
          <a:xfrm>
            <a:off x="8505749" y="1572768"/>
            <a:ext cx="722376"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Phase 3</a:t>
            </a:r>
            <a:endParaRPr lang="en-US" sz="950" dirty="0"/>
          </a:p>
        </p:txBody>
      </p:sp>
      <p:sp>
        <p:nvSpPr>
          <p:cNvPr id="22" name="Text 20"/>
          <p:cNvSpPr txBox="1"/>
          <p:nvPr/>
        </p:nvSpPr>
        <p:spPr>
          <a:xfrm>
            <a:off x="10271455" y="1572768"/>
            <a:ext cx="1170432" cy="274320"/>
          </a:xfrm>
          <a:prstGeom prst="rect">
            <a:avLst/>
          </a:prstGeom>
          <a:noFill/>
          <a:ln/>
        </p:spPr>
        <p:txBody>
          <a:bodyPr wrap="square" lIns="0" tIns="0" rIns="0" bIns="0" rtlCol="0" anchor="ctr"/>
          <a:lstStyle/>
          <a:p>
            <a:pPr algn="r" indent="0" marL="0">
              <a:buNone/>
            </a:pPr>
            <a:r>
              <a:rPr lang="en-US" sz="950" dirty="0">
                <a:solidFill>
                  <a:srgbClr val="8A93A3"/>
                </a:solidFill>
                <a:latin typeface="Calibri" pitchFamily="34" charset="0"/>
                <a:ea typeface="Calibri" pitchFamily="34" charset="-122"/>
                <a:cs typeface="Calibri" pitchFamily="34" charset="-120"/>
              </a:rPr>
              <a:t>9-24 months</a:t>
            </a:r>
            <a:endParaRPr lang="en-US" sz="950" dirty="0"/>
          </a:p>
        </p:txBody>
      </p:sp>
      <p:sp>
        <p:nvSpPr>
          <p:cNvPr id="23" name="Text 21"/>
          <p:cNvSpPr txBox="1"/>
          <p:nvPr/>
        </p:nvSpPr>
        <p:spPr>
          <a:xfrm>
            <a:off x="8268005" y="1975104"/>
            <a:ext cx="3173882"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Scale and learn</a:t>
            </a:r>
            <a:endParaRPr lang="en-US" sz="1400" dirty="0"/>
          </a:p>
        </p:txBody>
      </p:sp>
      <p:sp>
        <p:nvSpPr>
          <p:cNvPr id="24" name="Text 22"/>
          <p:cNvSpPr txBox="1"/>
          <p:nvPr/>
        </p:nvSpPr>
        <p:spPr>
          <a:xfrm>
            <a:off x="8322869" y="2377440"/>
            <a:ext cx="3082442" cy="2560320"/>
          </a:xfrm>
          <a:prstGeom prst="rect">
            <a:avLst/>
          </a:prstGeom>
          <a:noFill/>
          <a:ln/>
        </p:spPr>
        <p:txBody>
          <a:bodyPr wrap="square" lIns="0" tIns="0" rIns="0" bIns="0" rtlCol="0" anchor="t"/>
          <a:lstStyle/>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Satellite and IoT road-sensor ingestion for near-real-time corridor state</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Reinforcement learning over accumulated outcome data - once there is data to learn from</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Multilingual interfaces; security handling for border districts</a:t>
            </a:r>
            <a:endParaRPr lang="en-US" sz="1040" dirty="0"/>
          </a:p>
          <a:p>
            <a:pPr marL="342900" indent="-342900">
              <a:lnSpc>
                <a:spcPct val="114000"/>
              </a:lnSpc>
              <a:spcAft>
                <a:spcPts val="900"/>
              </a:spcAft>
              <a:buSzPct val="100000"/>
              <a:buChar char="•"/>
            </a:pPr>
            <a:r>
              <a:rPr lang="en-US" sz="1040" dirty="0">
                <a:solidFill>
                  <a:srgbClr val="C3C2B7"/>
                </a:solidFill>
                <a:latin typeface="Calibri" pitchFamily="34" charset="0"/>
                <a:ea typeface="Calibri" pitchFamily="34" charset="-122"/>
                <a:cs typeface="Calibri" pitchFamily="34" charset="-120"/>
              </a:rPr>
              <a:t>Integration with UDAN cargo scheduling and inland-waterway berth planning</a:t>
            </a:r>
            <a:endParaRPr lang="en-US" sz="1040" dirty="0"/>
          </a:p>
        </p:txBody>
      </p:sp>
      <p:sp>
        <p:nvSpPr>
          <p:cNvPr id="25" name="Shape 23"/>
          <p:cNvSpPr/>
          <p:nvPr/>
        </p:nvSpPr>
        <p:spPr>
          <a:xfrm>
            <a:off x="548640" y="5248656"/>
            <a:ext cx="11094415" cy="475488"/>
          </a:xfrm>
          <a:prstGeom prst="roundRect">
            <a:avLst>
              <a:gd name="adj" fmla="val 17308"/>
            </a:avLst>
          </a:prstGeom>
          <a:solidFill>
            <a:srgbClr val="181D26"/>
          </a:solidFill>
          <a:ln w="12700">
            <a:solidFill>
              <a:srgbClr val="2B323F"/>
            </a:solidFill>
            <a:prstDash val="solid"/>
          </a:ln>
        </p:spPr>
      </p:sp>
      <p:sp>
        <p:nvSpPr>
          <p:cNvPr id="26" name="Text 24"/>
          <p:cNvSpPr txBox="1"/>
          <p:nvPr/>
        </p:nvSpPr>
        <p:spPr>
          <a:xfrm>
            <a:off x="786384" y="5248656"/>
            <a:ext cx="10618927" cy="475488"/>
          </a:xfrm>
          <a:prstGeom prst="rect">
            <a:avLst/>
          </a:prstGeom>
          <a:noFill/>
          <a:ln/>
        </p:spPr>
        <p:txBody>
          <a:bodyPr wrap="square" lIns="0" tIns="0" rIns="0" bIns="0" rtlCol="0" anchor="ctr"/>
          <a:lstStyle/>
          <a:p>
            <a:pPr indent="0" marL="0">
              <a:buNone/>
            </a:pPr>
            <a:r>
              <a:rPr lang="en-US" sz="1080" i="1" dirty="0">
                <a:solidFill>
                  <a:srgbClr val="C3C2B7"/>
                </a:solidFill>
                <a:latin typeface="Calibri" pitchFamily="34" charset="0"/>
                <a:ea typeface="Calibri" pitchFamily="34" charset="-122"/>
                <a:cs typeface="Calibri" pitchFamily="34" charset="-120"/>
              </a:rPr>
              <a:t>The architecture already assumes this path: the demo data layer is isolated in three files, and the engines that consume it do not change when it is replaced.</a:t>
            </a:r>
            <a:endParaRPr lang="en-US" sz="1080" dirty="0"/>
          </a:p>
        </p:txBody>
      </p:sp>
      <p:sp>
        <p:nvSpPr>
          <p:cNvPr id="27" name="Text 25"/>
          <p:cNvSpPr txBox="1"/>
          <p:nvPr/>
        </p:nvSpPr>
        <p:spPr>
          <a:xfrm>
            <a:off x="548640" y="6473952"/>
            <a:ext cx="10545775" cy="201168"/>
          </a:xfrm>
          <a:prstGeom prst="rect">
            <a:avLst/>
          </a:prstGeom>
          <a:noFill/>
          <a:ln/>
        </p:spPr>
        <p:txBody>
          <a:bodyPr wrap="square" lIns="0" tIns="0" rIns="0" bIns="0" rtlCol="0" anchor="ctr"/>
          <a:lstStyle/>
          <a:p>
            <a:pPr indent="0" marL="0">
              <a:buNone/>
            </a:pPr>
            <a:r>
              <a:rPr lang="en-US" sz="850" dirty="0">
                <a:solidFill>
                  <a:srgbClr val="55606F"/>
                </a:solidFill>
                <a:latin typeface="Calibri" pitchFamily="34" charset="0"/>
                <a:ea typeface="Calibri" pitchFamily="34" charset="-122"/>
                <a:cs typeface="Calibri" pitchFamily="34" charset="-120"/>
              </a:rPr>
              <a:t>NER Smart Logistics &amp; Accessibility Intelligence  ·  SIH26002  ·  Team CodeCrew</a:t>
            </a:r>
            <a:endParaRPr lang="en-US" sz="850" dirty="0"/>
          </a:p>
        </p:txBody>
      </p:sp>
      <p:sp>
        <p:nvSpPr>
          <p:cNvPr id="28" name="Text 26"/>
          <p:cNvSpPr txBox="1"/>
          <p:nvPr/>
        </p:nvSpPr>
        <p:spPr>
          <a:xfrm>
            <a:off x="11185855" y="6473952"/>
            <a:ext cx="457200" cy="201168"/>
          </a:xfrm>
          <a:prstGeom prst="rect">
            <a:avLst/>
          </a:prstGeom>
          <a:noFill/>
          <a:ln/>
        </p:spPr>
        <p:txBody>
          <a:bodyPr wrap="square" lIns="0" tIns="0" rIns="0" bIns="0" rtlCol="0" anchor="ctr"/>
          <a:lstStyle/>
          <a:p>
            <a:pPr algn="r" indent="0" marL="0">
              <a:buNone/>
            </a:pPr>
            <a:r>
              <a:rPr lang="en-US" sz="850" dirty="0">
                <a:solidFill>
                  <a:srgbClr val="55606F"/>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1371600"/>
            <a:ext cx="7315200" cy="6400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Run it yourself</a:t>
            </a:r>
            <a:endParaRPr lang="en-US" sz="3800" dirty="0"/>
          </a:p>
        </p:txBody>
      </p:sp>
      <p:sp>
        <p:nvSpPr>
          <p:cNvPr id="3" name="Text 1"/>
          <p:cNvSpPr txBox="1"/>
          <p:nvPr/>
        </p:nvSpPr>
        <p:spPr>
          <a:xfrm>
            <a:off x="548640" y="2103120"/>
            <a:ext cx="6766560" cy="640080"/>
          </a:xfrm>
          <a:prstGeom prst="rect">
            <a:avLst/>
          </a:prstGeom>
          <a:noFill/>
          <a:ln/>
        </p:spPr>
        <p:txBody>
          <a:bodyPr wrap="square" lIns="0" tIns="0" rIns="0" bIns="0" rtlCol="0" anchor="ctr"/>
          <a:lstStyle/>
          <a:p>
            <a:pPr indent="0" marL="0">
              <a:lnSpc>
                <a:spcPct val="125000"/>
              </a:lnSpc>
              <a:buNone/>
            </a:pPr>
            <a:r>
              <a:rPr lang="en-US" sz="1300" dirty="0">
                <a:solidFill>
                  <a:srgbClr val="C3C2B7"/>
                </a:solidFill>
                <a:latin typeface="Calibri" pitchFamily="34" charset="0"/>
                <a:ea typeface="Calibri" pitchFamily="34" charset="-122"/>
                <a:cs typeface="Calibri" pitchFamily="34" charset="-120"/>
              </a:rPr>
              <a:t>The whole platform starts with two commands and needs no API key, no database and no external service beyond a free weather API it can also do without.</a:t>
            </a:r>
            <a:endParaRPr lang="en-US" sz="1300" dirty="0"/>
          </a:p>
        </p:txBody>
      </p:sp>
      <p:sp>
        <p:nvSpPr>
          <p:cNvPr id="4" name="Shape 2"/>
          <p:cNvSpPr/>
          <p:nvPr/>
        </p:nvSpPr>
        <p:spPr>
          <a:xfrm>
            <a:off x="548640" y="2880360"/>
            <a:ext cx="6766560" cy="1572768"/>
          </a:xfrm>
          <a:prstGeom prst="roundRect">
            <a:avLst>
              <a:gd name="adj" fmla="val 5233"/>
            </a:avLst>
          </a:prstGeom>
          <a:solidFill>
            <a:srgbClr val="11151C"/>
          </a:solidFill>
          <a:ln w="12700">
            <a:solidFill>
              <a:srgbClr val="2B323F"/>
            </a:solidFill>
            <a:prstDash val="solid"/>
          </a:ln>
        </p:spPr>
      </p:sp>
      <p:sp>
        <p:nvSpPr>
          <p:cNvPr id="5" name="Text 3"/>
          <p:cNvSpPr txBox="1"/>
          <p:nvPr/>
        </p:nvSpPr>
        <p:spPr>
          <a:xfrm>
            <a:off x="786384" y="3072384"/>
            <a:ext cx="182880" cy="274320"/>
          </a:xfrm>
          <a:prstGeom prst="rect">
            <a:avLst/>
          </a:prstGeom>
          <a:noFill/>
          <a:ln/>
        </p:spPr>
        <p:txBody>
          <a:bodyPr wrap="square" lIns="0" tIns="0" rIns="0" bIns="0" rtlCol="0" anchor="ctr"/>
          <a:lstStyle/>
          <a:p>
            <a:pPr indent="0" marL="0">
              <a:buNone/>
            </a:pPr>
            <a:r>
              <a:rPr lang="en-US" sz="1150" dirty="0">
                <a:solidFill>
                  <a:srgbClr val="3987E5"/>
                </a:solidFill>
                <a:latin typeface="Courier New" pitchFamily="34" charset="0"/>
                <a:ea typeface="Courier New" pitchFamily="34" charset="-122"/>
                <a:cs typeface="Courier New" pitchFamily="34" charset="-120"/>
              </a:rPr>
              <a:t>$</a:t>
            </a:r>
            <a:endParaRPr lang="en-US" sz="1150" dirty="0"/>
          </a:p>
        </p:txBody>
      </p:sp>
      <p:sp>
        <p:nvSpPr>
          <p:cNvPr id="6" name="Text 4"/>
          <p:cNvSpPr txBox="1"/>
          <p:nvPr/>
        </p:nvSpPr>
        <p:spPr>
          <a:xfrm>
            <a:off x="1005840" y="3072384"/>
            <a:ext cx="23774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npm install</a:t>
            </a:r>
            <a:endParaRPr lang="en-US" sz="1150" dirty="0"/>
          </a:p>
        </p:txBody>
      </p:sp>
      <p:sp>
        <p:nvSpPr>
          <p:cNvPr id="7" name="Text 5"/>
          <p:cNvSpPr txBox="1"/>
          <p:nvPr/>
        </p:nvSpPr>
        <p:spPr>
          <a:xfrm>
            <a:off x="786384" y="3474720"/>
            <a:ext cx="182880" cy="274320"/>
          </a:xfrm>
          <a:prstGeom prst="rect">
            <a:avLst/>
          </a:prstGeom>
          <a:noFill/>
          <a:ln/>
        </p:spPr>
        <p:txBody>
          <a:bodyPr wrap="square" lIns="0" tIns="0" rIns="0" bIns="0" rtlCol="0" anchor="ctr"/>
          <a:lstStyle/>
          <a:p>
            <a:pPr indent="0" marL="0">
              <a:buNone/>
            </a:pPr>
            <a:r>
              <a:rPr lang="en-US" sz="1150" dirty="0">
                <a:solidFill>
                  <a:srgbClr val="3987E5"/>
                </a:solidFill>
                <a:latin typeface="Courier New" pitchFamily="34" charset="0"/>
                <a:ea typeface="Courier New" pitchFamily="34" charset="-122"/>
                <a:cs typeface="Courier New" pitchFamily="34" charset="-120"/>
              </a:rPr>
              <a:t>$</a:t>
            </a:r>
            <a:endParaRPr lang="en-US" sz="1150" dirty="0"/>
          </a:p>
        </p:txBody>
      </p:sp>
      <p:sp>
        <p:nvSpPr>
          <p:cNvPr id="8" name="Text 6"/>
          <p:cNvSpPr txBox="1"/>
          <p:nvPr/>
        </p:nvSpPr>
        <p:spPr>
          <a:xfrm>
            <a:off x="1005840" y="3474720"/>
            <a:ext cx="23774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npm run dev</a:t>
            </a:r>
            <a:endParaRPr lang="en-US" sz="1150" dirty="0"/>
          </a:p>
        </p:txBody>
      </p:sp>
      <p:sp>
        <p:nvSpPr>
          <p:cNvPr id="9" name="Text 7"/>
          <p:cNvSpPr txBox="1"/>
          <p:nvPr/>
        </p:nvSpPr>
        <p:spPr>
          <a:xfrm>
            <a:off x="3383280" y="3474720"/>
            <a:ext cx="3749040" cy="274320"/>
          </a:xfrm>
          <a:prstGeom prst="rect">
            <a:avLst/>
          </a:prstGeom>
          <a:noFill/>
          <a:ln/>
        </p:spPr>
        <p:txBody>
          <a:bodyPr wrap="square" lIns="0" tIns="0" rIns="0" bIns="0" rtlCol="0" anchor="ctr"/>
          <a:lstStyle/>
          <a:p>
            <a:pPr indent="0" marL="0">
              <a:buNone/>
            </a:pPr>
            <a:r>
              <a:rPr lang="en-US" sz="1000" dirty="0">
                <a:solidFill>
                  <a:srgbClr val="8A93A3"/>
                </a:solidFill>
                <a:latin typeface="Calibri" pitchFamily="34" charset="0"/>
                <a:ea typeface="Calibri" pitchFamily="34" charset="-122"/>
                <a:cs typeface="Calibri" pitchFamily="34" charset="-120"/>
              </a:rPr>
              <a:t>web on :5173, API on :5174</a:t>
            </a:r>
            <a:endParaRPr lang="en-US" sz="1000" dirty="0"/>
          </a:p>
        </p:txBody>
      </p:sp>
      <p:sp>
        <p:nvSpPr>
          <p:cNvPr id="10" name="Text 8"/>
          <p:cNvSpPr txBox="1"/>
          <p:nvPr/>
        </p:nvSpPr>
        <p:spPr>
          <a:xfrm>
            <a:off x="786384" y="3877056"/>
            <a:ext cx="182880" cy="274320"/>
          </a:xfrm>
          <a:prstGeom prst="rect">
            <a:avLst/>
          </a:prstGeom>
          <a:noFill/>
          <a:ln/>
        </p:spPr>
        <p:txBody>
          <a:bodyPr wrap="square" lIns="0" tIns="0" rIns="0" bIns="0" rtlCol="0" anchor="ctr"/>
          <a:lstStyle/>
          <a:p>
            <a:pPr indent="0" marL="0">
              <a:buNone/>
            </a:pPr>
            <a:r>
              <a:rPr lang="en-US" sz="1150" dirty="0">
                <a:solidFill>
                  <a:srgbClr val="3987E5"/>
                </a:solidFill>
                <a:latin typeface="Courier New" pitchFamily="34" charset="0"/>
                <a:ea typeface="Courier New" pitchFamily="34" charset="-122"/>
                <a:cs typeface="Courier New" pitchFamily="34" charset="-120"/>
              </a:rPr>
              <a:t>$</a:t>
            </a:r>
            <a:endParaRPr lang="en-US" sz="1150" dirty="0"/>
          </a:p>
        </p:txBody>
      </p:sp>
      <p:sp>
        <p:nvSpPr>
          <p:cNvPr id="11" name="Text 9"/>
          <p:cNvSpPr txBox="1"/>
          <p:nvPr/>
        </p:nvSpPr>
        <p:spPr>
          <a:xfrm>
            <a:off x="1005840" y="3877056"/>
            <a:ext cx="23774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npm run smoke</a:t>
            </a:r>
            <a:endParaRPr lang="en-US" sz="1150" dirty="0"/>
          </a:p>
        </p:txBody>
      </p:sp>
      <p:sp>
        <p:nvSpPr>
          <p:cNvPr id="12" name="Text 10"/>
          <p:cNvSpPr txBox="1"/>
          <p:nvPr/>
        </p:nvSpPr>
        <p:spPr>
          <a:xfrm>
            <a:off x="3383280" y="3877056"/>
            <a:ext cx="3749040" cy="274320"/>
          </a:xfrm>
          <a:prstGeom prst="rect">
            <a:avLst/>
          </a:prstGeom>
          <a:noFill/>
          <a:ln/>
        </p:spPr>
        <p:txBody>
          <a:bodyPr wrap="square" lIns="0" tIns="0" rIns="0" bIns="0" rtlCol="0" anchor="ctr"/>
          <a:lstStyle/>
          <a:p>
            <a:pPr indent="0" marL="0">
              <a:buNone/>
            </a:pPr>
            <a:r>
              <a:rPr lang="en-US" sz="1000" dirty="0">
                <a:solidFill>
                  <a:srgbClr val="8A93A3"/>
                </a:solidFill>
                <a:latin typeface="Calibri" pitchFamily="34" charset="0"/>
                <a:ea typeface="Calibri" pitchFamily="34" charset="-122"/>
                <a:cs typeface="Calibri" pitchFamily="34" charset="-120"/>
              </a:rPr>
              <a:t>25 end-to-end checks, no server needed</a:t>
            </a:r>
            <a:endParaRPr lang="en-US" sz="1000" dirty="0"/>
          </a:p>
        </p:txBody>
      </p:sp>
      <p:sp>
        <p:nvSpPr>
          <p:cNvPr id="13" name="Text 11"/>
          <p:cNvSpPr txBox="1"/>
          <p:nvPr/>
        </p:nvSpPr>
        <p:spPr>
          <a:xfrm>
            <a:off x="7863840" y="2880360"/>
            <a:ext cx="1051560" cy="402336"/>
          </a:xfrm>
          <a:prstGeom prst="rect">
            <a:avLst/>
          </a:prstGeom>
          <a:noFill/>
          <a:ln/>
        </p:spPr>
        <p:txBody>
          <a:bodyPr wrap="square" lIns="0" tIns="0" rIns="0" bIns="0" rtlCol="0" anchor="ctr"/>
          <a:lstStyle/>
          <a:p>
            <a:pPr algn="r" indent="0" marL="0">
              <a:buNone/>
            </a:pPr>
            <a:r>
              <a:rPr lang="en-US" sz="2200" b="1" dirty="0">
                <a:solidFill>
                  <a:srgbClr val="3987E5"/>
                </a:solidFill>
                <a:latin typeface="Arial" pitchFamily="34" charset="0"/>
                <a:ea typeface="Arial" pitchFamily="34" charset="-122"/>
                <a:cs typeface="Arial" pitchFamily="34" charset="-120"/>
              </a:rPr>
              <a:t>5</a:t>
            </a:r>
            <a:endParaRPr lang="en-US" sz="2200" dirty="0"/>
          </a:p>
        </p:txBody>
      </p:sp>
      <p:sp>
        <p:nvSpPr>
          <p:cNvPr id="14" name="Text 12"/>
          <p:cNvSpPr txBox="1"/>
          <p:nvPr/>
        </p:nvSpPr>
        <p:spPr>
          <a:xfrm>
            <a:off x="9052560" y="2953512"/>
            <a:ext cx="2926080" cy="274320"/>
          </a:xfrm>
          <a:prstGeom prst="rect">
            <a:avLst/>
          </a:prstGeom>
          <a:noFill/>
          <a:ln/>
        </p:spPr>
        <p:txBody>
          <a:bodyPr wrap="square" lIns="0" tIns="0" rIns="0" bIns="0" rtlCol="0" anchor="ctr"/>
          <a:lstStyle/>
          <a:p>
            <a:pPr indent="0" marL="0">
              <a:buNone/>
            </a:pPr>
            <a:r>
              <a:rPr lang="en-US" sz="1150" dirty="0">
                <a:solidFill>
                  <a:srgbClr val="C3C2B7"/>
                </a:solidFill>
                <a:latin typeface="Calibri" pitchFamily="34" charset="0"/>
                <a:ea typeface="Calibri" pitchFamily="34" charset="-122"/>
                <a:cs typeface="Calibri" pitchFamily="34" charset="-120"/>
              </a:rPr>
              <a:t>product surfaces</a:t>
            </a:r>
            <a:endParaRPr lang="en-US" sz="1150" dirty="0"/>
          </a:p>
        </p:txBody>
      </p:sp>
      <p:sp>
        <p:nvSpPr>
          <p:cNvPr id="15" name="Text 13"/>
          <p:cNvSpPr txBox="1"/>
          <p:nvPr/>
        </p:nvSpPr>
        <p:spPr>
          <a:xfrm>
            <a:off x="7863840" y="3447288"/>
            <a:ext cx="1051560" cy="402336"/>
          </a:xfrm>
          <a:prstGeom prst="rect">
            <a:avLst/>
          </a:prstGeom>
          <a:noFill/>
          <a:ln/>
        </p:spPr>
        <p:txBody>
          <a:bodyPr wrap="square" lIns="0" tIns="0" rIns="0" bIns="0" rtlCol="0" anchor="ctr"/>
          <a:lstStyle/>
          <a:p>
            <a:pPr algn="r" indent="0" marL="0">
              <a:buNone/>
            </a:pPr>
            <a:r>
              <a:rPr lang="en-US" sz="2200" b="1" dirty="0">
                <a:solidFill>
                  <a:srgbClr val="3987E5"/>
                </a:solidFill>
                <a:latin typeface="Arial" pitchFamily="34" charset="0"/>
                <a:ea typeface="Arial" pitchFamily="34" charset="-122"/>
                <a:cs typeface="Arial" pitchFamily="34" charset="-120"/>
              </a:rPr>
              <a:t>114</a:t>
            </a:r>
            <a:endParaRPr lang="en-US" sz="2200" dirty="0"/>
          </a:p>
        </p:txBody>
      </p:sp>
      <p:sp>
        <p:nvSpPr>
          <p:cNvPr id="16" name="Text 14"/>
          <p:cNvSpPr txBox="1"/>
          <p:nvPr/>
        </p:nvSpPr>
        <p:spPr>
          <a:xfrm>
            <a:off x="9052560" y="3520440"/>
            <a:ext cx="2926080" cy="274320"/>
          </a:xfrm>
          <a:prstGeom prst="rect">
            <a:avLst/>
          </a:prstGeom>
          <a:noFill/>
          <a:ln/>
        </p:spPr>
        <p:txBody>
          <a:bodyPr wrap="square" lIns="0" tIns="0" rIns="0" bIns="0" rtlCol="0" anchor="ctr"/>
          <a:lstStyle/>
          <a:p>
            <a:pPr indent="0" marL="0">
              <a:buNone/>
            </a:pPr>
            <a:r>
              <a:rPr lang="en-US" sz="1150" dirty="0">
                <a:solidFill>
                  <a:srgbClr val="C3C2B7"/>
                </a:solidFill>
                <a:latin typeface="Calibri" pitchFamily="34" charset="0"/>
                <a:ea typeface="Calibri" pitchFamily="34" charset="-122"/>
                <a:cs typeface="Calibri" pitchFamily="34" charset="-120"/>
              </a:rPr>
              <a:t>corridors modelled</a:t>
            </a:r>
            <a:endParaRPr lang="en-US" sz="1150" dirty="0"/>
          </a:p>
        </p:txBody>
      </p:sp>
      <p:sp>
        <p:nvSpPr>
          <p:cNvPr id="17" name="Text 15"/>
          <p:cNvSpPr txBox="1"/>
          <p:nvPr/>
        </p:nvSpPr>
        <p:spPr>
          <a:xfrm>
            <a:off x="7863840" y="4014216"/>
            <a:ext cx="1051560" cy="402336"/>
          </a:xfrm>
          <a:prstGeom prst="rect">
            <a:avLst/>
          </a:prstGeom>
          <a:noFill/>
          <a:ln/>
        </p:spPr>
        <p:txBody>
          <a:bodyPr wrap="square" lIns="0" tIns="0" rIns="0" bIns="0" rtlCol="0" anchor="ctr"/>
          <a:lstStyle/>
          <a:p>
            <a:pPr algn="r" indent="0" marL="0">
              <a:buNone/>
            </a:pPr>
            <a:r>
              <a:rPr lang="en-US" sz="2200" b="1" dirty="0">
                <a:solidFill>
                  <a:srgbClr val="3987E5"/>
                </a:solidFill>
                <a:latin typeface="Arial" pitchFamily="34" charset="0"/>
                <a:ea typeface="Arial" pitchFamily="34" charset="-122"/>
                <a:cs typeface="Arial" pitchFamily="34" charset="-120"/>
              </a:rPr>
              <a:t>59</a:t>
            </a:r>
            <a:endParaRPr lang="en-US" sz="2200" dirty="0"/>
          </a:p>
        </p:txBody>
      </p:sp>
      <p:sp>
        <p:nvSpPr>
          <p:cNvPr id="18" name="Text 16"/>
          <p:cNvSpPr txBox="1"/>
          <p:nvPr/>
        </p:nvSpPr>
        <p:spPr>
          <a:xfrm>
            <a:off x="9052560" y="4087368"/>
            <a:ext cx="2926080" cy="274320"/>
          </a:xfrm>
          <a:prstGeom prst="rect">
            <a:avLst/>
          </a:prstGeom>
          <a:noFill/>
          <a:ln/>
        </p:spPr>
        <p:txBody>
          <a:bodyPr wrap="square" lIns="0" tIns="0" rIns="0" bIns="0" rtlCol="0" anchor="ctr"/>
          <a:lstStyle/>
          <a:p>
            <a:pPr indent="0" marL="0">
              <a:buNone/>
            </a:pPr>
            <a:r>
              <a:rPr lang="en-US" sz="1150" dirty="0">
                <a:solidFill>
                  <a:srgbClr val="C3C2B7"/>
                </a:solidFill>
                <a:latin typeface="Calibri" pitchFamily="34" charset="0"/>
                <a:ea typeface="Calibri" pitchFamily="34" charset="-122"/>
                <a:cs typeface="Calibri" pitchFamily="34" charset="-120"/>
              </a:rPr>
              <a:t>settlements scored</a:t>
            </a:r>
            <a:endParaRPr lang="en-US" sz="1150" dirty="0"/>
          </a:p>
        </p:txBody>
      </p:sp>
      <p:sp>
        <p:nvSpPr>
          <p:cNvPr id="19" name="Text 17"/>
          <p:cNvSpPr txBox="1"/>
          <p:nvPr/>
        </p:nvSpPr>
        <p:spPr>
          <a:xfrm>
            <a:off x="7863840" y="4581144"/>
            <a:ext cx="1051560" cy="402336"/>
          </a:xfrm>
          <a:prstGeom prst="rect">
            <a:avLst/>
          </a:prstGeom>
          <a:noFill/>
          <a:ln/>
        </p:spPr>
        <p:txBody>
          <a:bodyPr wrap="square" lIns="0" tIns="0" rIns="0" bIns="0" rtlCol="0" anchor="ctr"/>
          <a:lstStyle/>
          <a:p>
            <a:pPr algn="r" indent="0" marL="0">
              <a:buNone/>
            </a:pPr>
            <a:r>
              <a:rPr lang="en-US" sz="2200" b="1" dirty="0">
                <a:solidFill>
                  <a:srgbClr val="3987E5"/>
                </a:solidFill>
                <a:latin typeface="Arial" pitchFamily="34" charset="0"/>
                <a:ea typeface="Arial" pitchFamily="34" charset="-122"/>
                <a:cs typeface="Arial" pitchFamily="34" charset="-120"/>
              </a:rPr>
              <a:t>25</a:t>
            </a:r>
            <a:endParaRPr lang="en-US" sz="2200" dirty="0"/>
          </a:p>
        </p:txBody>
      </p:sp>
      <p:sp>
        <p:nvSpPr>
          <p:cNvPr id="20" name="Text 18"/>
          <p:cNvSpPr txBox="1"/>
          <p:nvPr/>
        </p:nvSpPr>
        <p:spPr>
          <a:xfrm>
            <a:off x="9052560" y="4654296"/>
            <a:ext cx="2926080" cy="274320"/>
          </a:xfrm>
          <a:prstGeom prst="rect">
            <a:avLst/>
          </a:prstGeom>
          <a:noFill/>
          <a:ln/>
        </p:spPr>
        <p:txBody>
          <a:bodyPr wrap="square" lIns="0" tIns="0" rIns="0" bIns="0" rtlCol="0" anchor="ctr"/>
          <a:lstStyle/>
          <a:p>
            <a:pPr indent="0" marL="0">
              <a:buNone/>
            </a:pPr>
            <a:r>
              <a:rPr lang="en-US" sz="1150" dirty="0">
                <a:solidFill>
                  <a:srgbClr val="C3C2B7"/>
                </a:solidFill>
                <a:latin typeface="Calibri" pitchFamily="34" charset="0"/>
                <a:ea typeface="Calibri" pitchFamily="34" charset="-122"/>
                <a:cs typeface="Calibri" pitchFamily="34" charset="-120"/>
              </a:rPr>
              <a:t>end-to-end checks</a:t>
            </a:r>
            <a:endParaRPr lang="en-US" sz="1150" dirty="0"/>
          </a:p>
        </p:txBody>
      </p:sp>
      <p:sp>
        <p:nvSpPr>
          <p:cNvPr id="21" name="Shape 19"/>
          <p:cNvSpPr/>
          <p:nvPr/>
        </p:nvSpPr>
        <p:spPr>
          <a:xfrm>
            <a:off x="548640" y="5029200"/>
            <a:ext cx="11094415" cy="0"/>
          </a:xfrm>
          <a:prstGeom prst="line">
            <a:avLst/>
          </a:prstGeom>
          <a:noFill/>
          <a:ln w="12700">
            <a:solidFill>
              <a:srgbClr val="2B323F"/>
            </a:solidFill>
            <a:prstDash val="solid"/>
          </a:ln>
        </p:spPr>
      </p:sp>
      <p:sp>
        <p:nvSpPr>
          <p:cNvPr id="22" name="Text 20"/>
          <p:cNvSpPr txBox="1"/>
          <p:nvPr/>
        </p:nvSpPr>
        <p:spPr>
          <a:xfrm>
            <a:off x="548640" y="5230368"/>
            <a:ext cx="457200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Team CodeCrew</a:t>
            </a:r>
            <a:endParaRPr lang="en-US" sz="1700" dirty="0"/>
          </a:p>
        </p:txBody>
      </p:sp>
      <p:sp>
        <p:nvSpPr>
          <p:cNvPr id="23" name="Text 21"/>
          <p:cNvSpPr txBox="1"/>
          <p:nvPr/>
        </p:nvSpPr>
        <p:spPr>
          <a:xfrm>
            <a:off x="548640" y="5559552"/>
            <a:ext cx="7315200" cy="237744"/>
          </a:xfrm>
          <a:prstGeom prst="rect">
            <a:avLst/>
          </a:prstGeom>
          <a:noFill/>
          <a:ln/>
        </p:spPr>
        <p:txBody>
          <a:bodyPr wrap="square" lIns="0" tIns="0" rIns="0" bIns="0" rtlCol="0" anchor="ctr"/>
          <a:lstStyle/>
          <a:p>
            <a:pPr indent="0" marL="0">
              <a:buNone/>
            </a:pPr>
            <a:r>
              <a:rPr lang="en-US" sz="1100" dirty="0">
                <a:solidFill>
                  <a:srgbClr val="8A93A3"/>
                </a:solidFill>
                <a:latin typeface="Calibri" pitchFamily="34" charset="0"/>
                <a:ea typeface="Calibri" pitchFamily="34" charset="-122"/>
                <a:cs typeface="Calibri" pitchFamily="34" charset="-120"/>
              </a:rPr>
              <a:t>Smart India Hackathon 2026  ·  SIH26002  ·  MDoNER  ·  Smart Automation</a:t>
            </a:r>
            <a:endParaRPr lang="en-US" sz="1100" dirty="0"/>
          </a:p>
        </p:txBody>
      </p:sp>
      <p:sp>
        <p:nvSpPr>
          <p:cNvPr id="24" name="Shape 22"/>
          <p:cNvSpPr/>
          <p:nvPr/>
        </p:nvSpPr>
        <p:spPr>
          <a:xfrm>
            <a:off x="9357055" y="5285232"/>
            <a:ext cx="2286000" cy="310896"/>
          </a:xfrm>
          <a:prstGeom prst="roundRect">
            <a:avLst>
              <a:gd name="adj" fmla="val 50000"/>
            </a:avLst>
          </a:prstGeom>
          <a:solidFill>
            <a:srgbClr val="222834"/>
          </a:solidFill>
          <a:ln w="12700">
            <a:solidFill>
              <a:srgbClr val="2B323F"/>
            </a:solidFill>
            <a:prstDash val="solid"/>
          </a:ln>
        </p:spPr>
      </p:sp>
      <p:sp>
        <p:nvSpPr>
          <p:cNvPr id="25" name="Shape 23"/>
          <p:cNvSpPr/>
          <p:nvPr/>
        </p:nvSpPr>
        <p:spPr>
          <a:xfrm>
            <a:off x="9457639" y="5399532"/>
            <a:ext cx="82296" cy="82296"/>
          </a:xfrm>
          <a:prstGeom prst="ellipse">
            <a:avLst/>
          </a:prstGeom>
          <a:solidFill>
            <a:srgbClr val="FAB219"/>
          </a:solidFill>
          <a:ln/>
        </p:spPr>
      </p:sp>
      <p:sp>
        <p:nvSpPr>
          <p:cNvPr id="26" name="Text 24"/>
          <p:cNvSpPr txBox="1"/>
          <p:nvPr/>
        </p:nvSpPr>
        <p:spPr>
          <a:xfrm>
            <a:off x="9594799" y="5285232"/>
            <a:ext cx="1956816" cy="310896"/>
          </a:xfrm>
          <a:prstGeom prst="rect">
            <a:avLst/>
          </a:prstGeom>
          <a:noFill/>
          <a:ln/>
        </p:spPr>
        <p:txBody>
          <a:bodyPr wrap="square" lIns="0" tIns="0" rIns="0" bIns="0" rtlCol="0" anchor="ctr"/>
          <a:lstStyle/>
          <a:p>
            <a:pPr indent="0" marL="0">
              <a:buNone/>
            </a:pPr>
            <a:r>
              <a:rPr lang="en-US" sz="950" dirty="0">
                <a:solidFill>
                  <a:srgbClr val="FAB219"/>
                </a:solidFill>
                <a:latin typeface="Calibri" pitchFamily="34" charset="0"/>
                <a:ea typeface="Calibri" pitchFamily="34" charset="-122"/>
                <a:cs typeface="Calibri" pitchFamily="34" charset="-120"/>
              </a:rPr>
              <a:t>WORKING DEMO BUILD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Smart India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NER Smart Logistics &amp; Accessibility Intelligence Platform</dc:title>
  <dc:subject>SIH26002 - MDoNER</dc:subject>
  <dc:creator>Team CodeCrew</dc:creator>
  <cp:lastModifiedBy>Team CodeCrew</cp:lastModifiedBy>
  <cp:revision>1</cp:revision>
  <dcterms:created xsi:type="dcterms:W3CDTF">2026-09-01T15:01:31Z</dcterms:created>
  <dcterms:modified xsi:type="dcterms:W3CDTF">2026-09-01T15:01:31Z</dcterms:modified>
</cp:coreProperties>
</file>